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judges. AAROGYA DRISHTI is our AI-assisted oral cancer early detection, telemedicine and patient care platform, built for the AAROHAN Inter-Centre Hackathon 2026 by ITDA Paderu. Stress up front that this is a demonstration with synthetic data and is not a clinical tool. Transition: let us start with the problem. Sources: Problem Statement p.1; Handbook cover.
For PO Sir: serious engineering project with healthcare impact. For students: this is our product name and the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journey left to right. A patient in a remote tribal village may have a persistent ulcer or white patch, but specialist services are far away. Frontline workers can examine, yet documentation is inconsistent, referrals are slow, and nobody tracks whether the patient ever reached the specialist. Transition: our vision addresses each gap. Source: Problem Statement s.1.
For PO Sir: the gap is coordination, not only detection. For students: imagine a villager whose referral gets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vision is one continuous digital pathway from village oral examination to timely specialist care. Read the six objectives, emphasising that AI is research-only and works alongside, never instead of, clinicians. Transition: here is the solution. Source: Problem Statement s.1, s.3, s.5.
For PO Sir: six measurable objectives. For students: these become our feature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side is today: paper notes, calls and no tracking, so patients are lost between screening and treatment. The right side is AAROGYA DRISHTI: one record that follows the patient through every step. The AI-assisted step is advisory only and the Medical Officer reviews independently; clinical decisions belong to qualified clinicians. Transition: who uses the platform? Source: Handbook s.3.
For PO Sir: the value is one connected record and visible handoffs. For students: left is today, right is what we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roles surround the secured API. Health workers register and screen but cannot confirm cancer; Medical Officers review and refer; specialists see only referred cases; navigators manage appointments and missed visits without needing images; administrators see aggregates only. The backend checks role and patient or facility relationship on every request. Source: Handbook s.11.
For PO Sir: least privilege protects patient data. For students: each role sees only what its job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ten areas cover the full pathway from registration to district dashboard. Briefly point at each. Stress that this is a workflow platform, not just an image classifier. Source: Problem Statement s.4 Modules A–J.
For PO Sir: all ten official modules covered. For students: each module becomes a work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main path. Branches: poor image triggers recapture; AI unavailable means we continue without AI; clinician needing specialist opinion creates a referral; missed appointment creates a navigator follow-up task. AI output can never skip Medical Officer review. Source: Handbook s.3, s.6 state machine; Problem Statement s.8.
For PO Sir: the AI step never replaces the doctor. For students: follow the arrows, then the four exception branches.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OpenCV flags blur, brightness, glare and invalid files; it cannot prove a lesion is absent. The AI adapter is versioned and replaceable; the default is a mock. An optional classifier would be shown only with proper dataset licensing and documented limitations. We make no accuracy or validation claims. Source: Handbook s.8–9; Problem Statement Module C.
For PO Sir: honest AI integration, no accuracy claims. For students: OpenCV checks photo quality; the AI is a replaceable plug-in.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recommended stack from the handbook. The problem statement permits alternatives such as React Native, Flutter, Next.js or Node.js, provided functionality and security are demonstrated. Source: Handbook s.3; Problem Statement s.7.
For PO Sir: mainstream, maintainable open-source stack. For students: bottom layer is infrastructure, top is what users touch.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layers. Requests go from the portals to the authenticated FastAPI layer, which validates and authorizes each call, then reads and writes PostgreSQL and private object storage. The AI layer is called by the API; it is dashed because the clinical workflow continues if it fails. Video and appointment integrations sit beside the API. The dashboard reads only aggregate counts, never private images. Images are served through short-lived backend-authorised access. Source: Handbook s.3, s.14.
For PO Sir: layered design with fault isolation. For students: if the dashed AI box fails, the rest keeps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proposed model, not an implemented database. Patients have consents and screenings. Screenings have images; images have AI analyses. Screenings get a clinical review, which creates referrals; referrals lead to appointments, investigations and navigation tasks. Audit events record actions across the system. AI results and signed clinician decisions are in separate tables so AI can never overwrite a clinician, model versions stay traceable, and discrepancies can be documented. Source: Handbook s.6.
For PO Sir: separate tables give traceability and audit. For students: arrows read as "one to many".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request starts in the PWA or portal. FastAPI first authenticates the user, then authorizes that user for the specific patient or facility, validates the payload, checks idempotency so retries do not duplicate records, then writes to PostgreSQL or private object storage. The AI adapter is called optionally and can fail without stopping the workflow. Endpoints shown are the handbook's reference endpoints and are planned unless implementation is verified. Source: Handbook s.7.
For PO Sir: every call is authenticated and authorized per patient. For students: the API is a security guard in front of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proposed designs with synthetic data, not screenshots of a working app. Health worker: a mobile form with Telugu label, consent, photo capture and a visible draft-saved state. Medical Officer: a case queue showing the advisory AI label next to agree, disagree or defer actions. Specialist: appointments with a join-video button. District: aggregate counts only. Source: Problem Statement s.3, s.8; Handbook s.19.
For PO Sir: proposed designs, not screenshots. For students: this is the target look for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Telugu and English switch with one touch, with simple forms, large buttons and minimal typing. Offline drafts are queued with idempotency keys and states of pending, uploading, confirmed or failed; nothing is marked synced until the server acknowledges. Conflicts are shown, never silently discarded. We will not claim offline works until tested on a real Android phone. Source: Handbook s.10; Problem Statement s.5.
For PO Sir: field reality is poor connectivity. For students: save locally, upload later, never create duplicates.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defence in depth. The outer ring is governance: synthetic data only, consent and audit. Next, HTTPS, hashed passwords, session expiry and MFA for privileged users. Next, role plus patient-level authorization with deny by default. Next, private storage and validated uploads. At the centre is the patient record. We separate AI observations from signed clinical decisions and never automate diagnosis, confirmation or reassurance. Source: Handbook s.12; Problem Statement s.6, s.14.6.
For PO Sir: defence in depth. For students: an attacker must get through every ring to reach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lists the tests we will run and the evidence we will capture. Everything is Planned today. A test becomes Passed only after execution, with command output or screenshots. Source: Handbook s.13; Problem Statement s.8.
For PO Sir: honest evidence policy. For students: no screenshot or command output means no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official schedule. The handbook asks for a minimum complete system by 31 October; the remaining days are for functionality and hardening. Code freeze is 10:00 AM IST on 4 November. Dependencies: schema and auth first, then screening, AI, review, video and diagnostics, then testing. Source: Problem Statement s.9, s.14.3; Handbook s.2.
For PO Sir: official schedule; 31 Oct minimum system. For students: later days depend on earlier ones, so do not slip.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suggested responsibilities, not named people. The matrix shows each role's core work and definition of done from the handbook. Teams of fewer than five combine roles; agree one interface contract early and integrate twice a day. Source: Handbook s.2.
For PO Sir: clear ownership. For students: small teams combine roles but keep every row 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table is the official 100-mark rubric. The right is our planned ten-step demo with a synthetic 46-year-old from G. Madugula. For each criterion we will show evidence live: the full journey, AI-down recovery, two-account video, role denial, offline sync and the audit trail. We promise no score and report no invented metrics. Source: Problem Statement s.8, s.10; Handbook s.19.
For PO Sir: marks map to evidence we can show. For students: practise the ten-step demo repeatedly.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intended impact: better coordination from screening to specialist care, clearer referral visibility, support for low-connectivity communities, and AI used only as a supporting technology. Key engineering contributions: an independent-review workflow, separated AI and clinical records, and offline-safe sync. Future work is subject to clinical, security, regulatory and health-authority approvals; winning does not authorise real clinical use. Close with the vision line and invite questions. Source: Problem Statement s.12–13.
For PO Sir: ambitious but responsibly scoped. For students: finish the vision line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05A"/>
        </a:solidFill>
      </p:bgPr>
    </p:bg>
    <p:spTree>
      <p:nvGrpSpPr>
        <p:cNvPr id="1" name=""/>
        <p:cNvGrpSpPr/>
        <p:nvPr/>
      </p:nvGrpSpPr>
      <p:grpSpPr>
        <a:xfrm>
          <a:off x="0" y="0"/>
          <a:ext cx="0" cy="0"/>
          <a:chOff x="0" y="0"/>
          <a:chExt cx="0" cy="0"/>
        </a:xfrm>
      </p:grpSpPr>
      <p:sp>
        <p:nvSpPr>
          <p:cNvPr id="3" name="Shape 0"/>
          <p:cNvSpPr/>
          <p:nvPr/>
        </p:nvSpPr>
        <p:spPr>
          <a:xfrm>
            <a:off x="0" y="0"/>
            <a:ext cx="365760" cy="6858000"/>
          </a:xfrm>
          <a:prstGeom prst="rect">
            <a:avLst/>
          </a:prstGeom>
          <a:solidFill>
            <a:srgbClr val="0F766E"/>
          </a:solidFill>
          <a:ln/>
        </p:spPr>
      </p:sp>
      <p:sp>
        <p:nvSpPr>
          <p:cNvPr id="4" name="Text 1"/>
          <p:cNvSpPr txBox="1"/>
          <p:nvPr/>
        </p:nvSpPr>
        <p:spPr>
          <a:xfrm>
            <a:off x="822960" y="1097280"/>
            <a:ext cx="8229600" cy="1005840"/>
          </a:xfrm>
          <a:prstGeom prst="rect">
            <a:avLst/>
          </a:prstGeom>
          <a:noFill/>
          <a:ln/>
        </p:spPr>
        <p:txBody>
          <a:bodyPr wrap="square" lIns="25400" tIns="25400" rIns="25400" bIns="25400" rtlCol="0" anchor="t"/>
          <a:lstStyle/>
          <a:p>
            <a:pPr indent="0" marL="0">
              <a:buNone/>
            </a:pPr>
            <a:r>
              <a:rPr lang="en-US" sz="5400" b="1" dirty="0">
                <a:solidFill>
                  <a:srgbClr val="FFFFFF"/>
                </a:solidFill>
              </a:rPr>
              <a:t>AAROGYA DRISHTI</a:t>
            </a:r>
            <a:endParaRPr lang="en-US" sz="5400" dirty="0"/>
          </a:p>
        </p:txBody>
      </p:sp>
      <p:sp>
        <p:nvSpPr>
          <p:cNvPr id="5" name="Text 2"/>
          <p:cNvSpPr txBox="1"/>
          <p:nvPr/>
        </p:nvSpPr>
        <p:spPr>
          <a:xfrm>
            <a:off x="822960" y="2194560"/>
            <a:ext cx="8046720" cy="1097280"/>
          </a:xfrm>
          <a:prstGeom prst="rect">
            <a:avLst/>
          </a:prstGeom>
          <a:noFill/>
          <a:ln/>
        </p:spPr>
        <p:txBody>
          <a:bodyPr wrap="square" lIns="25400" tIns="25400" rIns="25400" bIns="25400" rtlCol="0" anchor="t"/>
          <a:lstStyle/>
          <a:p>
            <a:pPr indent="0" marL="0">
              <a:buNone/>
            </a:pPr>
            <a:r>
              <a:rPr lang="en-US" sz="2400" dirty="0">
                <a:solidFill>
                  <a:srgbClr val="9FE3D6"/>
                </a:solidFill>
              </a:rPr>
              <a:t>AI-Assisted Oral Cancer Early Detection, Telemedicine and Patient Care Platform</a:t>
            </a:r>
            <a:endParaRPr lang="en-US" sz="2400" dirty="0"/>
          </a:p>
        </p:txBody>
      </p:sp>
      <p:sp>
        <p:nvSpPr>
          <p:cNvPr id="6" name="Text 3"/>
          <p:cNvSpPr txBox="1"/>
          <p:nvPr/>
        </p:nvSpPr>
        <p:spPr>
          <a:xfrm>
            <a:off x="822960" y="3474720"/>
            <a:ext cx="7772400" cy="1097280"/>
          </a:xfrm>
          <a:prstGeom prst="rect">
            <a:avLst/>
          </a:prstGeom>
          <a:noFill/>
          <a:ln/>
        </p:spPr>
        <p:txBody>
          <a:bodyPr wrap="square" lIns="25400" tIns="25400" rIns="25400" bIns="25400" rtlCol="0" anchor="t"/>
          <a:lstStyle/>
          <a:p>
            <a:pPr indent="0" marL="0">
              <a:buNone/>
            </a:pPr>
            <a:r>
              <a:rPr lang="en-US" sz="1600" dirty="0">
                <a:solidFill>
                  <a:srgbClr val="FFFFFF"/>
                </a:solidFill>
              </a:rPr>
              <a:t>AAROHAN Inter-Centre Hackathon 2026  ·  Organised by ITDA Paderu, Alluri Sitharama Raju District, Andhra Pradesh</a:t>
            </a:r>
            <a:endParaRPr lang="en-US" sz="1600" dirty="0"/>
          </a:p>
          <a:p>
            <a:pPr indent="0" marL="0">
              <a:buNone/>
            </a:pPr>
            <a:r>
              <a:rPr lang="en-US" sz="1600" dirty="0">
                <a:solidFill>
                  <a:srgbClr val="FFFFFF"/>
                </a:solidFill>
              </a:rPr>
              <a:t>27 October – 4 November 2026</a:t>
            </a:r>
            <a:endParaRPr lang="en-US" sz="1600" dirty="0"/>
          </a:p>
        </p:txBody>
      </p:sp>
      <p:sp>
        <p:nvSpPr>
          <p:cNvPr id="7" name="Text 4"/>
          <p:cNvSpPr txBox="1"/>
          <p:nvPr/>
        </p:nvSpPr>
        <p:spPr>
          <a:xfrm>
            <a:off x="822960" y="4754880"/>
            <a:ext cx="10515600" cy="457200"/>
          </a:xfrm>
          <a:prstGeom prst="rect">
            <a:avLst/>
          </a:prstGeom>
          <a:noFill/>
          <a:ln/>
        </p:spPr>
        <p:txBody>
          <a:bodyPr wrap="square" lIns="25400" tIns="25400" rIns="25400" bIns="25400" rtlCol="0" anchor="t"/>
          <a:lstStyle/>
          <a:p>
            <a:pPr indent="0" marL="0">
              <a:buNone/>
            </a:pPr>
            <a:r>
              <a:rPr lang="en-US" sz="1600" dirty="0">
                <a:solidFill>
                  <a:srgbClr val="FBBF77"/>
                </a:solidFill>
              </a:rPr>
              <a:t>Team: [Team Name]   |   Members: [Member 1–5]   |   Centre: [Participating Centre]</a:t>
            </a:r>
            <a:endParaRPr lang="en-US" sz="1600" dirty="0"/>
          </a:p>
        </p:txBody>
      </p:sp>
      <p:sp>
        <p:nvSpPr>
          <p:cNvPr id="8" name="Shape 5"/>
          <p:cNvSpPr/>
          <p:nvPr/>
        </p:nvSpPr>
        <p:spPr>
          <a:xfrm>
            <a:off x="9235440" y="822960"/>
            <a:ext cx="2468880" cy="2468880"/>
          </a:xfrm>
          <a:prstGeom prst="ellipse">
            <a:avLst/>
          </a:prstGeom>
          <a:solidFill>
            <a:srgbClr val="0F766E"/>
          </a:solidFill>
          <a:ln/>
        </p:spPr>
      </p:sp>
      <p:sp>
        <p:nvSpPr>
          <p:cNvPr id="9" name="Shape 6"/>
          <p:cNvSpPr/>
          <p:nvPr/>
        </p:nvSpPr>
        <p:spPr>
          <a:xfrm>
            <a:off x="9464040" y="1051560"/>
            <a:ext cx="2011680" cy="2011680"/>
          </a:xfrm>
          <a:prstGeom prst="ellipse">
            <a:avLst/>
          </a:prstGeom>
          <a:solidFill>
            <a:srgbClr val="12305A"/>
          </a:solidFill>
          <a:ln w="38100">
            <a:solidFill>
              <a:srgbClr val="9FE3D6"/>
            </a:solidFill>
            <a:prstDash val="solid"/>
          </a:ln>
        </p:spPr>
      </p:sp>
      <p:pic>
        <p:nvPicPr>
          <p:cNvPr id="10" name="Image 0" descr="preencoded.png">    </p:cNvPr>
          <p:cNvPicPr>
            <a:picLocks noChangeAspect="1"/>
          </p:cNvPicPr>
          <p:nvPr/>
        </p:nvPicPr>
        <p:blipFill>
          <a:blip r:embed="rId1"/>
          <a:stretch>
            <a:fillRect/>
          </a:stretch>
        </p:blipFill>
        <p:spPr>
          <a:xfrm>
            <a:off x="10012680" y="1600200"/>
            <a:ext cx="914400" cy="914400"/>
          </a:xfrm>
          <a:prstGeom prst="rect">
            <a:avLst/>
          </a:prstGeom>
        </p:spPr>
      </p:pic>
      <p:sp>
        <p:nvSpPr>
          <p:cNvPr id="11" name="Shape 7"/>
          <p:cNvSpPr/>
          <p:nvPr/>
        </p:nvSpPr>
        <p:spPr>
          <a:xfrm>
            <a:off x="8869680" y="3657600"/>
            <a:ext cx="640080" cy="640080"/>
          </a:xfrm>
          <a:prstGeom prst="ellipse">
            <a:avLst/>
          </a:prstGeom>
          <a:solidFill>
            <a:srgbClr val="16A34A"/>
          </a:solidFill>
          <a:ln/>
        </p:spPr>
      </p:sp>
      <p:pic>
        <p:nvPicPr>
          <p:cNvPr id="12" name="Image 1" descr="preencoded.png">    </p:cNvPr>
          <p:cNvPicPr>
            <a:picLocks noChangeAspect="1"/>
          </p:cNvPicPr>
          <p:nvPr/>
        </p:nvPicPr>
        <p:blipFill>
          <a:blip r:embed="rId2"/>
          <a:stretch>
            <a:fillRect/>
          </a:stretch>
        </p:blipFill>
        <p:spPr>
          <a:xfrm>
            <a:off x="9015984" y="3803904"/>
            <a:ext cx="347472" cy="347472"/>
          </a:xfrm>
          <a:prstGeom prst="rect">
            <a:avLst/>
          </a:prstGeom>
        </p:spPr>
      </p:pic>
      <p:sp>
        <p:nvSpPr>
          <p:cNvPr id="13" name="Shape 8"/>
          <p:cNvSpPr/>
          <p:nvPr/>
        </p:nvSpPr>
        <p:spPr>
          <a:xfrm>
            <a:off x="9646920" y="3657600"/>
            <a:ext cx="640080" cy="640080"/>
          </a:xfrm>
          <a:prstGeom prst="ellipse">
            <a:avLst/>
          </a:prstGeom>
          <a:solidFill>
            <a:srgbClr val="16A34A"/>
          </a:solidFill>
          <a:ln/>
        </p:spPr>
      </p:sp>
      <p:pic>
        <p:nvPicPr>
          <p:cNvPr id="14" name="Image 2" descr="preencoded.png">    </p:cNvPr>
          <p:cNvPicPr>
            <a:picLocks noChangeAspect="1"/>
          </p:cNvPicPr>
          <p:nvPr/>
        </p:nvPicPr>
        <p:blipFill>
          <a:blip r:embed="rId3"/>
          <a:stretch>
            <a:fillRect/>
          </a:stretch>
        </p:blipFill>
        <p:spPr>
          <a:xfrm>
            <a:off x="9793224" y="3803904"/>
            <a:ext cx="347472" cy="347472"/>
          </a:xfrm>
          <a:prstGeom prst="rect">
            <a:avLst/>
          </a:prstGeom>
        </p:spPr>
      </p:pic>
      <p:sp>
        <p:nvSpPr>
          <p:cNvPr id="15" name="Shape 9"/>
          <p:cNvSpPr/>
          <p:nvPr/>
        </p:nvSpPr>
        <p:spPr>
          <a:xfrm>
            <a:off x="10424160" y="3657600"/>
            <a:ext cx="640080" cy="640080"/>
          </a:xfrm>
          <a:prstGeom prst="ellipse">
            <a:avLst/>
          </a:prstGeom>
          <a:solidFill>
            <a:srgbClr val="16A34A"/>
          </a:solidFill>
          <a:ln/>
        </p:spPr>
      </p:sp>
      <p:pic>
        <p:nvPicPr>
          <p:cNvPr id="16" name="Image 3" descr="preencoded.png">    </p:cNvPr>
          <p:cNvPicPr>
            <a:picLocks noChangeAspect="1"/>
          </p:cNvPicPr>
          <p:nvPr/>
        </p:nvPicPr>
        <p:blipFill>
          <a:blip r:embed="rId4"/>
          <a:stretch>
            <a:fillRect/>
          </a:stretch>
        </p:blipFill>
        <p:spPr>
          <a:xfrm>
            <a:off x="10570464" y="3803904"/>
            <a:ext cx="347472" cy="347472"/>
          </a:xfrm>
          <a:prstGeom prst="rect">
            <a:avLst/>
          </a:prstGeom>
        </p:spPr>
      </p:pic>
      <p:sp>
        <p:nvSpPr>
          <p:cNvPr id="17" name="Shape 10"/>
          <p:cNvSpPr/>
          <p:nvPr/>
        </p:nvSpPr>
        <p:spPr>
          <a:xfrm>
            <a:off x="11201400" y="3657600"/>
            <a:ext cx="640080" cy="640080"/>
          </a:xfrm>
          <a:prstGeom prst="ellipse">
            <a:avLst/>
          </a:prstGeom>
          <a:solidFill>
            <a:srgbClr val="16A34A"/>
          </a:solidFill>
          <a:ln/>
        </p:spPr>
      </p:sp>
      <p:pic>
        <p:nvPicPr>
          <p:cNvPr id="18" name="Image 4" descr="preencoded.png">    </p:cNvPr>
          <p:cNvPicPr>
            <a:picLocks noChangeAspect="1"/>
          </p:cNvPicPr>
          <p:nvPr/>
        </p:nvPicPr>
        <p:blipFill>
          <a:blip r:embed="rId5"/>
          <a:stretch>
            <a:fillRect/>
          </a:stretch>
        </p:blipFill>
        <p:spPr>
          <a:xfrm>
            <a:off x="11347704" y="3803904"/>
            <a:ext cx="347472" cy="347472"/>
          </a:xfrm>
          <a:prstGeom prst="rect">
            <a:avLst/>
          </a:prstGeom>
        </p:spPr>
      </p:pic>
      <p:sp>
        <p:nvSpPr>
          <p:cNvPr id="19" name="Shape 11"/>
          <p:cNvSpPr/>
          <p:nvPr/>
        </p:nvSpPr>
        <p:spPr>
          <a:xfrm>
            <a:off x="457200" y="5760720"/>
            <a:ext cx="11274552" cy="457200"/>
          </a:xfrm>
          <a:prstGeom prst="rect">
            <a:avLst/>
          </a:prstGeom>
          <a:solidFill>
            <a:srgbClr val="EA580C"/>
          </a:solidFill>
          <a:ln/>
        </p:spPr>
      </p:sp>
      <p:sp>
        <p:nvSpPr>
          <p:cNvPr id="20" name="Text 12"/>
          <p:cNvSpPr txBox="1"/>
          <p:nvPr/>
        </p:nvSpPr>
        <p:spPr>
          <a:xfrm>
            <a:off x="457200" y="5760720"/>
            <a:ext cx="11274552" cy="457200"/>
          </a:xfrm>
          <a:prstGeom prst="rect">
            <a:avLst/>
          </a:prstGeom>
          <a:noFill/>
          <a:ln/>
        </p:spPr>
        <p:txBody>
          <a:bodyPr wrap="square" lIns="25400" tIns="25400" rIns="25400" bIns="25400" rtlCol="0" anchor="ctr"/>
          <a:lstStyle/>
          <a:p>
            <a:pPr algn="ctr" indent="0" marL="0">
              <a:buNone/>
            </a:pPr>
            <a:r>
              <a:rPr lang="en-US" sz="1400" b="1" dirty="0">
                <a:solidFill>
                  <a:srgbClr val="FFFFFF"/>
                </a:solidFill>
              </a:rPr>
              <a:t>Hackathon demonstration only — NOT FOR CLINICAL USE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F766E"/>
          </a:solidFill>
          <a:ln/>
        </p:spPr>
      </p:sp>
      <p:sp>
        <p:nvSpPr>
          <p:cNvPr id="3" name="Text 1"/>
          <p:cNvSpPr txBox="1"/>
          <p:nvPr/>
        </p:nvSpPr>
        <p:spPr>
          <a:xfrm>
            <a:off x="457200" y="228600"/>
            <a:ext cx="10424160" cy="640080"/>
          </a:xfrm>
          <a:prstGeom prst="rect">
            <a:avLst/>
          </a:prstGeom>
          <a:noFill/>
          <a:ln/>
        </p:spPr>
        <p:txBody>
          <a:bodyPr wrap="square" lIns="0" tIns="0" rIns="0" bIns="0" rtlCol="0" anchor="ctr"/>
          <a:lstStyle/>
          <a:p>
            <a:pPr indent="0" marL="0">
              <a:buNone/>
            </a:pPr>
            <a:r>
              <a:rPr lang="en-US" sz="3000" b="1" dirty="0">
                <a:solidFill>
                  <a:srgbClr val="12305A"/>
                </a:solidFill>
              </a:rPr>
              <a:t>Problem: Specialist Care Is Far From the Village</a:t>
            </a:r>
            <a:endParaRPr lang="en-US" sz="3000" dirty="0"/>
          </a:p>
        </p:txBody>
      </p:sp>
      <p:sp>
        <p:nvSpPr>
          <p:cNvPr id="4" name="Shape 2"/>
          <p:cNvSpPr/>
          <p:nvPr/>
        </p:nvSpPr>
        <p:spPr>
          <a:xfrm>
            <a:off x="11064240" y="201168"/>
            <a:ext cx="658368" cy="658368"/>
          </a:xfrm>
          <a:prstGeom prst="ellipse">
            <a:avLst/>
          </a:prstGeom>
          <a:solidFill>
            <a:srgbClr val="0F766E"/>
          </a:solidFill>
          <a:ln/>
        </p:spPr>
      </p:sp>
      <p:pic>
        <p:nvPicPr>
          <p:cNvPr id="5" name="Image 0" descr="preencoded.png">    </p:cNvPr>
          <p:cNvPicPr>
            <a:picLocks noChangeAspect="1"/>
          </p:cNvPicPr>
          <p:nvPr/>
        </p:nvPicPr>
        <p:blipFill>
          <a:blip r:embed="rId1"/>
          <a:stretch>
            <a:fillRect/>
          </a:stretch>
        </p:blipFill>
        <p:spPr>
          <a:xfrm>
            <a:off x="11210544" y="347472"/>
            <a:ext cx="365760" cy="365760"/>
          </a:xfrm>
          <a:prstGeom prst="rect">
            <a:avLst/>
          </a:prstGeom>
        </p:spPr>
      </p:pic>
      <p:sp>
        <p:nvSpPr>
          <p:cNvPr id="6" name="Shape 3"/>
          <p:cNvSpPr/>
          <p:nvPr/>
        </p:nvSpPr>
        <p:spPr>
          <a:xfrm>
            <a:off x="457200" y="896112"/>
            <a:ext cx="1097280" cy="45720"/>
          </a:xfrm>
          <a:prstGeom prst="rect">
            <a:avLst/>
          </a:prstGeom>
          <a:solidFill>
            <a:srgbClr val="EA580C"/>
          </a:solidFill>
          <a:ln/>
        </p:spPr>
      </p:sp>
      <p:sp>
        <p:nvSpPr>
          <p:cNvPr id="7" name="Text 4"/>
          <p:cNvSpPr txBox="1"/>
          <p:nvPr/>
        </p:nvSpPr>
        <p:spPr>
          <a:xfrm>
            <a:off x="457200" y="6473952"/>
            <a:ext cx="10058400" cy="274320"/>
          </a:xfrm>
          <a:prstGeom prst="rect">
            <a:avLst/>
          </a:prstGeom>
          <a:noFill/>
          <a:ln/>
        </p:spPr>
        <p:txBody>
          <a:bodyPr wrap="square" lIns="0" tIns="0" rIns="0" bIns="0" rtlCol="0" anchor="ctr"/>
          <a:lstStyle/>
          <a:p>
            <a:pPr indent="0" marL="0">
              <a:buNone/>
            </a:pPr>
            <a:r>
              <a:rPr lang="en-US" sz="1000" dirty="0">
                <a:solidFill>
                  <a:srgbClr val="6B7280"/>
                </a:solidFill>
              </a:rPr>
              <a:t>Hackathon demonstration only — NOT FOR CLINICAL USE  |  AAROGYA DRISHTI · AAROHAN 2026</a:t>
            </a:r>
            <a:endParaRPr lang="en-US" sz="1000" dirty="0"/>
          </a:p>
        </p:txBody>
      </p:sp>
      <p:sp>
        <p:nvSpPr>
          <p:cNvPr id="8" name="Text 5"/>
          <p:cNvSpPr txBox="1"/>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rPr>
              <a:t>2</a:t>
            </a:r>
            <a:endParaRPr lang="en-US" sz="1000" dirty="0"/>
          </a:p>
        </p:txBody>
      </p:sp>
      <p:sp>
        <p:nvSpPr>
          <p:cNvPr id="10" name="Shape 6"/>
          <p:cNvSpPr/>
          <p:nvPr/>
        </p:nvSpPr>
        <p:spPr>
          <a:xfrm>
            <a:off x="457200" y="1280160"/>
            <a:ext cx="2035454" cy="1005840"/>
          </a:xfrm>
          <a:prstGeom prst="roundRect">
            <a:avLst>
              <a:gd name="adj" fmla="val 7273"/>
            </a:avLst>
          </a:prstGeom>
          <a:solidFill>
            <a:srgbClr val="0F766E"/>
          </a:solidFill>
          <a:ln/>
        </p:spPr>
      </p:sp>
      <p:sp>
        <p:nvSpPr>
          <p:cNvPr id="11" name="Text 7"/>
          <p:cNvSpPr txBox="1"/>
          <p:nvPr/>
        </p:nvSpPr>
        <p:spPr>
          <a:xfrm>
            <a:off x="457200" y="1280160"/>
            <a:ext cx="2035454" cy="100584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Village patient: persistent mouth lesion</a:t>
            </a:r>
            <a:endParaRPr lang="en-US" sz="1400" dirty="0"/>
          </a:p>
        </p:txBody>
      </p:sp>
      <p:sp>
        <p:nvSpPr>
          <p:cNvPr id="12" name="Text 8"/>
          <p:cNvSpPr txBox="1"/>
          <p:nvPr/>
        </p:nvSpPr>
        <p:spPr>
          <a:xfrm>
            <a:off x="2492654" y="1280160"/>
            <a:ext cx="274320" cy="1005840"/>
          </a:xfrm>
          <a:prstGeom prst="rect">
            <a:avLst/>
          </a:prstGeom>
          <a:noFill/>
          <a:ln/>
        </p:spPr>
        <p:txBody>
          <a:bodyPr wrap="square" lIns="0" tIns="0" rIns="0" bIns="0" rtlCol="0" anchor="ctr"/>
          <a:lstStyle/>
          <a:p>
            <a:pPr algn="ctr" indent="0" marL="0">
              <a:buNone/>
            </a:pPr>
            <a:r>
              <a:rPr lang="en-US" sz="2000" b="1" dirty="0">
                <a:solidFill>
                  <a:srgbClr val="EA580C"/>
                </a:solidFill>
              </a:rPr>
              <a:t>›</a:t>
            </a:r>
            <a:endParaRPr lang="en-US" sz="2000" dirty="0"/>
          </a:p>
        </p:txBody>
      </p:sp>
      <p:sp>
        <p:nvSpPr>
          <p:cNvPr id="13" name="Shape 9"/>
          <p:cNvSpPr/>
          <p:nvPr/>
        </p:nvSpPr>
        <p:spPr>
          <a:xfrm>
            <a:off x="2766974" y="1280160"/>
            <a:ext cx="2035454" cy="1005840"/>
          </a:xfrm>
          <a:prstGeom prst="roundRect">
            <a:avLst>
              <a:gd name="adj" fmla="val 7273"/>
            </a:avLst>
          </a:prstGeom>
          <a:solidFill>
            <a:srgbClr val="0F766E"/>
          </a:solidFill>
          <a:ln/>
        </p:spPr>
      </p:sp>
      <p:sp>
        <p:nvSpPr>
          <p:cNvPr id="14" name="Text 10"/>
          <p:cNvSpPr txBox="1"/>
          <p:nvPr/>
        </p:nvSpPr>
        <p:spPr>
          <a:xfrm>
            <a:off x="2766974" y="1280160"/>
            <a:ext cx="2035454" cy="100584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Health worker: initial exam</a:t>
            </a:r>
            <a:endParaRPr lang="en-US" sz="1400" dirty="0"/>
          </a:p>
        </p:txBody>
      </p:sp>
      <p:sp>
        <p:nvSpPr>
          <p:cNvPr id="15" name="Text 11"/>
          <p:cNvSpPr txBox="1"/>
          <p:nvPr/>
        </p:nvSpPr>
        <p:spPr>
          <a:xfrm>
            <a:off x="4802429" y="1280160"/>
            <a:ext cx="274320" cy="1005840"/>
          </a:xfrm>
          <a:prstGeom prst="rect">
            <a:avLst/>
          </a:prstGeom>
          <a:noFill/>
          <a:ln/>
        </p:spPr>
        <p:txBody>
          <a:bodyPr wrap="square" lIns="0" tIns="0" rIns="0" bIns="0" rtlCol="0" anchor="ctr"/>
          <a:lstStyle/>
          <a:p>
            <a:pPr algn="ctr" indent="0" marL="0">
              <a:buNone/>
            </a:pPr>
            <a:r>
              <a:rPr lang="en-US" sz="2000" b="1" dirty="0">
                <a:solidFill>
                  <a:srgbClr val="EA580C"/>
                </a:solidFill>
              </a:rPr>
              <a:t>›</a:t>
            </a:r>
            <a:endParaRPr lang="en-US" sz="2000" dirty="0"/>
          </a:p>
        </p:txBody>
      </p:sp>
      <p:sp>
        <p:nvSpPr>
          <p:cNvPr id="16" name="Shape 12"/>
          <p:cNvSpPr/>
          <p:nvPr/>
        </p:nvSpPr>
        <p:spPr>
          <a:xfrm>
            <a:off x="5076749" y="1280160"/>
            <a:ext cx="2035454" cy="1005840"/>
          </a:xfrm>
          <a:prstGeom prst="roundRect">
            <a:avLst>
              <a:gd name="adj" fmla="val 7273"/>
            </a:avLst>
          </a:prstGeom>
          <a:solidFill>
            <a:srgbClr val="0F766E"/>
          </a:solidFill>
          <a:ln/>
        </p:spPr>
      </p:sp>
      <p:sp>
        <p:nvSpPr>
          <p:cNvPr id="17" name="Text 13"/>
          <p:cNvSpPr txBox="1"/>
          <p:nvPr/>
        </p:nvSpPr>
        <p:spPr>
          <a:xfrm>
            <a:off x="5076749" y="1280160"/>
            <a:ext cx="2035454" cy="100584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Poor documentation / no photos</a:t>
            </a:r>
            <a:endParaRPr lang="en-US" sz="1400" dirty="0"/>
          </a:p>
        </p:txBody>
      </p:sp>
      <p:sp>
        <p:nvSpPr>
          <p:cNvPr id="18" name="Text 14"/>
          <p:cNvSpPr txBox="1"/>
          <p:nvPr/>
        </p:nvSpPr>
        <p:spPr>
          <a:xfrm>
            <a:off x="7112203" y="1280160"/>
            <a:ext cx="274320" cy="1005840"/>
          </a:xfrm>
          <a:prstGeom prst="rect">
            <a:avLst/>
          </a:prstGeom>
          <a:noFill/>
          <a:ln/>
        </p:spPr>
        <p:txBody>
          <a:bodyPr wrap="square" lIns="0" tIns="0" rIns="0" bIns="0" rtlCol="0" anchor="ctr"/>
          <a:lstStyle/>
          <a:p>
            <a:pPr algn="ctr" indent="0" marL="0">
              <a:buNone/>
            </a:pPr>
            <a:r>
              <a:rPr lang="en-US" sz="2000" b="1" dirty="0">
                <a:solidFill>
                  <a:srgbClr val="EA580C"/>
                </a:solidFill>
              </a:rPr>
              <a:t>›</a:t>
            </a:r>
            <a:endParaRPr lang="en-US" sz="2000" dirty="0"/>
          </a:p>
        </p:txBody>
      </p:sp>
      <p:sp>
        <p:nvSpPr>
          <p:cNvPr id="19" name="Shape 15"/>
          <p:cNvSpPr/>
          <p:nvPr/>
        </p:nvSpPr>
        <p:spPr>
          <a:xfrm>
            <a:off x="7386523" y="1280160"/>
            <a:ext cx="2035454" cy="1005840"/>
          </a:xfrm>
          <a:prstGeom prst="roundRect">
            <a:avLst>
              <a:gd name="adj" fmla="val 7273"/>
            </a:avLst>
          </a:prstGeom>
          <a:solidFill>
            <a:srgbClr val="0F766E"/>
          </a:solidFill>
          <a:ln/>
        </p:spPr>
      </p:sp>
      <p:sp>
        <p:nvSpPr>
          <p:cNvPr id="20" name="Text 16"/>
          <p:cNvSpPr txBox="1"/>
          <p:nvPr/>
        </p:nvSpPr>
        <p:spPr>
          <a:xfrm>
            <a:off x="7386523" y="1280160"/>
            <a:ext cx="2035454" cy="100584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Delayed referral &amp; diagnostics</a:t>
            </a:r>
            <a:endParaRPr lang="en-US" sz="1400" dirty="0"/>
          </a:p>
        </p:txBody>
      </p:sp>
      <p:sp>
        <p:nvSpPr>
          <p:cNvPr id="21" name="Text 17"/>
          <p:cNvSpPr txBox="1"/>
          <p:nvPr/>
        </p:nvSpPr>
        <p:spPr>
          <a:xfrm>
            <a:off x="9421978" y="1280160"/>
            <a:ext cx="274320" cy="1005840"/>
          </a:xfrm>
          <a:prstGeom prst="rect">
            <a:avLst/>
          </a:prstGeom>
          <a:noFill/>
          <a:ln/>
        </p:spPr>
        <p:txBody>
          <a:bodyPr wrap="square" lIns="0" tIns="0" rIns="0" bIns="0" rtlCol="0" anchor="ctr"/>
          <a:lstStyle/>
          <a:p>
            <a:pPr algn="ctr" indent="0" marL="0">
              <a:buNone/>
            </a:pPr>
            <a:r>
              <a:rPr lang="en-US" sz="2000" b="1" dirty="0">
                <a:solidFill>
                  <a:srgbClr val="EA580C"/>
                </a:solidFill>
              </a:rPr>
              <a:t>›</a:t>
            </a:r>
            <a:endParaRPr lang="en-US" sz="2000" dirty="0"/>
          </a:p>
        </p:txBody>
      </p:sp>
      <p:sp>
        <p:nvSpPr>
          <p:cNvPr id="22" name="Shape 18"/>
          <p:cNvSpPr/>
          <p:nvPr/>
        </p:nvSpPr>
        <p:spPr>
          <a:xfrm>
            <a:off x="9696298" y="1280160"/>
            <a:ext cx="2035454" cy="1005840"/>
          </a:xfrm>
          <a:prstGeom prst="roundRect">
            <a:avLst>
              <a:gd name="adj" fmla="val 7273"/>
            </a:avLst>
          </a:prstGeom>
          <a:solidFill>
            <a:srgbClr val="0F766E"/>
          </a:solidFill>
          <a:ln/>
        </p:spPr>
      </p:sp>
      <p:sp>
        <p:nvSpPr>
          <p:cNvPr id="23" name="Text 19"/>
          <p:cNvSpPr txBox="1"/>
          <p:nvPr/>
        </p:nvSpPr>
        <p:spPr>
          <a:xfrm>
            <a:off x="9696298" y="1280160"/>
            <a:ext cx="2035454" cy="100584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Lost follow-up → delayed specialist care</a:t>
            </a:r>
            <a:endParaRPr lang="en-US" sz="1400" dirty="0"/>
          </a:p>
        </p:txBody>
      </p:sp>
      <p:sp>
        <p:nvSpPr>
          <p:cNvPr id="24" name="Shape 20"/>
          <p:cNvSpPr/>
          <p:nvPr/>
        </p:nvSpPr>
        <p:spPr>
          <a:xfrm>
            <a:off x="457200" y="3108960"/>
            <a:ext cx="2681478" cy="1645920"/>
          </a:xfrm>
          <a:prstGeom prst="roundRect">
            <a:avLst>
              <a:gd name="adj" fmla="val 3333"/>
            </a:avLst>
          </a:prstGeom>
          <a:solidFill>
            <a:srgbClr val="EEF5F3"/>
          </a:solidFill>
          <a:ln w="12700">
            <a:solidFill>
              <a:srgbClr val="0F766E"/>
            </a:solidFill>
            <a:prstDash val="solid"/>
          </a:ln>
        </p:spPr>
      </p:sp>
      <p:sp>
        <p:nvSpPr>
          <p:cNvPr id="25" name="Text 21"/>
          <p:cNvSpPr txBox="1"/>
          <p:nvPr/>
        </p:nvSpPr>
        <p:spPr>
          <a:xfrm>
            <a:off x="530352" y="3154680"/>
            <a:ext cx="2535174" cy="1554480"/>
          </a:xfrm>
          <a:prstGeom prst="rect">
            <a:avLst/>
          </a:prstGeom>
          <a:noFill/>
          <a:ln/>
        </p:spPr>
        <p:txBody>
          <a:bodyPr wrap="square" lIns="25400" tIns="25400" rIns="25400" bIns="25400" rtlCol="0" anchor="t"/>
          <a:lstStyle/>
          <a:p>
            <a:pPr indent="0" marL="0">
              <a:buNone/>
            </a:pPr>
            <a:r>
              <a:rPr lang="en-US" sz="1500" b="1" dirty="0">
                <a:solidFill>
                  <a:srgbClr val="0F766E"/>
                </a:solidFill>
              </a:rPr>
              <a:t>Limited access</a:t>
            </a:r>
            <a:endParaRPr lang="en-US" sz="1500" dirty="0"/>
          </a:p>
          <a:p>
            <a:pPr indent="0" marL="0">
              <a:buNone/>
            </a:pPr>
            <a:r>
              <a:rPr lang="en-US" sz="1300" dirty="0">
                <a:solidFill>
                  <a:srgbClr val="1F2937"/>
                </a:solidFill>
              </a:rPr>
              <a:t>Specialist services are scarce in remote tribal areas.</a:t>
            </a:r>
            <a:endParaRPr lang="en-US" sz="1500" dirty="0"/>
          </a:p>
        </p:txBody>
      </p:sp>
      <p:sp>
        <p:nvSpPr>
          <p:cNvPr id="26" name="Shape 22"/>
          <p:cNvSpPr/>
          <p:nvPr/>
        </p:nvSpPr>
        <p:spPr>
          <a:xfrm>
            <a:off x="3321558" y="3108960"/>
            <a:ext cx="2681478" cy="1645920"/>
          </a:xfrm>
          <a:prstGeom prst="roundRect">
            <a:avLst>
              <a:gd name="adj" fmla="val 3333"/>
            </a:avLst>
          </a:prstGeom>
          <a:solidFill>
            <a:srgbClr val="EEF5F3"/>
          </a:solidFill>
          <a:ln w="12700">
            <a:solidFill>
              <a:srgbClr val="0F766E"/>
            </a:solidFill>
            <a:prstDash val="solid"/>
          </a:ln>
        </p:spPr>
      </p:sp>
      <p:sp>
        <p:nvSpPr>
          <p:cNvPr id="27" name="Text 23"/>
          <p:cNvSpPr txBox="1"/>
          <p:nvPr/>
        </p:nvSpPr>
        <p:spPr>
          <a:xfrm>
            <a:off x="3394710" y="3154680"/>
            <a:ext cx="2535174" cy="1554480"/>
          </a:xfrm>
          <a:prstGeom prst="rect">
            <a:avLst/>
          </a:prstGeom>
          <a:noFill/>
          <a:ln/>
        </p:spPr>
        <p:txBody>
          <a:bodyPr wrap="square" lIns="25400" tIns="25400" rIns="25400" bIns="25400" rtlCol="0" anchor="t"/>
          <a:lstStyle/>
          <a:p>
            <a:pPr indent="0" marL="0">
              <a:buNone/>
            </a:pPr>
            <a:r>
              <a:rPr lang="en-US" sz="1500" b="1" dirty="0">
                <a:solidFill>
                  <a:srgbClr val="0F766E"/>
                </a:solidFill>
              </a:rPr>
              <a:t>Weak documentation</a:t>
            </a:r>
            <a:endParaRPr lang="en-US" sz="1500" dirty="0"/>
          </a:p>
          <a:p>
            <a:pPr indent="0" marL="0">
              <a:buNone/>
            </a:pPr>
            <a:r>
              <a:rPr lang="en-US" sz="1300" dirty="0">
                <a:solidFill>
                  <a:srgbClr val="1F2937"/>
                </a:solidFill>
              </a:rPr>
              <a:t>Oral abnormalities and screening data are hard to record consistently.</a:t>
            </a:r>
            <a:endParaRPr lang="en-US" sz="1500" dirty="0"/>
          </a:p>
        </p:txBody>
      </p:sp>
      <p:sp>
        <p:nvSpPr>
          <p:cNvPr id="28" name="Shape 24"/>
          <p:cNvSpPr/>
          <p:nvPr/>
        </p:nvSpPr>
        <p:spPr>
          <a:xfrm>
            <a:off x="6185916" y="3108960"/>
            <a:ext cx="2681478" cy="1645920"/>
          </a:xfrm>
          <a:prstGeom prst="roundRect">
            <a:avLst>
              <a:gd name="adj" fmla="val 3333"/>
            </a:avLst>
          </a:prstGeom>
          <a:solidFill>
            <a:srgbClr val="EEF5F3"/>
          </a:solidFill>
          <a:ln w="12700">
            <a:solidFill>
              <a:srgbClr val="0F766E"/>
            </a:solidFill>
            <a:prstDash val="solid"/>
          </a:ln>
        </p:spPr>
      </p:sp>
      <p:sp>
        <p:nvSpPr>
          <p:cNvPr id="29" name="Text 25"/>
          <p:cNvSpPr txBox="1"/>
          <p:nvPr/>
        </p:nvSpPr>
        <p:spPr>
          <a:xfrm>
            <a:off x="6259068" y="3154680"/>
            <a:ext cx="2535174" cy="1554480"/>
          </a:xfrm>
          <a:prstGeom prst="rect">
            <a:avLst/>
          </a:prstGeom>
          <a:noFill/>
          <a:ln/>
        </p:spPr>
        <p:txBody>
          <a:bodyPr wrap="square" lIns="25400" tIns="25400" rIns="25400" bIns="25400" rtlCol="0" anchor="t"/>
          <a:lstStyle/>
          <a:p>
            <a:pPr indent="0" marL="0">
              <a:buNone/>
            </a:pPr>
            <a:r>
              <a:rPr lang="en-US" sz="1500" b="1" dirty="0">
                <a:solidFill>
                  <a:srgbClr val="0F766E"/>
                </a:solidFill>
              </a:rPr>
              <a:t>Delays</a:t>
            </a:r>
            <a:endParaRPr lang="en-US" sz="1500" dirty="0"/>
          </a:p>
          <a:p>
            <a:pPr indent="0" marL="0">
              <a:buNone/>
            </a:pPr>
            <a:r>
              <a:rPr lang="en-US" sz="1300" dirty="0">
                <a:solidFill>
                  <a:srgbClr val="1F2937"/>
                </a:solidFill>
              </a:rPr>
              <a:t>Referrals, diagnostics and follow-up are slow.</a:t>
            </a:r>
            <a:endParaRPr lang="en-US" sz="1500" dirty="0"/>
          </a:p>
        </p:txBody>
      </p:sp>
      <p:sp>
        <p:nvSpPr>
          <p:cNvPr id="30" name="Shape 26"/>
          <p:cNvSpPr/>
          <p:nvPr/>
        </p:nvSpPr>
        <p:spPr>
          <a:xfrm>
            <a:off x="9050274" y="3108960"/>
            <a:ext cx="2681478" cy="1645920"/>
          </a:xfrm>
          <a:prstGeom prst="roundRect">
            <a:avLst>
              <a:gd name="adj" fmla="val 3333"/>
            </a:avLst>
          </a:prstGeom>
          <a:solidFill>
            <a:srgbClr val="EEF5F3"/>
          </a:solidFill>
          <a:ln w="12700">
            <a:solidFill>
              <a:srgbClr val="0F766E"/>
            </a:solidFill>
            <a:prstDash val="solid"/>
          </a:ln>
        </p:spPr>
      </p:sp>
      <p:sp>
        <p:nvSpPr>
          <p:cNvPr id="31" name="Text 27"/>
          <p:cNvSpPr txBox="1"/>
          <p:nvPr/>
        </p:nvSpPr>
        <p:spPr>
          <a:xfrm>
            <a:off x="9123426" y="3154680"/>
            <a:ext cx="2535174" cy="1554480"/>
          </a:xfrm>
          <a:prstGeom prst="rect">
            <a:avLst/>
          </a:prstGeom>
          <a:noFill/>
          <a:ln/>
        </p:spPr>
        <p:txBody>
          <a:bodyPr wrap="square" lIns="25400" tIns="25400" rIns="25400" bIns="25400" rtlCol="0" anchor="t"/>
          <a:lstStyle/>
          <a:p>
            <a:pPr indent="0" marL="0">
              <a:buNone/>
            </a:pPr>
            <a:r>
              <a:rPr lang="en-US" sz="1500" b="1" dirty="0">
                <a:solidFill>
                  <a:srgbClr val="0F766E"/>
                </a:solidFill>
              </a:rPr>
              <a:t>No coordination</a:t>
            </a:r>
            <a:endParaRPr lang="en-US" sz="1500" dirty="0"/>
          </a:p>
          <a:p>
            <a:pPr indent="0" marL="0">
              <a:buNone/>
            </a:pPr>
            <a:r>
              <a:rPr lang="en-US" sz="1300" dirty="0">
                <a:solidFill>
                  <a:srgbClr val="1F2937"/>
                </a:solidFill>
              </a:rPr>
              <a:t>No single view of the care journey across roles.</a:t>
            </a:r>
            <a:endParaRPr lang="en-US" sz="1500" dirty="0"/>
          </a:p>
        </p:txBody>
      </p:sp>
      <p:sp>
        <p:nvSpPr>
          <p:cNvPr id="32" name="Text 28"/>
          <p:cNvSpPr txBox="1"/>
          <p:nvPr/>
        </p:nvSpPr>
        <p:spPr>
          <a:xfrm>
            <a:off x="457200" y="5120640"/>
            <a:ext cx="11247120" cy="457200"/>
          </a:xfrm>
          <a:prstGeom prst="rect">
            <a:avLst/>
          </a:prstGeom>
          <a:noFill/>
          <a:ln/>
        </p:spPr>
        <p:txBody>
          <a:bodyPr wrap="square" lIns="25400" tIns="25400" rIns="25400" bIns="25400" rtlCol="0" anchor="t"/>
          <a:lstStyle/>
          <a:p>
            <a:pPr indent="0" marL="0">
              <a:buNone/>
            </a:pPr>
            <a:r>
              <a:rPr lang="en-US" sz="1600" b="1" dirty="0">
                <a:solidFill>
                  <a:srgbClr val="0F766E"/>
                </a:solidFill>
              </a:rPr>
              <a:t>Goal: ensure no patient is lost between screening, referral and treatment.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F766E"/>
          </a:solidFill>
          <a:ln/>
        </p:spPr>
      </p:sp>
      <p:sp>
        <p:nvSpPr>
          <p:cNvPr id="3" name="Text 1"/>
          <p:cNvSpPr txBox="1"/>
          <p:nvPr/>
        </p:nvSpPr>
        <p:spPr>
          <a:xfrm>
            <a:off x="457200" y="228600"/>
            <a:ext cx="10424160" cy="640080"/>
          </a:xfrm>
          <a:prstGeom prst="rect">
            <a:avLst/>
          </a:prstGeom>
          <a:noFill/>
          <a:ln/>
        </p:spPr>
        <p:txBody>
          <a:bodyPr wrap="square" lIns="0" tIns="0" rIns="0" bIns="0" rtlCol="0" anchor="ctr"/>
          <a:lstStyle/>
          <a:p>
            <a:pPr indent="0" marL="0">
              <a:buNone/>
            </a:pPr>
            <a:r>
              <a:rPr lang="en-US" sz="3000" b="1" dirty="0">
                <a:solidFill>
                  <a:srgbClr val="12305A"/>
                </a:solidFill>
              </a:rPr>
              <a:t>Vision and Objectives</a:t>
            </a:r>
            <a:endParaRPr lang="en-US" sz="3000" dirty="0"/>
          </a:p>
        </p:txBody>
      </p:sp>
      <p:sp>
        <p:nvSpPr>
          <p:cNvPr id="4" name="Shape 2"/>
          <p:cNvSpPr/>
          <p:nvPr/>
        </p:nvSpPr>
        <p:spPr>
          <a:xfrm>
            <a:off x="11064240" y="201168"/>
            <a:ext cx="658368" cy="658368"/>
          </a:xfrm>
          <a:prstGeom prst="ellipse">
            <a:avLst/>
          </a:prstGeom>
          <a:solidFill>
            <a:srgbClr val="0F766E"/>
          </a:solidFill>
          <a:ln/>
        </p:spPr>
      </p:sp>
      <p:pic>
        <p:nvPicPr>
          <p:cNvPr id="5" name="Image 0" descr="preencoded.png">    </p:cNvPr>
          <p:cNvPicPr>
            <a:picLocks noChangeAspect="1"/>
          </p:cNvPicPr>
          <p:nvPr/>
        </p:nvPicPr>
        <p:blipFill>
          <a:blip r:embed="rId1"/>
          <a:stretch>
            <a:fillRect/>
          </a:stretch>
        </p:blipFill>
        <p:spPr>
          <a:xfrm>
            <a:off x="11210544" y="347472"/>
            <a:ext cx="365760" cy="365760"/>
          </a:xfrm>
          <a:prstGeom prst="rect">
            <a:avLst/>
          </a:prstGeom>
        </p:spPr>
      </p:pic>
      <p:sp>
        <p:nvSpPr>
          <p:cNvPr id="6" name="Shape 3"/>
          <p:cNvSpPr/>
          <p:nvPr/>
        </p:nvSpPr>
        <p:spPr>
          <a:xfrm>
            <a:off x="457200" y="896112"/>
            <a:ext cx="1097280" cy="45720"/>
          </a:xfrm>
          <a:prstGeom prst="rect">
            <a:avLst/>
          </a:prstGeom>
          <a:solidFill>
            <a:srgbClr val="EA580C"/>
          </a:solidFill>
          <a:ln/>
        </p:spPr>
      </p:sp>
      <p:sp>
        <p:nvSpPr>
          <p:cNvPr id="7" name="Text 4"/>
          <p:cNvSpPr txBox="1"/>
          <p:nvPr/>
        </p:nvSpPr>
        <p:spPr>
          <a:xfrm>
            <a:off x="457200" y="6473952"/>
            <a:ext cx="10058400" cy="274320"/>
          </a:xfrm>
          <a:prstGeom prst="rect">
            <a:avLst/>
          </a:prstGeom>
          <a:noFill/>
          <a:ln/>
        </p:spPr>
        <p:txBody>
          <a:bodyPr wrap="square" lIns="0" tIns="0" rIns="0" bIns="0" rtlCol="0" anchor="ctr"/>
          <a:lstStyle/>
          <a:p>
            <a:pPr indent="0" marL="0">
              <a:buNone/>
            </a:pPr>
            <a:r>
              <a:rPr lang="en-US" sz="1000" dirty="0">
                <a:solidFill>
                  <a:srgbClr val="6B7280"/>
                </a:solidFill>
              </a:rPr>
              <a:t>Hackathon demonstration only — NOT FOR CLINICAL USE  |  AAROGYA DRISHTI · AAROHAN 2026</a:t>
            </a:r>
            <a:endParaRPr lang="en-US" sz="1000" dirty="0"/>
          </a:p>
        </p:txBody>
      </p:sp>
      <p:sp>
        <p:nvSpPr>
          <p:cNvPr id="8" name="Text 5"/>
          <p:cNvSpPr txBox="1"/>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rPr>
              <a:t>3</a:t>
            </a:r>
            <a:endParaRPr lang="en-US" sz="1000" dirty="0"/>
          </a:p>
        </p:txBody>
      </p:sp>
      <p:sp>
        <p:nvSpPr>
          <p:cNvPr id="10" name="Shape 6"/>
          <p:cNvSpPr/>
          <p:nvPr/>
        </p:nvSpPr>
        <p:spPr>
          <a:xfrm>
            <a:off x="457200" y="1280160"/>
            <a:ext cx="3636264" cy="2103120"/>
          </a:xfrm>
          <a:prstGeom prst="roundRect">
            <a:avLst>
              <a:gd name="adj" fmla="val 2609"/>
            </a:avLst>
          </a:prstGeom>
          <a:solidFill>
            <a:srgbClr val="EEF5F3"/>
          </a:solidFill>
          <a:ln w="12700">
            <a:solidFill>
              <a:srgbClr val="0F766E"/>
            </a:solidFill>
            <a:prstDash val="solid"/>
          </a:ln>
        </p:spPr>
      </p:sp>
      <p:sp>
        <p:nvSpPr>
          <p:cNvPr id="11" name="Shape 7"/>
          <p:cNvSpPr/>
          <p:nvPr/>
        </p:nvSpPr>
        <p:spPr>
          <a:xfrm>
            <a:off x="3544824" y="1371600"/>
            <a:ext cx="457200" cy="457200"/>
          </a:xfrm>
          <a:prstGeom prst="ellipse">
            <a:avLst/>
          </a:prstGeom>
          <a:solidFill>
            <a:srgbClr val="0F766E"/>
          </a:solidFill>
          <a:ln/>
        </p:spPr>
      </p:sp>
      <p:pic>
        <p:nvPicPr>
          <p:cNvPr id="12" name="Image 1" descr="preencoded.png">    </p:cNvPr>
          <p:cNvPicPr>
            <a:picLocks noChangeAspect="1"/>
          </p:cNvPicPr>
          <p:nvPr/>
        </p:nvPicPr>
        <p:blipFill>
          <a:blip r:embed="rId2"/>
          <a:stretch>
            <a:fillRect/>
          </a:stretch>
        </p:blipFill>
        <p:spPr>
          <a:xfrm>
            <a:off x="3636264" y="1463040"/>
            <a:ext cx="274320" cy="274320"/>
          </a:xfrm>
          <a:prstGeom prst="rect">
            <a:avLst/>
          </a:prstGeom>
        </p:spPr>
      </p:pic>
      <p:sp>
        <p:nvSpPr>
          <p:cNvPr id="13" name="Text 8"/>
          <p:cNvSpPr txBox="1"/>
          <p:nvPr/>
        </p:nvSpPr>
        <p:spPr>
          <a:xfrm>
            <a:off x="530352" y="1325880"/>
            <a:ext cx="2950464" cy="2011680"/>
          </a:xfrm>
          <a:prstGeom prst="rect">
            <a:avLst/>
          </a:prstGeom>
          <a:noFill/>
          <a:ln/>
        </p:spPr>
        <p:txBody>
          <a:bodyPr wrap="square" lIns="25400" tIns="25400" rIns="25400" bIns="25400" rtlCol="0" anchor="t"/>
          <a:lstStyle/>
          <a:p>
            <a:pPr indent="0" marL="0">
              <a:buNone/>
            </a:pPr>
            <a:r>
              <a:rPr lang="en-US" sz="1600" b="1" dirty="0">
                <a:solidFill>
                  <a:srgbClr val="0F766E"/>
                </a:solidFill>
              </a:rPr>
              <a:t>1 Digital registration</a:t>
            </a:r>
            <a:endParaRPr lang="en-US" sz="1600" dirty="0"/>
          </a:p>
          <a:p>
            <a:pPr indent="0" marL="0">
              <a:buNone/>
            </a:pPr>
            <a:r>
              <a:rPr lang="en-US" sz="1400" dirty="0">
                <a:solidFill>
                  <a:srgbClr val="1F2937"/>
                </a:solidFill>
              </a:rPr>
              <a:t>Patient registration and screening documentation.</a:t>
            </a:r>
            <a:endParaRPr lang="en-US" sz="1600" dirty="0"/>
          </a:p>
        </p:txBody>
      </p:sp>
      <p:sp>
        <p:nvSpPr>
          <p:cNvPr id="14" name="Shape 9"/>
          <p:cNvSpPr/>
          <p:nvPr/>
        </p:nvSpPr>
        <p:spPr>
          <a:xfrm>
            <a:off x="4276344" y="1280160"/>
            <a:ext cx="3636264" cy="2103120"/>
          </a:xfrm>
          <a:prstGeom prst="roundRect">
            <a:avLst>
              <a:gd name="adj" fmla="val 2609"/>
            </a:avLst>
          </a:prstGeom>
          <a:solidFill>
            <a:srgbClr val="EEF5F3"/>
          </a:solidFill>
          <a:ln w="12700">
            <a:solidFill>
              <a:srgbClr val="0F766E"/>
            </a:solidFill>
            <a:prstDash val="solid"/>
          </a:ln>
        </p:spPr>
      </p:sp>
      <p:sp>
        <p:nvSpPr>
          <p:cNvPr id="15" name="Shape 10"/>
          <p:cNvSpPr/>
          <p:nvPr/>
        </p:nvSpPr>
        <p:spPr>
          <a:xfrm>
            <a:off x="7363968" y="1371600"/>
            <a:ext cx="457200" cy="457200"/>
          </a:xfrm>
          <a:prstGeom prst="ellipse">
            <a:avLst/>
          </a:prstGeom>
          <a:solidFill>
            <a:srgbClr val="0F766E"/>
          </a:solidFill>
          <a:ln/>
        </p:spPr>
      </p:sp>
      <p:pic>
        <p:nvPicPr>
          <p:cNvPr id="16" name="Image 2" descr="preencoded.png">    </p:cNvPr>
          <p:cNvPicPr>
            <a:picLocks noChangeAspect="1"/>
          </p:cNvPicPr>
          <p:nvPr/>
        </p:nvPicPr>
        <p:blipFill>
          <a:blip r:embed="rId3"/>
          <a:stretch>
            <a:fillRect/>
          </a:stretch>
        </p:blipFill>
        <p:spPr>
          <a:xfrm>
            <a:off x="7455408" y="1463040"/>
            <a:ext cx="274320" cy="274320"/>
          </a:xfrm>
          <a:prstGeom prst="rect">
            <a:avLst/>
          </a:prstGeom>
        </p:spPr>
      </p:pic>
      <p:sp>
        <p:nvSpPr>
          <p:cNvPr id="17" name="Text 11"/>
          <p:cNvSpPr txBox="1"/>
          <p:nvPr/>
        </p:nvSpPr>
        <p:spPr>
          <a:xfrm>
            <a:off x="4349496" y="1325880"/>
            <a:ext cx="2950464" cy="2011680"/>
          </a:xfrm>
          <a:prstGeom prst="rect">
            <a:avLst/>
          </a:prstGeom>
          <a:noFill/>
          <a:ln/>
        </p:spPr>
        <p:txBody>
          <a:bodyPr wrap="square" lIns="25400" tIns="25400" rIns="25400" bIns="25400" rtlCol="0" anchor="t"/>
          <a:lstStyle/>
          <a:p>
            <a:pPr indent="0" marL="0">
              <a:buNone/>
            </a:pPr>
            <a:r>
              <a:rPr lang="en-US" sz="1600" b="1" dirty="0">
                <a:solidFill>
                  <a:srgbClr val="0F766E"/>
                </a:solidFill>
              </a:rPr>
              <a:t>2 Image quality + research AI</a:t>
            </a:r>
            <a:endParaRPr lang="en-US" sz="1600" dirty="0"/>
          </a:p>
          <a:p>
            <a:pPr indent="0" marL="0">
              <a:buNone/>
            </a:pPr>
            <a:r>
              <a:rPr lang="en-US" sz="1400" dirty="0">
                <a:solidFill>
                  <a:srgbClr val="1F2937"/>
                </a:solidFill>
              </a:rPr>
              <a:t>Quality checks and research-only AI analysis.</a:t>
            </a:r>
            <a:endParaRPr lang="en-US" sz="1600" dirty="0"/>
          </a:p>
        </p:txBody>
      </p:sp>
      <p:sp>
        <p:nvSpPr>
          <p:cNvPr id="18" name="Shape 12"/>
          <p:cNvSpPr/>
          <p:nvPr/>
        </p:nvSpPr>
        <p:spPr>
          <a:xfrm>
            <a:off x="8095488" y="1280160"/>
            <a:ext cx="3636264" cy="2103120"/>
          </a:xfrm>
          <a:prstGeom prst="roundRect">
            <a:avLst>
              <a:gd name="adj" fmla="val 2609"/>
            </a:avLst>
          </a:prstGeom>
          <a:solidFill>
            <a:srgbClr val="EEF5F3"/>
          </a:solidFill>
          <a:ln w="12700">
            <a:solidFill>
              <a:srgbClr val="0F766E"/>
            </a:solidFill>
            <a:prstDash val="solid"/>
          </a:ln>
        </p:spPr>
      </p:sp>
      <p:sp>
        <p:nvSpPr>
          <p:cNvPr id="19" name="Shape 13"/>
          <p:cNvSpPr/>
          <p:nvPr/>
        </p:nvSpPr>
        <p:spPr>
          <a:xfrm>
            <a:off x="11183112" y="1371600"/>
            <a:ext cx="457200" cy="457200"/>
          </a:xfrm>
          <a:prstGeom prst="ellipse">
            <a:avLst/>
          </a:prstGeom>
          <a:solidFill>
            <a:srgbClr val="0F766E"/>
          </a:solidFill>
          <a:ln/>
        </p:spPr>
      </p:sp>
      <p:pic>
        <p:nvPicPr>
          <p:cNvPr id="20" name="Image 3" descr="preencoded.png">    </p:cNvPr>
          <p:cNvPicPr>
            <a:picLocks noChangeAspect="1"/>
          </p:cNvPicPr>
          <p:nvPr/>
        </p:nvPicPr>
        <p:blipFill>
          <a:blip r:embed="rId4"/>
          <a:stretch>
            <a:fillRect/>
          </a:stretch>
        </p:blipFill>
        <p:spPr>
          <a:xfrm>
            <a:off x="11274552" y="1463040"/>
            <a:ext cx="274320" cy="274320"/>
          </a:xfrm>
          <a:prstGeom prst="rect">
            <a:avLst/>
          </a:prstGeom>
        </p:spPr>
      </p:pic>
      <p:sp>
        <p:nvSpPr>
          <p:cNvPr id="21" name="Text 14"/>
          <p:cNvSpPr txBox="1"/>
          <p:nvPr/>
        </p:nvSpPr>
        <p:spPr>
          <a:xfrm>
            <a:off x="8168640" y="1325880"/>
            <a:ext cx="2950464" cy="2011680"/>
          </a:xfrm>
          <a:prstGeom prst="rect">
            <a:avLst/>
          </a:prstGeom>
          <a:noFill/>
          <a:ln/>
        </p:spPr>
        <p:txBody>
          <a:bodyPr wrap="square" lIns="25400" tIns="25400" rIns="25400" bIns="25400" rtlCol="0" anchor="t"/>
          <a:lstStyle/>
          <a:p>
            <a:pPr indent="0" marL="0">
              <a:buNone/>
            </a:pPr>
            <a:r>
              <a:rPr lang="en-US" sz="1600" b="1" dirty="0">
                <a:solidFill>
                  <a:srgbClr val="0F766E"/>
                </a:solidFill>
              </a:rPr>
              <a:t>3 Connected clinicians</a:t>
            </a:r>
            <a:endParaRPr lang="en-US" sz="1600" dirty="0"/>
          </a:p>
          <a:p>
            <a:pPr indent="0" marL="0">
              <a:buNone/>
            </a:pPr>
            <a:r>
              <a:rPr lang="en-US" sz="1400" dirty="0">
                <a:solidFill>
                  <a:srgbClr val="1F2937"/>
                </a:solidFill>
              </a:rPr>
              <a:t>Health workers linked to Medical Officers and specialists.</a:t>
            </a:r>
            <a:endParaRPr lang="en-US" sz="1600" dirty="0"/>
          </a:p>
        </p:txBody>
      </p:sp>
      <p:sp>
        <p:nvSpPr>
          <p:cNvPr id="22" name="Shape 15"/>
          <p:cNvSpPr/>
          <p:nvPr/>
        </p:nvSpPr>
        <p:spPr>
          <a:xfrm>
            <a:off x="457200" y="3566160"/>
            <a:ext cx="3636264" cy="2103120"/>
          </a:xfrm>
          <a:prstGeom prst="roundRect">
            <a:avLst>
              <a:gd name="adj" fmla="val 2609"/>
            </a:avLst>
          </a:prstGeom>
          <a:solidFill>
            <a:srgbClr val="EEF5F3"/>
          </a:solidFill>
          <a:ln w="12700">
            <a:solidFill>
              <a:srgbClr val="0F766E"/>
            </a:solidFill>
            <a:prstDash val="solid"/>
          </a:ln>
        </p:spPr>
      </p:sp>
      <p:sp>
        <p:nvSpPr>
          <p:cNvPr id="23" name="Shape 16"/>
          <p:cNvSpPr/>
          <p:nvPr/>
        </p:nvSpPr>
        <p:spPr>
          <a:xfrm>
            <a:off x="3544824" y="3657600"/>
            <a:ext cx="457200" cy="457200"/>
          </a:xfrm>
          <a:prstGeom prst="ellipse">
            <a:avLst/>
          </a:prstGeom>
          <a:solidFill>
            <a:srgbClr val="0F766E"/>
          </a:solidFill>
          <a:ln/>
        </p:spPr>
      </p:sp>
      <p:pic>
        <p:nvPicPr>
          <p:cNvPr id="24" name="Image 4" descr="preencoded.png">    </p:cNvPr>
          <p:cNvPicPr>
            <a:picLocks noChangeAspect="1"/>
          </p:cNvPicPr>
          <p:nvPr/>
        </p:nvPicPr>
        <p:blipFill>
          <a:blip r:embed="rId5"/>
          <a:stretch>
            <a:fillRect/>
          </a:stretch>
        </p:blipFill>
        <p:spPr>
          <a:xfrm>
            <a:off x="3636264" y="3749040"/>
            <a:ext cx="274320" cy="274320"/>
          </a:xfrm>
          <a:prstGeom prst="rect">
            <a:avLst/>
          </a:prstGeom>
        </p:spPr>
      </p:pic>
      <p:sp>
        <p:nvSpPr>
          <p:cNvPr id="25" name="Text 17"/>
          <p:cNvSpPr txBox="1"/>
          <p:nvPr/>
        </p:nvSpPr>
        <p:spPr>
          <a:xfrm>
            <a:off x="530352" y="3611880"/>
            <a:ext cx="2950464" cy="2011680"/>
          </a:xfrm>
          <a:prstGeom prst="rect">
            <a:avLst/>
          </a:prstGeom>
          <a:noFill/>
          <a:ln/>
        </p:spPr>
        <p:txBody>
          <a:bodyPr wrap="square" lIns="25400" tIns="25400" rIns="25400" bIns="25400" rtlCol="0" anchor="t"/>
          <a:lstStyle/>
          <a:p>
            <a:pPr indent="0" marL="0">
              <a:buNone/>
            </a:pPr>
            <a:r>
              <a:rPr lang="en-US" sz="1600" b="1" dirty="0">
                <a:solidFill>
                  <a:srgbClr val="0F766E"/>
                </a:solidFill>
              </a:rPr>
              <a:t>4 Track the journey</a:t>
            </a:r>
            <a:endParaRPr lang="en-US" sz="1600" dirty="0"/>
          </a:p>
          <a:p>
            <a:pPr indent="0" marL="0">
              <a:buNone/>
            </a:pPr>
            <a:r>
              <a:rPr lang="en-US" sz="1400" dirty="0">
                <a:solidFill>
                  <a:srgbClr val="1F2937"/>
                </a:solidFill>
              </a:rPr>
              <a:t>Referrals, appointments, investigations and follow-up.</a:t>
            </a:r>
            <a:endParaRPr lang="en-US" sz="1600" dirty="0"/>
          </a:p>
        </p:txBody>
      </p:sp>
      <p:sp>
        <p:nvSpPr>
          <p:cNvPr id="26" name="Shape 18"/>
          <p:cNvSpPr/>
          <p:nvPr/>
        </p:nvSpPr>
        <p:spPr>
          <a:xfrm>
            <a:off x="4276344" y="3566160"/>
            <a:ext cx="3636264" cy="2103120"/>
          </a:xfrm>
          <a:prstGeom prst="roundRect">
            <a:avLst>
              <a:gd name="adj" fmla="val 2609"/>
            </a:avLst>
          </a:prstGeom>
          <a:solidFill>
            <a:srgbClr val="EEF5F3"/>
          </a:solidFill>
          <a:ln w="12700">
            <a:solidFill>
              <a:srgbClr val="0F766E"/>
            </a:solidFill>
            <a:prstDash val="solid"/>
          </a:ln>
        </p:spPr>
      </p:sp>
      <p:sp>
        <p:nvSpPr>
          <p:cNvPr id="27" name="Shape 19"/>
          <p:cNvSpPr/>
          <p:nvPr/>
        </p:nvSpPr>
        <p:spPr>
          <a:xfrm>
            <a:off x="7363968" y="3657600"/>
            <a:ext cx="457200" cy="457200"/>
          </a:xfrm>
          <a:prstGeom prst="ellipse">
            <a:avLst/>
          </a:prstGeom>
          <a:solidFill>
            <a:srgbClr val="0F766E"/>
          </a:solidFill>
          <a:ln/>
        </p:spPr>
      </p:sp>
      <p:pic>
        <p:nvPicPr>
          <p:cNvPr id="28" name="Image 5" descr="preencoded.png">    </p:cNvPr>
          <p:cNvPicPr>
            <a:picLocks noChangeAspect="1"/>
          </p:cNvPicPr>
          <p:nvPr/>
        </p:nvPicPr>
        <p:blipFill>
          <a:blip r:embed="rId6"/>
          <a:stretch>
            <a:fillRect/>
          </a:stretch>
        </p:blipFill>
        <p:spPr>
          <a:xfrm>
            <a:off x="7455408" y="3749040"/>
            <a:ext cx="274320" cy="274320"/>
          </a:xfrm>
          <a:prstGeom prst="rect">
            <a:avLst/>
          </a:prstGeom>
        </p:spPr>
      </p:pic>
      <p:sp>
        <p:nvSpPr>
          <p:cNvPr id="29" name="Text 20"/>
          <p:cNvSpPr txBox="1"/>
          <p:nvPr/>
        </p:nvSpPr>
        <p:spPr>
          <a:xfrm>
            <a:off x="4349496" y="3611880"/>
            <a:ext cx="2950464" cy="2011680"/>
          </a:xfrm>
          <a:prstGeom prst="rect">
            <a:avLst/>
          </a:prstGeom>
          <a:noFill/>
          <a:ln/>
        </p:spPr>
        <p:txBody>
          <a:bodyPr wrap="square" lIns="25400" tIns="25400" rIns="25400" bIns="25400" rtlCol="0" anchor="t"/>
          <a:lstStyle/>
          <a:p>
            <a:pPr indent="0" marL="0">
              <a:buNone/>
            </a:pPr>
            <a:r>
              <a:rPr lang="en-US" sz="1600" b="1" dirty="0">
                <a:solidFill>
                  <a:srgbClr val="0F766E"/>
                </a:solidFill>
              </a:rPr>
              <a:t>5 Secure records</a:t>
            </a:r>
            <a:endParaRPr lang="en-US" sz="1600" dirty="0"/>
          </a:p>
          <a:p>
            <a:pPr indent="0" marL="0">
              <a:buNone/>
            </a:pPr>
            <a:r>
              <a:rPr lang="en-US" sz="1400" dirty="0">
                <a:solidFill>
                  <a:srgbClr val="1F2937"/>
                </a:solidFill>
              </a:rPr>
              <a:t>Protected records and district aggregate monitoring.</a:t>
            </a:r>
            <a:endParaRPr lang="en-US" sz="1600" dirty="0"/>
          </a:p>
        </p:txBody>
      </p:sp>
      <p:sp>
        <p:nvSpPr>
          <p:cNvPr id="30" name="Shape 21"/>
          <p:cNvSpPr/>
          <p:nvPr/>
        </p:nvSpPr>
        <p:spPr>
          <a:xfrm>
            <a:off x="8095488" y="3566160"/>
            <a:ext cx="3636264" cy="2103120"/>
          </a:xfrm>
          <a:prstGeom prst="roundRect">
            <a:avLst>
              <a:gd name="adj" fmla="val 2609"/>
            </a:avLst>
          </a:prstGeom>
          <a:solidFill>
            <a:srgbClr val="EEF5F3"/>
          </a:solidFill>
          <a:ln w="12700">
            <a:solidFill>
              <a:srgbClr val="0F766E"/>
            </a:solidFill>
            <a:prstDash val="solid"/>
          </a:ln>
        </p:spPr>
      </p:sp>
      <p:sp>
        <p:nvSpPr>
          <p:cNvPr id="31" name="Shape 22"/>
          <p:cNvSpPr/>
          <p:nvPr/>
        </p:nvSpPr>
        <p:spPr>
          <a:xfrm>
            <a:off x="11183112" y="3657600"/>
            <a:ext cx="457200" cy="457200"/>
          </a:xfrm>
          <a:prstGeom prst="ellipse">
            <a:avLst/>
          </a:prstGeom>
          <a:solidFill>
            <a:srgbClr val="0F766E"/>
          </a:solidFill>
          <a:ln/>
        </p:spPr>
      </p:sp>
      <p:pic>
        <p:nvPicPr>
          <p:cNvPr id="32" name="Image 6" descr="preencoded.png">    </p:cNvPr>
          <p:cNvPicPr>
            <a:picLocks noChangeAspect="1"/>
          </p:cNvPicPr>
          <p:nvPr/>
        </p:nvPicPr>
        <p:blipFill>
          <a:blip r:embed="rId7"/>
          <a:stretch>
            <a:fillRect/>
          </a:stretch>
        </p:blipFill>
        <p:spPr>
          <a:xfrm>
            <a:off x="11274552" y="3749040"/>
            <a:ext cx="274320" cy="274320"/>
          </a:xfrm>
          <a:prstGeom prst="rect">
            <a:avLst/>
          </a:prstGeom>
        </p:spPr>
      </p:pic>
      <p:sp>
        <p:nvSpPr>
          <p:cNvPr id="33" name="Text 23"/>
          <p:cNvSpPr txBox="1"/>
          <p:nvPr/>
        </p:nvSpPr>
        <p:spPr>
          <a:xfrm>
            <a:off x="8168640" y="3611880"/>
            <a:ext cx="2950464" cy="2011680"/>
          </a:xfrm>
          <a:prstGeom prst="rect">
            <a:avLst/>
          </a:prstGeom>
          <a:noFill/>
          <a:ln/>
        </p:spPr>
        <p:txBody>
          <a:bodyPr wrap="square" lIns="25400" tIns="25400" rIns="25400" bIns="25400" rtlCol="0" anchor="t"/>
          <a:lstStyle/>
          <a:p>
            <a:pPr indent="0" marL="0">
              <a:buNone/>
            </a:pPr>
            <a:r>
              <a:rPr lang="en-US" sz="1600" b="1" dirty="0">
                <a:solidFill>
                  <a:srgbClr val="0F766E"/>
                </a:solidFill>
              </a:rPr>
              <a:t>6 Telugu + low connectivity</a:t>
            </a:r>
            <a:endParaRPr lang="en-US" sz="1600" dirty="0"/>
          </a:p>
          <a:p>
            <a:pPr indent="0" marL="0">
              <a:buNone/>
            </a:pPr>
            <a:r>
              <a:rPr lang="en-US" sz="1400" dirty="0">
                <a:solidFill>
                  <a:srgbClr val="1F2937"/>
                </a:solidFill>
              </a:rPr>
              <a:t>Telugu/English UI and offline workflows.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F766E"/>
          </a:solidFill>
          <a:ln/>
        </p:spPr>
      </p:sp>
      <p:sp>
        <p:nvSpPr>
          <p:cNvPr id="3" name="Text 1"/>
          <p:cNvSpPr txBox="1"/>
          <p:nvPr/>
        </p:nvSpPr>
        <p:spPr>
          <a:xfrm>
            <a:off x="457200" y="228600"/>
            <a:ext cx="10424160" cy="640080"/>
          </a:xfrm>
          <a:prstGeom prst="rect">
            <a:avLst/>
          </a:prstGeom>
          <a:noFill/>
          <a:ln/>
        </p:spPr>
        <p:txBody>
          <a:bodyPr wrap="square" lIns="0" tIns="0" rIns="0" bIns="0" rtlCol="0" anchor="ctr"/>
          <a:lstStyle/>
          <a:p>
            <a:pPr indent="0" marL="0">
              <a:buNone/>
            </a:pPr>
            <a:r>
              <a:rPr lang="en-US" sz="3000" b="1" dirty="0">
                <a:solidFill>
                  <a:srgbClr val="12305A"/>
                </a:solidFill>
              </a:rPr>
              <a:t>Proposed Solution: Before vs After</a:t>
            </a:r>
            <a:endParaRPr lang="en-US" sz="3000" dirty="0"/>
          </a:p>
        </p:txBody>
      </p:sp>
      <p:sp>
        <p:nvSpPr>
          <p:cNvPr id="4" name="Shape 2"/>
          <p:cNvSpPr/>
          <p:nvPr/>
        </p:nvSpPr>
        <p:spPr>
          <a:xfrm>
            <a:off x="11064240" y="201168"/>
            <a:ext cx="658368" cy="658368"/>
          </a:xfrm>
          <a:prstGeom prst="ellipse">
            <a:avLst/>
          </a:prstGeom>
          <a:solidFill>
            <a:srgbClr val="0F766E"/>
          </a:solidFill>
          <a:ln/>
        </p:spPr>
      </p:sp>
      <p:pic>
        <p:nvPicPr>
          <p:cNvPr id="5" name="Image 0" descr="preencoded.png">    </p:cNvPr>
          <p:cNvPicPr>
            <a:picLocks noChangeAspect="1"/>
          </p:cNvPicPr>
          <p:nvPr/>
        </p:nvPicPr>
        <p:blipFill>
          <a:blip r:embed="rId1"/>
          <a:stretch>
            <a:fillRect/>
          </a:stretch>
        </p:blipFill>
        <p:spPr>
          <a:xfrm>
            <a:off x="11210544" y="347472"/>
            <a:ext cx="365760" cy="365760"/>
          </a:xfrm>
          <a:prstGeom prst="rect">
            <a:avLst/>
          </a:prstGeom>
        </p:spPr>
      </p:pic>
      <p:sp>
        <p:nvSpPr>
          <p:cNvPr id="6" name="Shape 3"/>
          <p:cNvSpPr/>
          <p:nvPr/>
        </p:nvSpPr>
        <p:spPr>
          <a:xfrm>
            <a:off x="457200" y="896112"/>
            <a:ext cx="1097280" cy="45720"/>
          </a:xfrm>
          <a:prstGeom prst="rect">
            <a:avLst/>
          </a:prstGeom>
          <a:solidFill>
            <a:srgbClr val="EA580C"/>
          </a:solidFill>
          <a:ln/>
        </p:spPr>
      </p:sp>
      <p:sp>
        <p:nvSpPr>
          <p:cNvPr id="7" name="Text 4"/>
          <p:cNvSpPr txBox="1"/>
          <p:nvPr/>
        </p:nvSpPr>
        <p:spPr>
          <a:xfrm>
            <a:off x="457200" y="6473952"/>
            <a:ext cx="10058400" cy="274320"/>
          </a:xfrm>
          <a:prstGeom prst="rect">
            <a:avLst/>
          </a:prstGeom>
          <a:noFill/>
          <a:ln/>
        </p:spPr>
        <p:txBody>
          <a:bodyPr wrap="square" lIns="0" tIns="0" rIns="0" bIns="0" rtlCol="0" anchor="ctr"/>
          <a:lstStyle/>
          <a:p>
            <a:pPr indent="0" marL="0">
              <a:buNone/>
            </a:pPr>
            <a:r>
              <a:rPr lang="en-US" sz="1000" dirty="0">
                <a:solidFill>
                  <a:srgbClr val="6B7280"/>
                </a:solidFill>
              </a:rPr>
              <a:t>Hackathon demonstration only — NOT FOR CLINICAL USE  |  AAROGYA DRISHTI · AAROHAN 2026</a:t>
            </a:r>
            <a:endParaRPr lang="en-US" sz="1000" dirty="0"/>
          </a:p>
        </p:txBody>
      </p:sp>
      <p:sp>
        <p:nvSpPr>
          <p:cNvPr id="8" name="Text 5"/>
          <p:cNvSpPr txBox="1"/>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rPr>
              <a:t>4</a:t>
            </a:r>
            <a:endParaRPr lang="en-US" sz="1000" dirty="0"/>
          </a:p>
        </p:txBody>
      </p:sp>
      <p:sp>
        <p:nvSpPr>
          <p:cNvPr id="10" name="Text 6"/>
          <p:cNvSpPr txBox="1"/>
          <p:nvPr/>
        </p:nvSpPr>
        <p:spPr>
          <a:xfrm>
            <a:off x="457200" y="1097280"/>
            <a:ext cx="5212080" cy="365760"/>
          </a:xfrm>
          <a:prstGeom prst="rect">
            <a:avLst/>
          </a:prstGeom>
          <a:noFill/>
          <a:ln/>
        </p:spPr>
        <p:txBody>
          <a:bodyPr wrap="square" lIns="25400" tIns="25400" rIns="25400" bIns="25400" rtlCol="0" anchor="t"/>
          <a:lstStyle/>
          <a:p>
            <a:pPr indent="0" marL="0">
              <a:buNone/>
            </a:pPr>
            <a:r>
              <a:rPr lang="en-US" sz="1600" b="1" dirty="0">
                <a:solidFill>
                  <a:srgbClr val="EA580C"/>
                </a:solidFill>
              </a:rPr>
              <a:t>BEFORE: disconnected</a:t>
            </a:r>
            <a:endParaRPr lang="en-US" sz="1600" dirty="0"/>
          </a:p>
        </p:txBody>
      </p:sp>
      <p:sp>
        <p:nvSpPr>
          <p:cNvPr id="11" name="Shape 7"/>
          <p:cNvSpPr/>
          <p:nvPr/>
        </p:nvSpPr>
        <p:spPr>
          <a:xfrm>
            <a:off x="457200" y="1554480"/>
            <a:ext cx="5212080" cy="731520"/>
          </a:xfrm>
          <a:prstGeom prst="roundRect">
            <a:avLst>
              <a:gd name="adj" fmla="val 7500"/>
            </a:avLst>
          </a:prstGeom>
          <a:solidFill>
            <a:srgbClr val="FFF1E6"/>
          </a:solidFill>
          <a:ln w="12700">
            <a:solidFill>
              <a:srgbClr val="EA580C"/>
            </a:solidFill>
            <a:prstDash val="solid"/>
          </a:ln>
        </p:spPr>
      </p:sp>
      <p:sp>
        <p:nvSpPr>
          <p:cNvPr id="12" name="Text 8"/>
          <p:cNvSpPr txBox="1"/>
          <p:nvPr/>
        </p:nvSpPr>
        <p:spPr>
          <a:xfrm>
            <a:off x="548640" y="1554480"/>
            <a:ext cx="5029200" cy="731520"/>
          </a:xfrm>
          <a:prstGeom prst="rect">
            <a:avLst/>
          </a:prstGeom>
          <a:noFill/>
          <a:ln/>
        </p:spPr>
        <p:txBody>
          <a:bodyPr wrap="square" lIns="25400" tIns="25400" rIns="25400" bIns="25400" rtlCol="0" anchor="ctr"/>
          <a:lstStyle/>
          <a:p>
            <a:pPr indent="0" marL="0">
              <a:buNone/>
            </a:pPr>
            <a:r>
              <a:rPr lang="en-US" sz="1400" dirty="0">
                <a:solidFill>
                  <a:srgbClr val="1F2937"/>
                </a:solidFill>
              </a:rPr>
              <a:t>Paper notes, no standard photos</a:t>
            </a:r>
            <a:endParaRPr lang="en-US" sz="1400" dirty="0"/>
          </a:p>
        </p:txBody>
      </p:sp>
      <p:sp>
        <p:nvSpPr>
          <p:cNvPr id="13" name="Shape 9"/>
          <p:cNvSpPr/>
          <p:nvPr/>
        </p:nvSpPr>
        <p:spPr>
          <a:xfrm>
            <a:off x="457200" y="2560320"/>
            <a:ext cx="5212080" cy="731520"/>
          </a:xfrm>
          <a:prstGeom prst="roundRect">
            <a:avLst>
              <a:gd name="adj" fmla="val 7500"/>
            </a:avLst>
          </a:prstGeom>
          <a:solidFill>
            <a:srgbClr val="FFF1E6"/>
          </a:solidFill>
          <a:ln w="12700">
            <a:solidFill>
              <a:srgbClr val="EA580C"/>
            </a:solidFill>
            <a:prstDash val="solid"/>
          </a:ln>
        </p:spPr>
      </p:sp>
      <p:sp>
        <p:nvSpPr>
          <p:cNvPr id="14" name="Text 10"/>
          <p:cNvSpPr txBox="1"/>
          <p:nvPr/>
        </p:nvSpPr>
        <p:spPr>
          <a:xfrm>
            <a:off x="548640" y="2560320"/>
            <a:ext cx="5029200" cy="731520"/>
          </a:xfrm>
          <a:prstGeom prst="rect">
            <a:avLst/>
          </a:prstGeom>
          <a:noFill/>
          <a:ln/>
        </p:spPr>
        <p:txBody>
          <a:bodyPr wrap="square" lIns="25400" tIns="25400" rIns="25400" bIns="25400" rtlCol="0" anchor="ctr"/>
          <a:lstStyle/>
          <a:p>
            <a:pPr indent="0" marL="0">
              <a:buNone/>
            </a:pPr>
            <a:r>
              <a:rPr lang="en-US" sz="1400" dirty="0">
                <a:solidFill>
                  <a:srgbClr val="1F2937"/>
                </a:solidFill>
              </a:rPr>
              <a:t>Referral by phone, no tracking</a:t>
            </a:r>
            <a:endParaRPr lang="en-US" sz="1400" dirty="0"/>
          </a:p>
        </p:txBody>
      </p:sp>
      <p:sp>
        <p:nvSpPr>
          <p:cNvPr id="15" name="Shape 11"/>
          <p:cNvSpPr/>
          <p:nvPr/>
        </p:nvSpPr>
        <p:spPr>
          <a:xfrm>
            <a:off x="457200" y="3566160"/>
            <a:ext cx="5212080" cy="731520"/>
          </a:xfrm>
          <a:prstGeom prst="roundRect">
            <a:avLst>
              <a:gd name="adj" fmla="val 7500"/>
            </a:avLst>
          </a:prstGeom>
          <a:solidFill>
            <a:srgbClr val="FFF1E6"/>
          </a:solidFill>
          <a:ln w="12700">
            <a:solidFill>
              <a:srgbClr val="EA580C"/>
            </a:solidFill>
            <a:prstDash val="solid"/>
          </a:ln>
        </p:spPr>
      </p:sp>
      <p:sp>
        <p:nvSpPr>
          <p:cNvPr id="16" name="Text 12"/>
          <p:cNvSpPr txBox="1"/>
          <p:nvPr/>
        </p:nvSpPr>
        <p:spPr>
          <a:xfrm>
            <a:off x="548640" y="3566160"/>
            <a:ext cx="5029200" cy="731520"/>
          </a:xfrm>
          <a:prstGeom prst="rect">
            <a:avLst/>
          </a:prstGeom>
          <a:noFill/>
          <a:ln/>
        </p:spPr>
        <p:txBody>
          <a:bodyPr wrap="square" lIns="25400" tIns="25400" rIns="25400" bIns="25400" rtlCol="0" anchor="ctr"/>
          <a:lstStyle/>
          <a:p>
            <a:pPr indent="0" marL="0">
              <a:buNone/>
            </a:pPr>
            <a:r>
              <a:rPr lang="en-US" sz="1400" dirty="0">
                <a:solidFill>
                  <a:srgbClr val="1F2937"/>
                </a:solidFill>
              </a:rPr>
              <a:t>No view of attendance</a:t>
            </a:r>
            <a:endParaRPr lang="en-US" sz="1400" dirty="0"/>
          </a:p>
        </p:txBody>
      </p:sp>
      <p:sp>
        <p:nvSpPr>
          <p:cNvPr id="17" name="Shape 13"/>
          <p:cNvSpPr/>
          <p:nvPr/>
        </p:nvSpPr>
        <p:spPr>
          <a:xfrm>
            <a:off x="457200" y="4572000"/>
            <a:ext cx="5212080" cy="731520"/>
          </a:xfrm>
          <a:prstGeom prst="roundRect">
            <a:avLst>
              <a:gd name="adj" fmla="val 7500"/>
            </a:avLst>
          </a:prstGeom>
          <a:solidFill>
            <a:srgbClr val="FFF1E6"/>
          </a:solidFill>
          <a:ln w="12700">
            <a:solidFill>
              <a:srgbClr val="EA580C"/>
            </a:solidFill>
            <a:prstDash val="solid"/>
          </a:ln>
        </p:spPr>
      </p:sp>
      <p:sp>
        <p:nvSpPr>
          <p:cNvPr id="18" name="Text 14"/>
          <p:cNvSpPr txBox="1"/>
          <p:nvPr/>
        </p:nvSpPr>
        <p:spPr>
          <a:xfrm>
            <a:off x="548640" y="4572000"/>
            <a:ext cx="5029200" cy="731520"/>
          </a:xfrm>
          <a:prstGeom prst="rect">
            <a:avLst/>
          </a:prstGeom>
          <a:noFill/>
          <a:ln/>
        </p:spPr>
        <p:txBody>
          <a:bodyPr wrap="square" lIns="25400" tIns="25400" rIns="25400" bIns="25400" rtlCol="0" anchor="ctr"/>
          <a:lstStyle/>
          <a:p>
            <a:pPr indent="0" marL="0">
              <a:buNone/>
            </a:pPr>
            <a:r>
              <a:rPr lang="en-US" sz="1400" dirty="0">
                <a:solidFill>
                  <a:srgbClr val="1F2937"/>
                </a:solidFill>
              </a:rPr>
              <a:t>Patient lost to follow-up</a:t>
            </a:r>
            <a:endParaRPr lang="en-US" sz="1400" dirty="0"/>
          </a:p>
        </p:txBody>
      </p:sp>
      <p:sp>
        <p:nvSpPr>
          <p:cNvPr id="19" name="Text 15"/>
          <p:cNvSpPr txBox="1"/>
          <p:nvPr/>
        </p:nvSpPr>
        <p:spPr>
          <a:xfrm>
            <a:off x="6492240" y="1097280"/>
            <a:ext cx="5212080" cy="365760"/>
          </a:xfrm>
          <a:prstGeom prst="rect">
            <a:avLst/>
          </a:prstGeom>
          <a:noFill/>
          <a:ln/>
        </p:spPr>
        <p:txBody>
          <a:bodyPr wrap="square" lIns="25400" tIns="25400" rIns="25400" bIns="25400" rtlCol="0" anchor="t"/>
          <a:lstStyle/>
          <a:p>
            <a:pPr indent="0" marL="0">
              <a:buNone/>
            </a:pPr>
            <a:r>
              <a:rPr lang="en-US" sz="1600" b="1" dirty="0">
                <a:solidFill>
                  <a:srgbClr val="0F766E"/>
                </a:solidFill>
              </a:rPr>
              <a:t>AFTER: one connected platform</a:t>
            </a:r>
            <a:endParaRPr lang="en-US" sz="1600" dirty="0"/>
          </a:p>
        </p:txBody>
      </p:sp>
      <p:sp>
        <p:nvSpPr>
          <p:cNvPr id="20" name="Shape 16"/>
          <p:cNvSpPr/>
          <p:nvPr/>
        </p:nvSpPr>
        <p:spPr>
          <a:xfrm>
            <a:off x="6492240" y="1554480"/>
            <a:ext cx="5212080" cy="502920"/>
          </a:xfrm>
          <a:prstGeom prst="roundRect">
            <a:avLst>
              <a:gd name="adj" fmla="val 10909"/>
            </a:avLst>
          </a:prstGeom>
          <a:solidFill>
            <a:srgbClr val="0F766E"/>
          </a:solidFill>
          <a:ln/>
        </p:spPr>
      </p:sp>
      <p:sp>
        <p:nvSpPr>
          <p:cNvPr id="21" name="Text 17"/>
          <p:cNvSpPr txBox="1"/>
          <p:nvPr/>
        </p:nvSpPr>
        <p:spPr>
          <a:xfrm>
            <a:off x="6492240" y="1554480"/>
            <a:ext cx="5212080" cy="502920"/>
          </a:xfrm>
          <a:prstGeom prst="rect">
            <a:avLst/>
          </a:prstGeom>
          <a:noFill/>
          <a:ln/>
        </p:spPr>
        <p:txBody>
          <a:bodyPr wrap="square" lIns="25400" tIns="25400" rIns="25400" bIns="25400" rtlCol="0" anchor="ctr"/>
          <a:lstStyle/>
          <a:p>
            <a:pPr algn="ctr" indent="0" marL="0">
              <a:buNone/>
            </a:pPr>
            <a:r>
              <a:rPr lang="en-US" sz="1300" b="1" dirty="0">
                <a:solidFill>
                  <a:srgbClr val="FFFFFF"/>
                </a:solidFill>
              </a:rPr>
              <a:t>Patient Registration + Consent</a:t>
            </a:r>
            <a:endParaRPr lang="en-US" sz="1300" dirty="0"/>
          </a:p>
        </p:txBody>
      </p:sp>
      <p:sp>
        <p:nvSpPr>
          <p:cNvPr id="22" name="Text 18"/>
          <p:cNvSpPr txBox="1"/>
          <p:nvPr/>
        </p:nvSpPr>
        <p:spPr>
          <a:xfrm>
            <a:off x="8686800" y="2011680"/>
            <a:ext cx="822960" cy="274320"/>
          </a:xfrm>
          <a:prstGeom prst="rect">
            <a:avLst/>
          </a:prstGeom>
          <a:noFill/>
          <a:ln/>
        </p:spPr>
        <p:txBody>
          <a:bodyPr wrap="square" lIns="0" tIns="0" rIns="0" bIns="0" rtlCol="0" anchor="ctr"/>
          <a:lstStyle/>
          <a:p>
            <a:pPr algn="ctr" indent="0" marL="0">
              <a:buNone/>
            </a:pPr>
            <a:r>
              <a:rPr lang="en-US" sz="1400" b="1" dirty="0">
                <a:solidFill>
                  <a:srgbClr val="12305A"/>
                </a:solidFill>
              </a:rPr>
              <a:t>↓</a:t>
            </a:r>
            <a:endParaRPr lang="en-US" sz="1400" dirty="0"/>
          </a:p>
        </p:txBody>
      </p:sp>
      <p:sp>
        <p:nvSpPr>
          <p:cNvPr id="23" name="Shape 19"/>
          <p:cNvSpPr/>
          <p:nvPr/>
        </p:nvSpPr>
        <p:spPr>
          <a:xfrm>
            <a:off x="6492240" y="2267712"/>
            <a:ext cx="5212080" cy="502920"/>
          </a:xfrm>
          <a:prstGeom prst="roundRect">
            <a:avLst>
              <a:gd name="adj" fmla="val 10909"/>
            </a:avLst>
          </a:prstGeom>
          <a:solidFill>
            <a:srgbClr val="0F766E"/>
          </a:solidFill>
          <a:ln/>
        </p:spPr>
      </p:sp>
      <p:sp>
        <p:nvSpPr>
          <p:cNvPr id="24" name="Text 20"/>
          <p:cNvSpPr txBox="1"/>
          <p:nvPr/>
        </p:nvSpPr>
        <p:spPr>
          <a:xfrm>
            <a:off x="6492240" y="2267712"/>
            <a:ext cx="5212080" cy="502920"/>
          </a:xfrm>
          <a:prstGeom prst="rect">
            <a:avLst/>
          </a:prstGeom>
          <a:noFill/>
          <a:ln/>
        </p:spPr>
        <p:txBody>
          <a:bodyPr wrap="square" lIns="25400" tIns="25400" rIns="25400" bIns="25400" rtlCol="0" anchor="ctr"/>
          <a:lstStyle/>
          <a:p>
            <a:pPr algn="ctr" indent="0" marL="0">
              <a:buNone/>
            </a:pPr>
            <a:r>
              <a:rPr lang="en-US" sz="1300" b="1" dirty="0">
                <a:solidFill>
                  <a:srgbClr val="FFFFFF"/>
                </a:solidFill>
              </a:rPr>
              <a:t>Screening + Photos (Health Worker)</a:t>
            </a:r>
            <a:endParaRPr lang="en-US" sz="1300" dirty="0"/>
          </a:p>
        </p:txBody>
      </p:sp>
      <p:sp>
        <p:nvSpPr>
          <p:cNvPr id="25" name="Text 21"/>
          <p:cNvSpPr txBox="1"/>
          <p:nvPr/>
        </p:nvSpPr>
        <p:spPr>
          <a:xfrm>
            <a:off x="8686800" y="2724912"/>
            <a:ext cx="822960" cy="274320"/>
          </a:xfrm>
          <a:prstGeom prst="rect">
            <a:avLst/>
          </a:prstGeom>
          <a:noFill/>
          <a:ln/>
        </p:spPr>
        <p:txBody>
          <a:bodyPr wrap="square" lIns="0" tIns="0" rIns="0" bIns="0" rtlCol="0" anchor="ctr"/>
          <a:lstStyle/>
          <a:p>
            <a:pPr algn="ctr" indent="0" marL="0">
              <a:buNone/>
            </a:pPr>
            <a:r>
              <a:rPr lang="en-US" sz="1400" b="1" dirty="0">
                <a:solidFill>
                  <a:srgbClr val="12305A"/>
                </a:solidFill>
              </a:rPr>
              <a:t>↓</a:t>
            </a:r>
            <a:endParaRPr lang="en-US" sz="1400" dirty="0"/>
          </a:p>
        </p:txBody>
      </p:sp>
      <p:sp>
        <p:nvSpPr>
          <p:cNvPr id="26" name="Shape 22"/>
          <p:cNvSpPr/>
          <p:nvPr/>
        </p:nvSpPr>
        <p:spPr>
          <a:xfrm>
            <a:off x="6492240" y="2980944"/>
            <a:ext cx="5212080" cy="502920"/>
          </a:xfrm>
          <a:prstGeom prst="roundRect">
            <a:avLst>
              <a:gd name="adj" fmla="val 10909"/>
            </a:avLst>
          </a:prstGeom>
          <a:solidFill>
            <a:srgbClr val="EA580C"/>
          </a:solidFill>
          <a:ln/>
        </p:spPr>
      </p:sp>
      <p:sp>
        <p:nvSpPr>
          <p:cNvPr id="27" name="Text 23"/>
          <p:cNvSpPr txBox="1"/>
          <p:nvPr/>
        </p:nvSpPr>
        <p:spPr>
          <a:xfrm>
            <a:off x="6492240" y="2980944"/>
            <a:ext cx="5212080" cy="502920"/>
          </a:xfrm>
          <a:prstGeom prst="rect">
            <a:avLst/>
          </a:prstGeom>
          <a:noFill/>
          <a:ln/>
        </p:spPr>
        <p:txBody>
          <a:bodyPr wrap="square" lIns="25400" tIns="25400" rIns="25400" bIns="25400" rtlCol="0" anchor="ctr"/>
          <a:lstStyle/>
          <a:p>
            <a:pPr algn="ctr" indent="0" marL="0">
              <a:buNone/>
            </a:pPr>
            <a:r>
              <a:rPr lang="en-US" sz="1300" b="1" dirty="0">
                <a:solidFill>
                  <a:srgbClr val="FFFFFF"/>
                </a:solidFill>
              </a:rPr>
              <a:t>AI-Assisted Review (advisory only)</a:t>
            </a:r>
            <a:endParaRPr lang="en-US" sz="1300" dirty="0"/>
          </a:p>
        </p:txBody>
      </p:sp>
      <p:sp>
        <p:nvSpPr>
          <p:cNvPr id="28" name="Text 24"/>
          <p:cNvSpPr txBox="1"/>
          <p:nvPr/>
        </p:nvSpPr>
        <p:spPr>
          <a:xfrm>
            <a:off x="8686800" y="3438144"/>
            <a:ext cx="822960" cy="274320"/>
          </a:xfrm>
          <a:prstGeom prst="rect">
            <a:avLst/>
          </a:prstGeom>
          <a:noFill/>
          <a:ln/>
        </p:spPr>
        <p:txBody>
          <a:bodyPr wrap="square" lIns="0" tIns="0" rIns="0" bIns="0" rtlCol="0" anchor="ctr"/>
          <a:lstStyle/>
          <a:p>
            <a:pPr algn="ctr" indent="0" marL="0">
              <a:buNone/>
            </a:pPr>
            <a:r>
              <a:rPr lang="en-US" sz="1400" b="1" dirty="0">
                <a:solidFill>
                  <a:srgbClr val="12305A"/>
                </a:solidFill>
              </a:rPr>
              <a:t>↓</a:t>
            </a:r>
            <a:endParaRPr lang="en-US" sz="1400" dirty="0"/>
          </a:p>
        </p:txBody>
      </p:sp>
      <p:sp>
        <p:nvSpPr>
          <p:cNvPr id="29" name="Shape 25"/>
          <p:cNvSpPr/>
          <p:nvPr/>
        </p:nvSpPr>
        <p:spPr>
          <a:xfrm>
            <a:off x="6492240" y="3694176"/>
            <a:ext cx="5212080" cy="502920"/>
          </a:xfrm>
          <a:prstGeom prst="roundRect">
            <a:avLst>
              <a:gd name="adj" fmla="val 10909"/>
            </a:avLst>
          </a:prstGeom>
          <a:solidFill>
            <a:srgbClr val="0F766E"/>
          </a:solidFill>
          <a:ln/>
        </p:spPr>
      </p:sp>
      <p:sp>
        <p:nvSpPr>
          <p:cNvPr id="30" name="Text 26"/>
          <p:cNvSpPr txBox="1"/>
          <p:nvPr/>
        </p:nvSpPr>
        <p:spPr>
          <a:xfrm>
            <a:off x="6492240" y="3694176"/>
            <a:ext cx="5212080" cy="502920"/>
          </a:xfrm>
          <a:prstGeom prst="rect">
            <a:avLst/>
          </a:prstGeom>
          <a:noFill/>
          <a:ln/>
        </p:spPr>
        <p:txBody>
          <a:bodyPr wrap="square" lIns="25400" tIns="25400" rIns="25400" bIns="25400" rtlCol="0" anchor="ctr"/>
          <a:lstStyle/>
          <a:p>
            <a:pPr algn="ctr" indent="0" marL="0">
              <a:buNone/>
            </a:pPr>
            <a:r>
              <a:rPr lang="en-US" sz="1300" b="1" dirty="0">
                <a:solidFill>
                  <a:srgbClr val="FFFFFF"/>
                </a:solidFill>
              </a:rPr>
              <a:t>Medical Officer Review</a:t>
            </a:r>
            <a:endParaRPr lang="en-US" sz="1300" dirty="0"/>
          </a:p>
        </p:txBody>
      </p:sp>
      <p:sp>
        <p:nvSpPr>
          <p:cNvPr id="31" name="Text 27"/>
          <p:cNvSpPr txBox="1"/>
          <p:nvPr/>
        </p:nvSpPr>
        <p:spPr>
          <a:xfrm>
            <a:off x="8686800" y="4151376"/>
            <a:ext cx="822960" cy="274320"/>
          </a:xfrm>
          <a:prstGeom prst="rect">
            <a:avLst/>
          </a:prstGeom>
          <a:noFill/>
          <a:ln/>
        </p:spPr>
        <p:txBody>
          <a:bodyPr wrap="square" lIns="0" tIns="0" rIns="0" bIns="0" rtlCol="0" anchor="ctr"/>
          <a:lstStyle/>
          <a:p>
            <a:pPr algn="ctr" indent="0" marL="0">
              <a:buNone/>
            </a:pPr>
            <a:r>
              <a:rPr lang="en-US" sz="1400" b="1" dirty="0">
                <a:solidFill>
                  <a:srgbClr val="12305A"/>
                </a:solidFill>
              </a:rPr>
              <a:t>↓</a:t>
            </a:r>
            <a:endParaRPr lang="en-US" sz="1400" dirty="0"/>
          </a:p>
        </p:txBody>
      </p:sp>
      <p:sp>
        <p:nvSpPr>
          <p:cNvPr id="32" name="Shape 28"/>
          <p:cNvSpPr/>
          <p:nvPr/>
        </p:nvSpPr>
        <p:spPr>
          <a:xfrm>
            <a:off x="6492240" y="4407408"/>
            <a:ext cx="5212080" cy="502920"/>
          </a:xfrm>
          <a:prstGeom prst="roundRect">
            <a:avLst>
              <a:gd name="adj" fmla="val 10909"/>
            </a:avLst>
          </a:prstGeom>
          <a:solidFill>
            <a:srgbClr val="0F766E"/>
          </a:solidFill>
          <a:ln/>
        </p:spPr>
      </p:sp>
      <p:sp>
        <p:nvSpPr>
          <p:cNvPr id="33" name="Text 29"/>
          <p:cNvSpPr txBox="1"/>
          <p:nvPr/>
        </p:nvSpPr>
        <p:spPr>
          <a:xfrm>
            <a:off x="6492240" y="4407408"/>
            <a:ext cx="5212080" cy="502920"/>
          </a:xfrm>
          <a:prstGeom prst="rect">
            <a:avLst/>
          </a:prstGeom>
          <a:noFill/>
          <a:ln/>
        </p:spPr>
        <p:txBody>
          <a:bodyPr wrap="square" lIns="25400" tIns="25400" rIns="25400" bIns="25400" rtlCol="0" anchor="ctr"/>
          <a:lstStyle/>
          <a:p>
            <a:pPr algn="ctr" indent="0" marL="0">
              <a:buNone/>
            </a:pPr>
            <a:r>
              <a:rPr lang="en-US" sz="1300" b="1" dirty="0">
                <a:solidFill>
                  <a:srgbClr val="FFFFFF"/>
                </a:solidFill>
              </a:rPr>
              <a:t>Specialist Consult + Diagnostics</a:t>
            </a:r>
            <a:endParaRPr lang="en-US" sz="1300" dirty="0"/>
          </a:p>
        </p:txBody>
      </p:sp>
      <p:sp>
        <p:nvSpPr>
          <p:cNvPr id="34" name="Text 30"/>
          <p:cNvSpPr txBox="1"/>
          <p:nvPr/>
        </p:nvSpPr>
        <p:spPr>
          <a:xfrm>
            <a:off x="8686800" y="4864608"/>
            <a:ext cx="822960" cy="274320"/>
          </a:xfrm>
          <a:prstGeom prst="rect">
            <a:avLst/>
          </a:prstGeom>
          <a:noFill/>
          <a:ln/>
        </p:spPr>
        <p:txBody>
          <a:bodyPr wrap="square" lIns="0" tIns="0" rIns="0" bIns="0" rtlCol="0" anchor="ctr"/>
          <a:lstStyle/>
          <a:p>
            <a:pPr algn="ctr" indent="0" marL="0">
              <a:buNone/>
            </a:pPr>
            <a:r>
              <a:rPr lang="en-US" sz="1400" b="1" dirty="0">
                <a:solidFill>
                  <a:srgbClr val="12305A"/>
                </a:solidFill>
              </a:rPr>
              <a:t>↓</a:t>
            </a:r>
            <a:endParaRPr lang="en-US" sz="1400" dirty="0"/>
          </a:p>
        </p:txBody>
      </p:sp>
      <p:sp>
        <p:nvSpPr>
          <p:cNvPr id="35" name="Shape 31"/>
          <p:cNvSpPr/>
          <p:nvPr/>
        </p:nvSpPr>
        <p:spPr>
          <a:xfrm>
            <a:off x="6492240" y="5120640"/>
            <a:ext cx="5212080" cy="502920"/>
          </a:xfrm>
          <a:prstGeom prst="roundRect">
            <a:avLst>
              <a:gd name="adj" fmla="val 10909"/>
            </a:avLst>
          </a:prstGeom>
          <a:solidFill>
            <a:srgbClr val="0F766E"/>
          </a:solidFill>
          <a:ln/>
        </p:spPr>
      </p:sp>
      <p:sp>
        <p:nvSpPr>
          <p:cNvPr id="36" name="Text 32"/>
          <p:cNvSpPr txBox="1"/>
          <p:nvPr/>
        </p:nvSpPr>
        <p:spPr>
          <a:xfrm>
            <a:off x="6492240" y="5120640"/>
            <a:ext cx="5212080" cy="502920"/>
          </a:xfrm>
          <a:prstGeom prst="rect">
            <a:avLst/>
          </a:prstGeom>
          <a:noFill/>
          <a:ln/>
        </p:spPr>
        <p:txBody>
          <a:bodyPr wrap="square" lIns="25400" tIns="25400" rIns="25400" bIns="25400" rtlCol="0" anchor="ctr"/>
          <a:lstStyle/>
          <a:p>
            <a:pPr algn="ctr" indent="0" marL="0">
              <a:buNone/>
            </a:pPr>
            <a:r>
              <a:rPr lang="en-US" sz="1300" b="1" dirty="0">
                <a:solidFill>
                  <a:srgbClr val="FFFFFF"/>
                </a:solidFill>
              </a:rPr>
              <a:t>Follow-up + District Dashboard</a:t>
            </a:r>
            <a:endParaRPr lang="en-US" sz="1300" dirty="0"/>
          </a:p>
        </p:txBody>
      </p:sp>
      <p:sp>
        <p:nvSpPr>
          <p:cNvPr id="37" name="Text 33"/>
          <p:cNvSpPr txBox="1"/>
          <p:nvPr/>
        </p:nvSpPr>
        <p:spPr>
          <a:xfrm>
            <a:off x="5806440" y="2926080"/>
            <a:ext cx="548640" cy="548640"/>
          </a:xfrm>
          <a:prstGeom prst="rect">
            <a:avLst/>
          </a:prstGeom>
          <a:noFill/>
          <a:ln/>
        </p:spPr>
        <p:txBody>
          <a:bodyPr wrap="square" lIns="0" tIns="0" rIns="0" bIns="0" rtlCol="0" anchor="ctr"/>
          <a:lstStyle/>
          <a:p>
            <a:pPr algn="ctr" indent="0" marL="0">
              <a:buNone/>
            </a:pPr>
            <a:r>
              <a:rPr lang="en-US" sz="3000" b="1" dirty="0">
                <a:solidFill>
                  <a:srgbClr val="EA580C"/>
                </a:solidFill>
              </a:rPr>
              <a:t>➜</a:t>
            </a:r>
            <a:endParaRPr lang="en-US" sz="3000" dirty="0"/>
          </a:p>
        </p:txBody>
      </p:sp>
      <p:sp>
        <p:nvSpPr>
          <p:cNvPr id="38" name="Shape 34"/>
          <p:cNvSpPr/>
          <p:nvPr/>
        </p:nvSpPr>
        <p:spPr>
          <a:xfrm>
            <a:off x="457200" y="5852160"/>
            <a:ext cx="11274552" cy="457200"/>
          </a:xfrm>
          <a:prstGeom prst="rect">
            <a:avLst/>
          </a:prstGeom>
          <a:solidFill>
            <a:srgbClr val="EA580C"/>
          </a:solidFill>
          <a:ln/>
        </p:spPr>
      </p:sp>
      <p:sp>
        <p:nvSpPr>
          <p:cNvPr id="39" name="Text 35"/>
          <p:cNvSpPr txBox="1"/>
          <p:nvPr/>
        </p:nvSpPr>
        <p:spPr>
          <a:xfrm>
            <a:off x="457200" y="5852160"/>
            <a:ext cx="11274552" cy="457200"/>
          </a:xfrm>
          <a:prstGeom prst="rect">
            <a:avLst/>
          </a:prstGeom>
          <a:noFill/>
          <a:ln/>
        </p:spPr>
        <p:txBody>
          <a:bodyPr wrap="square" lIns="25400" tIns="25400" rIns="25400" bIns="25400" rtlCol="0" anchor="ctr"/>
          <a:lstStyle/>
          <a:p>
            <a:pPr algn="ctr" indent="0" marL="0">
              <a:buNone/>
            </a:pPr>
            <a:r>
              <a:rPr lang="en-US" sz="1400" b="1" dirty="0">
                <a:solidFill>
                  <a:srgbClr val="FFFFFF"/>
                </a:solidFill>
              </a:rPr>
              <a:t>AI is advisory. Clinical decisions belong to qualified clinicians.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F766E"/>
          </a:solidFill>
          <a:ln/>
        </p:spPr>
      </p:sp>
      <p:sp>
        <p:nvSpPr>
          <p:cNvPr id="3" name="Text 1"/>
          <p:cNvSpPr txBox="1"/>
          <p:nvPr/>
        </p:nvSpPr>
        <p:spPr>
          <a:xfrm>
            <a:off x="457200" y="228600"/>
            <a:ext cx="10424160" cy="640080"/>
          </a:xfrm>
          <a:prstGeom prst="rect">
            <a:avLst/>
          </a:prstGeom>
          <a:noFill/>
          <a:ln/>
        </p:spPr>
        <p:txBody>
          <a:bodyPr wrap="square" lIns="0" tIns="0" rIns="0" bIns="0" rtlCol="0" anchor="ctr"/>
          <a:lstStyle/>
          <a:p>
            <a:pPr indent="0" marL="0">
              <a:buNone/>
            </a:pPr>
            <a:r>
              <a:rPr lang="en-US" sz="3000" b="1" dirty="0">
                <a:solidFill>
                  <a:srgbClr val="12305A"/>
                </a:solidFill>
              </a:rPr>
              <a:t>Users and Permissions</a:t>
            </a:r>
            <a:endParaRPr lang="en-US" sz="3000" dirty="0"/>
          </a:p>
        </p:txBody>
      </p:sp>
      <p:sp>
        <p:nvSpPr>
          <p:cNvPr id="4" name="Shape 2"/>
          <p:cNvSpPr/>
          <p:nvPr/>
        </p:nvSpPr>
        <p:spPr>
          <a:xfrm>
            <a:off x="11064240" y="201168"/>
            <a:ext cx="658368" cy="658368"/>
          </a:xfrm>
          <a:prstGeom prst="ellipse">
            <a:avLst/>
          </a:prstGeom>
          <a:solidFill>
            <a:srgbClr val="0F766E"/>
          </a:solidFill>
          <a:ln/>
        </p:spPr>
      </p:sp>
      <p:pic>
        <p:nvPicPr>
          <p:cNvPr id="5" name="Image 0" descr="preencoded.png">    </p:cNvPr>
          <p:cNvPicPr>
            <a:picLocks noChangeAspect="1"/>
          </p:cNvPicPr>
          <p:nvPr/>
        </p:nvPicPr>
        <p:blipFill>
          <a:blip r:embed="rId1"/>
          <a:stretch>
            <a:fillRect/>
          </a:stretch>
        </p:blipFill>
        <p:spPr>
          <a:xfrm>
            <a:off x="11210544" y="347472"/>
            <a:ext cx="365760" cy="365760"/>
          </a:xfrm>
          <a:prstGeom prst="rect">
            <a:avLst/>
          </a:prstGeom>
        </p:spPr>
      </p:pic>
      <p:sp>
        <p:nvSpPr>
          <p:cNvPr id="6" name="Shape 3"/>
          <p:cNvSpPr/>
          <p:nvPr/>
        </p:nvSpPr>
        <p:spPr>
          <a:xfrm>
            <a:off x="457200" y="896112"/>
            <a:ext cx="1097280" cy="45720"/>
          </a:xfrm>
          <a:prstGeom prst="rect">
            <a:avLst/>
          </a:prstGeom>
          <a:solidFill>
            <a:srgbClr val="EA580C"/>
          </a:solidFill>
          <a:ln/>
        </p:spPr>
      </p:sp>
      <p:sp>
        <p:nvSpPr>
          <p:cNvPr id="7" name="Text 4"/>
          <p:cNvSpPr txBox="1"/>
          <p:nvPr/>
        </p:nvSpPr>
        <p:spPr>
          <a:xfrm>
            <a:off x="457200" y="6473952"/>
            <a:ext cx="10058400" cy="274320"/>
          </a:xfrm>
          <a:prstGeom prst="rect">
            <a:avLst/>
          </a:prstGeom>
          <a:noFill/>
          <a:ln/>
        </p:spPr>
        <p:txBody>
          <a:bodyPr wrap="square" lIns="0" tIns="0" rIns="0" bIns="0" rtlCol="0" anchor="ctr"/>
          <a:lstStyle/>
          <a:p>
            <a:pPr indent="0" marL="0">
              <a:buNone/>
            </a:pPr>
            <a:r>
              <a:rPr lang="en-US" sz="1000" dirty="0">
                <a:solidFill>
                  <a:srgbClr val="6B7280"/>
                </a:solidFill>
              </a:rPr>
              <a:t>Hackathon demonstration only — NOT FOR CLINICAL USE  |  AAROGYA DRISHTI · AAROHAN 2026</a:t>
            </a:r>
            <a:endParaRPr lang="en-US" sz="1000" dirty="0"/>
          </a:p>
        </p:txBody>
      </p:sp>
      <p:sp>
        <p:nvSpPr>
          <p:cNvPr id="8" name="Text 5"/>
          <p:cNvSpPr txBox="1"/>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rPr>
              <a:t>5</a:t>
            </a:r>
            <a:endParaRPr lang="en-US" sz="1000" dirty="0"/>
          </a:p>
        </p:txBody>
      </p:sp>
      <p:sp>
        <p:nvSpPr>
          <p:cNvPr id="10" name="Shape 6"/>
          <p:cNvSpPr/>
          <p:nvPr/>
        </p:nvSpPr>
        <p:spPr>
          <a:xfrm>
            <a:off x="2194560" y="2651760"/>
            <a:ext cx="2167128" cy="731520"/>
          </a:xfrm>
          <a:prstGeom prst="line">
            <a:avLst/>
          </a:prstGeom>
          <a:noFill/>
          <a:ln w="25400">
            <a:solidFill>
              <a:srgbClr val="12305A"/>
            </a:solidFill>
            <a:prstDash val="solid"/>
          </a:ln>
        </p:spPr>
      </p:sp>
      <p:sp>
        <p:nvSpPr>
          <p:cNvPr id="11" name="Shape 7"/>
          <p:cNvSpPr/>
          <p:nvPr/>
        </p:nvSpPr>
        <p:spPr>
          <a:xfrm>
            <a:off x="6099048" y="2651760"/>
            <a:ext cx="0" cy="457200"/>
          </a:xfrm>
          <a:prstGeom prst="line">
            <a:avLst/>
          </a:prstGeom>
          <a:noFill/>
          <a:ln w="25400">
            <a:solidFill>
              <a:srgbClr val="12305A"/>
            </a:solidFill>
            <a:prstDash val="solid"/>
          </a:ln>
        </p:spPr>
      </p:sp>
      <p:sp>
        <p:nvSpPr>
          <p:cNvPr id="12" name="Shape 8"/>
          <p:cNvSpPr/>
          <p:nvPr/>
        </p:nvSpPr>
        <p:spPr>
          <a:xfrm flipV="1">
            <a:off x="7836408" y="2651760"/>
            <a:ext cx="2157984" cy="731520"/>
          </a:xfrm>
          <a:prstGeom prst="line">
            <a:avLst/>
          </a:prstGeom>
          <a:noFill/>
          <a:ln w="25400">
            <a:solidFill>
              <a:srgbClr val="12305A"/>
            </a:solidFill>
            <a:prstDash val="solid"/>
          </a:ln>
        </p:spPr>
      </p:sp>
      <p:sp>
        <p:nvSpPr>
          <p:cNvPr id="13" name="Shape 9"/>
          <p:cNvSpPr/>
          <p:nvPr/>
        </p:nvSpPr>
        <p:spPr>
          <a:xfrm flipV="1">
            <a:off x="4114800" y="4023360"/>
            <a:ext cx="914400" cy="457200"/>
          </a:xfrm>
          <a:prstGeom prst="line">
            <a:avLst/>
          </a:prstGeom>
          <a:noFill/>
          <a:ln w="25400">
            <a:solidFill>
              <a:srgbClr val="12305A"/>
            </a:solidFill>
            <a:prstDash val="solid"/>
          </a:ln>
        </p:spPr>
      </p:sp>
      <p:sp>
        <p:nvSpPr>
          <p:cNvPr id="14" name="Shape 10"/>
          <p:cNvSpPr/>
          <p:nvPr/>
        </p:nvSpPr>
        <p:spPr>
          <a:xfrm>
            <a:off x="7132320" y="4023360"/>
            <a:ext cx="914400" cy="457200"/>
          </a:xfrm>
          <a:prstGeom prst="line">
            <a:avLst/>
          </a:prstGeom>
          <a:noFill/>
          <a:ln w="25400">
            <a:solidFill>
              <a:srgbClr val="12305A"/>
            </a:solidFill>
            <a:prstDash val="solid"/>
          </a:ln>
        </p:spPr>
      </p:sp>
      <p:sp>
        <p:nvSpPr>
          <p:cNvPr id="15" name="Shape 11"/>
          <p:cNvSpPr/>
          <p:nvPr/>
        </p:nvSpPr>
        <p:spPr>
          <a:xfrm>
            <a:off x="4361688" y="3108960"/>
            <a:ext cx="3474720" cy="914400"/>
          </a:xfrm>
          <a:prstGeom prst="roundRect">
            <a:avLst>
              <a:gd name="adj" fmla="val 8000"/>
            </a:avLst>
          </a:prstGeom>
          <a:solidFill>
            <a:srgbClr val="12305A"/>
          </a:solidFill>
          <a:ln/>
        </p:spPr>
      </p:sp>
      <p:sp>
        <p:nvSpPr>
          <p:cNvPr id="16" name="Text 12"/>
          <p:cNvSpPr txBox="1"/>
          <p:nvPr/>
        </p:nvSpPr>
        <p:spPr>
          <a:xfrm>
            <a:off x="4361688" y="3108960"/>
            <a:ext cx="3474720" cy="914400"/>
          </a:xfrm>
          <a:prstGeom prst="rect">
            <a:avLst/>
          </a:prstGeom>
          <a:noFill/>
          <a:ln/>
        </p:spPr>
        <p:txBody>
          <a:bodyPr wrap="square" lIns="25400" tIns="25400" rIns="25400" bIns="25400" rtlCol="0" anchor="ctr"/>
          <a:lstStyle/>
          <a:p>
            <a:pPr algn="ctr" indent="0" marL="0">
              <a:buNone/>
            </a:pPr>
            <a:r>
              <a:rPr lang="en-US" sz="1300" b="1" dirty="0">
                <a:solidFill>
                  <a:srgbClr val="FFFFFF"/>
                </a:solidFill>
              </a:rPr>
              <a:t>Secured API: authentication + role + patient-level check</a:t>
            </a:r>
            <a:endParaRPr lang="en-US" sz="1300" dirty="0"/>
          </a:p>
        </p:txBody>
      </p:sp>
      <p:sp>
        <p:nvSpPr>
          <p:cNvPr id="17" name="Shape 13"/>
          <p:cNvSpPr/>
          <p:nvPr/>
        </p:nvSpPr>
        <p:spPr>
          <a:xfrm>
            <a:off x="457200" y="1188720"/>
            <a:ext cx="3474720" cy="1371600"/>
          </a:xfrm>
          <a:prstGeom prst="roundRect">
            <a:avLst>
              <a:gd name="adj" fmla="val 4000"/>
            </a:avLst>
          </a:prstGeom>
          <a:solidFill>
            <a:srgbClr val="EEF5F3"/>
          </a:solidFill>
          <a:ln w="19050">
            <a:solidFill>
              <a:srgbClr val="0F766E"/>
            </a:solidFill>
            <a:prstDash val="solid"/>
          </a:ln>
        </p:spPr>
      </p:sp>
      <p:sp>
        <p:nvSpPr>
          <p:cNvPr id="18" name="Text 14"/>
          <p:cNvSpPr txBox="1"/>
          <p:nvPr/>
        </p:nvSpPr>
        <p:spPr>
          <a:xfrm>
            <a:off x="548640" y="1234440"/>
            <a:ext cx="3291840" cy="1280160"/>
          </a:xfrm>
          <a:prstGeom prst="rect">
            <a:avLst/>
          </a:prstGeom>
          <a:noFill/>
          <a:ln/>
        </p:spPr>
        <p:txBody>
          <a:bodyPr wrap="square" lIns="25400" tIns="25400" rIns="25400" bIns="25400" rtlCol="0" anchor="t"/>
          <a:lstStyle/>
          <a:p>
            <a:pPr indent="0" marL="0">
              <a:buNone/>
            </a:pPr>
            <a:r>
              <a:rPr lang="en-US" sz="1500" b="1" dirty="0">
                <a:solidFill>
                  <a:srgbClr val="0F766E"/>
                </a:solidFill>
              </a:rPr>
              <a:t>Health Worker</a:t>
            </a:r>
            <a:endParaRPr lang="en-US" sz="1300" dirty="0"/>
          </a:p>
          <a:p>
            <a:pPr indent="0" marL="0">
              <a:buNone/>
            </a:pPr>
            <a:r>
              <a:rPr lang="en-US" sz="1300" dirty="0">
                <a:solidFill>
                  <a:srgbClr val="1F2937"/>
                </a:solidFill>
              </a:rPr>
              <a:t>Does: register, screen, photos.</a:t>
            </a:r>
            <a:endParaRPr lang="en-US" sz="1300" dirty="0"/>
          </a:p>
          <a:p>
            <a:pPr indent="0" marL="0">
              <a:buNone/>
            </a:pPr>
            <a:r>
              <a:rPr lang="en-US" sz="1300" dirty="0">
                <a:solidFill>
                  <a:srgbClr val="1F2937"/>
                </a:solidFill>
              </a:rPr>
              <a:t>Not: confirm cancer, see unrelated cases.</a:t>
            </a:r>
            <a:endParaRPr lang="en-US" sz="1300" dirty="0"/>
          </a:p>
        </p:txBody>
      </p:sp>
      <p:sp>
        <p:nvSpPr>
          <p:cNvPr id="19" name="Shape 15"/>
          <p:cNvSpPr/>
          <p:nvPr/>
        </p:nvSpPr>
        <p:spPr>
          <a:xfrm>
            <a:off x="4361688" y="1188720"/>
            <a:ext cx="3474720" cy="1371600"/>
          </a:xfrm>
          <a:prstGeom prst="roundRect">
            <a:avLst>
              <a:gd name="adj" fmla="val 4000"/>
            </a:avLst>
          </a:prstGeom>
          <a:solidFill>
            <a:srgbClr val="EEF5F3"/>
          </a:solidFill>
          <a:ln w="19050">
            <a:solidFill>
              <a:srgbClr val="0F766E"/>
            </a:solidFill>
            <a:prstDash val="solid"/>
          </a:ln>
        </p:spPr>
      </p:sp>
      <p:sp>
        <p:nvSpPr>
          <p:cNvPr id="20" name="Text 16"/>
          <p:cNvSpPr txBox="1"/>
          <p:nvPr/>
        </p:nvSpPr>
        <p:spPr>
          <a:xfrm>
            <a:off x="4453128" y="1234440"/>
            <a:ext cx="3291840" cy="1280160"/>
          </a:xfrm>
          <a:prstGeom prst="rect">
            <a:avLst/>
          </a:prstGeom>
          <a:noFill/>
          <a:ln/>
        </p:spPr>
        <p:txBody>
          <a:bodyPr wrap="square" lIns="25400" tIns="25400" rIns="25400" bIns="25400" rtlCol="0" anchor="t"/>
          <a:lstStyle/>
          <a:p>
            <a:pPr indent="0" marL="0">
              <a:buNone/>
            </a:pPr>
            <a:r>
              <a:rPr lang="en-US" sz="1500" b="1" dirty="0">
                <a:solidFill>
                  <a:srgbClr val="0F766E"/>
                </a:solidFill>
              </a:rPr>
              <a:t>Medical Officer</a:t>
            </a:r>
            <a:endParaRPr lang="en-US" sz="1300" dirty="0"/>
          </a:p>
          <a:p>
            <a:pPr indent="0" marL="0">
              <a:buNone/>
            </a:pPr>
            <a:r>
              <a:rPr lang="en-US" sz="1300" dirty="0">
                <a:solidFill>
                  <a:srgbClr val="1F2937"/>
                </a:solidFill>
              </a:rPr>
              <a:t>Does: review, decide referral.</a:t>
            </a:r>
            <a:endParaRPr lang="en-US" sz="1300" dirty="0"/>
          </a:p>
          <a:p>
            <a:pPr indent="0" marL="0">
              <a:buNone/>
            </a:pPr>
            <a:r>
              <a:rPr lang="en-US" sz="1300" dirty="0">
                <a:solidFill>
                  <a:srgbClr val="1F2937"/>
                </a:solidFill>
              </a:rPr>
              <a:t>Not: rewrite signed reviews.</a:t>
            </a:r>
            <a:endParaRPr lang="en-US" sz="1300" dirty="0"/>
          </a:p>
        </p:txBody>
      </p:sp>
      <p:sp>
        <p:nvSpPr>
          <p:cNvPr id="21" name="Shape 17"/>
          <p:cNvSpPr/>
          <p:nvPr/>
        </p:nvSpPr>
        <p:spPr>
          <a:xfrm>
            <a:off x="8257032" y="1188720"/>
            <a:ext cx="3474720" cy="1371600"/>
          </a:xfrm>
          <a:prstGeom prst="roundRect">
            <a:avLst>
              <a:gd name="adj" fmla="val 4000"/>
            </a:avLst>
          </a:prstGeom>
          <a:solidFill>
            <a:srgbClr val="EEF5F3"/>
          </a:solidFill>
          <a:ln w="19050">
            <a:solidFill>
              <a:srgbClr val="0F766E"/>
            </a:solidFill>
            <a:prstDash val="solid"/>
          </a:ln>
        </p:spPr>
      </p:sp>
      <p:sp>
        <p:nvSpPr>
          <p:cNvPr id="22" name="Text 18"/>
          <p:cNvSpPr txBox="1"/>
          <p:nvPr/>
        </p:nvSpPr>
        <p:spPr>
          <a:xfrm>
            <a:off x="8348472" y="1234440"/>
            <a:ext cx="3291840" cy="1280160"/>
          </a:xfrm>
          <a:prstGeom prst="rect">
            <a:avLst/>
          </a:prstGeom>
          <a:noFill/>
          <a:ln/>
        </p:spPr>
        <p:txBody>
          <a:bodyPr wrap="square" lIns="25400" tIns="25400" rIns="25400" bIns="25400" rtlCol="0" anchor="t"/>
          <a:lstStyle/>
          <a:p>
            <a:pPr indent="0" marL="0">
              <a:buNone/>
            </a:pPr>
            <a:r>
              <a:rPr lang="en-US" sz="1500" b="1" dirty="0">
                <a:solidFill>
                  <a:srgbClr val="0F766E"/>
                </a:solidFill>
              </a:rPr>
              <a:t>Specialist</a:t>
            </a:r>
            <a:endParaRPr lang="en-US" sz="1300" dirty="0"/>
          </a:p>
          <a:p>
            <a:pPr indent="0" marL="0">
              <a:buNone/>
            </a:pPr>
            <a:r>
              <a:rPr lang="en-US" sz="1300" dirty="0">
                <a:solidFill>
                  <a:srgbClr val="1F2937"/>
                </a:solidFill>
              </a:rPr>
              <a:t>Does: referred cases, consult, reports.</a:t>
            </a:r>
            <a:endParaRPr lang="en-US" sz="1300" dirty="0"/>
          </a:p>
          <a:p>
            <a:pPr indent="0" marL="0">
              <a:buNone/>
            </a:pPr>
            <a:r>
              <a:rPr lang="en-US" sz="1300" dirty="0">
                <a:solidFill>
                  <a:srgbClr val="1F2937"/>
                </a:solidFill>
              </a:rPr>
              <a:t>Not: browse all patients.</a:t>
            </a:r>
            <a:endParaRPr lang="en-US" sz="1300" dirty="0"/>
          </a:p>
        </p:txBody>
      </p:sp>
      <p:sp>
        <p:nvSpPr>
          <p:cNvPr id="23" name="Shape 19"/>
          <p:cNvSpPr/>
          <p:nvPr/>
        </p:nvSpPr>
        <p:spPr>
          <a:xfrm>
            <a:off x="2377440" y="4480560"/>
            <a:ext cx="3474720" cy="1371600"/>
          </a:xfrm>
          <a:prstGeom prst="roundRect">
            <a:avLst>
              <a:gd name="adj" fmla="val 4000"/>
            </a:avLst>
          </a:prstGeom>
          <a:solidFill>
            <a:srgbClr val="EEF5F3"/>
          </a:solidFill>
          <a:ln w="19050">
            <a:solidFill>
              <a:srgbClr val="0F766E"/>
            </a:solidFill>
            <a:prstDash val="solid"/>
          </a:ln>
        </p:spPr>
      </p:sp>
      <p:sp>
        <p:nvSpPr>
          <p:cNvPr id="24" name="Text 20"/>
          <p:cNvSpPr txBox="1"/>
          <p:nvPr/>
        </p:nvSpPr>
        <p:spPr>
          <a:xfrm>
            <a:off x="2468880" y="4526280"/>
            <a:ext cx="3291840" cy="1280160"/>
          </a:xfrm>
          <a:prstGeom prst="rect">
            <a:avLst/>
          </a:prstGeom>
          <a:noFill/>
          <a:ln/>
        </p:spPr>
        <p:txBody>
          <a:bodyPr wrap="square" lIns="25400" tIns="25400" rIns="25400" bIns="25400" rtlCol="0" anchor="t"/>
          <a:lstStyle/>
          <a:p>
            <a:pPr indent="0" marL="0">
              <a:buNone/>
            </a:pPr>
            <a:r>
              <a:rPr lang="en-US" sz="1500" b="1" dirty="0">
                <a:solidFill>
                  <a:srgbClr val="0F766E"/>
                </a:solidFill>
              </a:rPr>
              <a:t>Patient Navigator</a:t>
            </a:r>
            <a:endParaRPr lang="en-US" sz="1300" dirty="0"/>
          </a:p>
          <a:p>
            <a:pPr indent="0" marL="0">
              <a:buNone/>
            </a:pPr>
            <a:r>
              <a:rPr lang="en-US" sz="1300" dirty="0">
                <a:solidFill>
                  <a:srgbClr val="1F2937"/>
                </a:solidFill>
              </a:rPr>
              <a:t>Does: appointments, contacts, missed visits.</a:t>
            </a:r>
            <a:endParaRPr lang="en-US" sz="1300" dirty="0"/>
          </a:p>
          <a:p>
            <a:pPr indent="0" marL="0">
              <a:buNone/>
            </a:pPr>
            <a:r>
              <a:rPr lang="en-US" sz="1300" dirty="0">
                <a:solidFill>
                  <a:srgbClr val="1F2937"/>
                </a:solidFill>
              </a:rPr>
              <a:t>Not: change diagnosis.</a:t>
            </a:r>
            <a:endParaRPr lang="en-US" sz="1300" dirty="0"/>
          </a:p>
        </p:txBody>
      </p:sp>
      <p:sp>
        <p:nvSpPr>
          <p:cNvPr id="25" name="Shape 21"/>
          <p:cNvSpPr/>
          <p:nvPr/>
        </p:nvSpPr>
        <p:spPr>
          <a:xfrm>
            <a:off x="6309360" y="4480560"/>
            <a:ext cx="3474720" cy="1371600"/>
          </a:xfrm>
          <a:prstGeom prst="roundRect">
            <a:avLst>
              <a:gd name="adj" fmla="val 4000"/>
            </a:avLst>
          </a:prstGeom>
          <a:solidFill>
            <a:srgbClr val="EEF5F3"/>
          </a:solidFill>
          <a:ln w="19050">
            <a:solidFill>
              <a:srgbClr val="0F766E"/>
            </a:solidFill>
            <a:prstDash val="solid"/>
          </a:ln>
        </p:spPr>
      </p:sp>
      <p:sp>
        <p:nvSpPr>
          <p:cNvPr id="26" name="Text 22"/>
          <p:cNvSpPr txBox="1"/>
          <p:nvPr/>
        </p:nvSpPr>
        <p:spPr>
          <a:xfrm>
            <a:off x="6400800" y="4526280"/>
            <a:ext cx="3291840" cy="1280160"/>
          </a:xfrm>
          <a:prstGeom prst="rect">
            <a:avLst/>
          </a:prstGeom>
          <a:noFill/>
          <a:ln/>
        </p:spPr>
        <p:txBody>
          <a:bodyPr wrap="square" lIns="25400" tIns="25400" rIns="25400" bIns="25400" rtlCol="0" anchor="t"/>
          <a:lstStyle/>
          <a:p>
            <a:pPr indent="0" marL="0">
              <a:buNone/>
            </a:pPr>
            <a:r>
              <a:rPr lang="en-US" sz="1500" b="1" dirty="0">
                <a:solidFill>
                  <a:srgbClr val="0F766E"/>
                </a:solidFill>
              </a:rPr>
              <a:t>District Administrator</a:t>
            </a:r>
            <a:endParaRPr lang="en-US" sz="1300" dirty="0"/>
          </a:p>
          <a:p>
            <a:pPr indent="0" marL="0">
              <a:buNone/>
            </a:pPr>
            <a:r>
              <a:rPr lang="en-US" sz="1300" dirty="0">
                <a:solidFill>
                  <a:srgbClr val="1F2937"/>
                </a:solidFill>
              </a:rPr>
              <a:t>Does: aggregate trends only.</a:t>
            </a:r>
            <a:endParaRPr lang="en-US" sz="1300" dirty="0"/>
          </a:p>
          <a:p>
            <a:pPr indent="0" marL="0">
              <a:buNone/>
            </a:pPr>
            <a:r>
              <a:rPr lang="en-US" sz="1300" dirty="0">
                <a:solidFill>
                  <a:srgbClr val="1F2937"/>
                </a:solidFill>
              </a:rPr>
              <a:t>Not: identifiable records.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F766E"/>
          </a:solidFill>
          <a:ln/>
        </p:spPr>
      </p:sp>
      <p:sp>
        <p:nvSpPr>
          <p:cNvPr id="3" name="Text 1"/>
          <p:cNvSpPr txBox="1"/>
          <p:nvPr/>
        </p:nvSpPr>
        <p:spPr>
          <a:xfrm>
            <a:off x="457200" y="228600"/>
            <a:ext cx="10424160" cy="640080"/>
          </a:xfrm>
          <a:prstGeom prst="rect">
            <a:avLst/>
          </a:prstGeom>
          <a:noFill/>
          <a:ln/>
        </p:spPr>
        <p:txBody>
          <a:bodyPr wrap="square" lIns="0" tIns="0" rIns="0" bIns="0" rtlCol="0" anchor="ctr"/>
          <a:lstStyle/>
          <a:p>
            <a:pPr indent="0" marL="0">
              <a:buNone/>
            </a:pPr>
            <a:r>
              <a:rPr lang="en-US" sz="3000" b="1" dirty="0">
                <a:solidFill>
                  <a:srgbClr val="12305A"/>
                </a:solidFill>
              </a:rPr>
              <a:t>Ten Application Modules</a:t>
            </a:r>
            <a:endParaRPr lang="en-US" sz="3000" dirty="0"/>
          </a:p>
        </p:txBody>
      </p:sp>
      <p:sp>
        <p:nvSpPr>
          <p:cNvPr id="4" name="Shape 2"/>
          <p:cNvSpPr/>
          <p:nvPr/>
        </p:nvSpPr>
        <p:spPr>
          <a:xfrm>
            <a:off x="11064240" y="201168"/>
            <a:ext cx="658368" cy="658368"/>
          </a:xfrm>
          <a:prstGeom prst="ellipse">
            <a:avLst/>
          </a:prstGeom>
          <a:solidFill>
            <a:srgbClr val="0F766E"/>
          </a:solidFill>
          <a:ln/>
        </p:spPr>
      </p:sp>
      <p:pic>
        <p:nvPicPr>
          <p:cNvPr id="5" name="Image 0" descr="preencoded.png">    </p:cNvPr>
          <p:cNvPicPr>
            <a:picLocks noChangeAspect="1"/>
          </p:cNvPicPr>
          <p:nvPr/>
        </p:nvPicPr>
        <p:blipFill>
          <a:blip r:embed="rId1"/>
          <a:stretch>
            <a:fillRect/>
          </a:stretch>
        </p:blipFill>
        <p:spPr>
          <a:xfrm>
            <a:off x="11210544" y="347472"/>
            <a:ext cx="365760" cy="365760"/>
          </a:xfrm>
          <a:prstGeom prst="rect">
            <a:avLst/>
          </a:prstGeom>
        </p:spPr>
      </p:pic>
      <p:sp>
        <p:nvSpPr>
          <p:cNvPr id="6" name="Shape 3"/>
          <p:cNvSpPr/>
          <p:nvPr/>
        </p:nvSpPr>
        <p:spPr>
          <a:xfrm>
            <a:off x="457200" y="896112"/>
            <a:ext cx="1097280" cy="45720"/>
          </a:xfrm>
          <a:prstGeom prst="rect">
            <a:avLst/>
          </a:prstGeom>
          <a:solidFill>
            <a:srgbClr val="EA580C"/>
          </a:solidFill>
          <a:ln/>
        </p:spPr>
      </p:sp>
      <p:sp>
        <p:nvSpPr>
          <p:cNvPr id="7" name="Text 4"/>
          <p:cNvSpPr txBox="1"/>
          <p:nvPr/>
        </p:nvSpPr>
        <p:spPr>
          <a:xfrm>
            <a:off x="457200" y="6473952"/>
            <a:ext cx="10058400" cy="274320"/>
          </a:xfrm>
          <a:prstGeom prst="rect">
            <a:avLst/>
          </a:prstGeom>
          <a:noFill/>
          <a:ln/>
        </p:spPr>
        <p:txBody>
          <a:bodyPr wrap="square" lIns="0" tIns="0" rIns="0" bIns="0" rtlCol="0" anchor="ctr"/>
          <a:lstStyle/>
          <a:p>
            <a:pPr indent="0" marL="0">
              <a:buNone/>
            </a:pPr>
            <a:r>
              <a:rPr lang="en-US" sz="1000" dirty="0">
                <a:solidFill>
                  <a:srgbClr val="6B7280"/>
                </a:solidFill>
              </a:rPr>
              <a:t>Hackathon demonstration only — NOT FOR CLINICAL USE  |  AAROGYA DRISHTI · AAROHAN 2026</a:t>
            </a:r>
            <a:endParaRPr lang="en-US" sz="1000" dirty="0"/>
          </a:p>
        </p:txBody>
      </p:sp>
      <p:sp>
        <p:nvSpPr>
          <p:cNvPr id="8" name="Text 5"/>
          <p:cNvSpPr txBox="1"/>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rPr>
              <a:t>6</a:t>
            </a:r>
            <a:endParaRPr lang="en-US" sz="1000" dirty="0"/>
          </a:p>
        </p:txBody>
      </p:sp>
      <p:sp>
        <p:nvSpPr>
          <p:cNvPr id="10" name="Shape 6"/>
          <p:cNvSpPr/>
          <p:nvPr/>
        </p:nvSpPr>
        <p:spPr>
          <a:xfrm>
            <a:off x="457200" y="1280160"/>
            <a:ext cx="2108606" cy="2194560"/>
          </a:xfrm>
          <a:prstGeom prst="roundRect">
            <a:avLst>
              <a:gd name="adj" fmla="val 2602"/>
            </a:avLst>
          </a:prstGeom>
          <a:solidFill>
            <a:srgbClr val="EEF5F3"/>
          </a:solidFill>
          <a:ln w="12700">
            <a:solidFill>
              <a:srgbClr val="0F766E"/>
            </a:solidFill>
            <a:prstDash val="solid"/>
          </a:ln>
        </p:spPr>
      </p:sp>
      <p:sp>
        <p:nvSpPr>
          <p:cNvPr id="11" name="Shape 7"/>
          <p:cNvSpPr/>
          <p:nvPr/>
        </p:nvSpPr>
        <p:spPr>
          <a:xfrm>
            <a:off x="2017166" y="1371600"/>
            <a:ext cx="457200" cy="457200"/>
          </a:xfrm>
          <a:prstGeom prst="ellipse">
            <a:avLst/>
          </a:prstGeom>
          <a:solidFill>
            <a:srgbClr val="0F766E"/>
          </a:solidFill>
          <a:ln/>
        </p:spPr>
      </p:sp>
      <p:pic>
        <p:nvPicPr>
          <p:cNvPr id="12" name="Image 1" descr="preencoded.png">    </p:cNvPr>
          <p:cNvPicPr>
            <a:picLocks noChangeAspect="1"/>
          </p:cNvPicPr>
          <p:nvPr/>
        </p:nvPicPr>
        <p:blipFill>
          <a:blip r:embed="rId2"/>
          <a:stretch>
            <a:fillRect/>
          </a:stretch>
        </p:blipFill>
        <p:spPr>
          <a:xfrm>
            <a:off x="2108606" y="1463040"/>
            <a:ext cx="274320" cy="274320"/>
          </a:xfrm>
          <a:prstGeom prst="rect">
            <a:avLst/>
          </a:prstGeom>
        </p:spPr>
      </p:pic>
      <p:sp>
        <p:nvSpPr>
          <p:cNvPr id="13" name="Text 8"/>
          <p:cNvSpPr txBox="1"/>
          <p:nvPr/>
        </p:nvSpPr>
        <p:spPr>
          <a:xfrm>
            <a:off x="530352" y="1325880"/>
            <a:ext cx="1422806" cy="2103120"/>
          </a:xfrm>
          <a:prstGeom prst="rect">
            <a:avLst/>
          </a:prstGeom>
          <a:noFill/>
          <a:ln/>
        </p:spPr>
        <p:txBody>
          <a:bodyPr wrap="square" lIns="25400" tIns="25400" rIns="25400" bIns="25400" rtlCol="0" anchor="t"/>
          <a:lstStyle/>
          <a:p>
            <a:pPr indent="0" marL="0">
              <a:buNone/>
            </a:pPr>
            <a:r>
              <a:rPr lang="en-US" sz="1800" b="1" dirty="0">
                <a:solidFill>
                  <a:srgbClr val="0F766E"/>
                </a:solidFill>
              </a:rPr>
              <a:t>1 Registration</a:t>
            </a:r>
            <a:endParaRPr lang="en-US" sz="1800" dirty="0"/>
          </a:p>
          <a:p>
            <a:pPr indent="0" marL="0">
              <a:buNone/>
            </a:pPr>
            <a:r>
              <a:rPr lang="en-US" sz="1600" dirty="0">
                <a:solidFill>
                  <a:srgbClr val="1F2937"/>
                </a:solidFill>
              </a:rPr>
              <a:t>Patient record, history, consent.</a:t>
            </a:r>
            <a:endParaRPr lang="en-US" sz="1800" dirty="0"/>
          </a:p>
        </p:txBody>
      </p:sp>
      <p:sp>
        <p:nvSpPr>
          <p:cNvPr id="14" name="Shape 9"/>
          <p:cNvSpPr/>
          <p:nvPr/>
        </p:nvSpPr>
        <p:spPr>
          <a:xfrm>
            <a:off x="2748686" y="1280160"/>
            <a:ext cx="2108606" cy="2194560"/>
          </a:xfrm>
          <a:prstGeom prst="roundRect">
            <a:avLst>
              <a:gd name="adj" fmla="val 2602"/>
            </a:avLst>
          </a:prstGeom>
          <a:solidFill>
            <a:srgbClr val="EEF5F3"/>
          </a:solidFill>
          <a:ln w="12700">
            <a:solidFill>
              <a:srgbClr val="0F766E"/>
            </a:solidFill>
            <a:prstDash val="solid"/>
          </a:ln>
        </p:spPr>
      </p:sp>
      <p:sp>
        <p:nvSpPr>
          <p:cNvPr id="15" name="Shape 10"/>
          <p:cNvSpPr/>
          <p:nvPr/>
        </p:nvSpPr>
        <p:spPr>
          <a:xfrm>
            <a:off x="4308653" y="1371600"/>
            <a:ext cx="457200" cy="457200"/>
          </a:xfrm>
          <a:prstGeom prst="ellipse">
            <a:avLst/>
          </a:prstGeom>
          <a:solidFill>
            <a:srgbClr val="0F766E"/>
          </a:solidFill>
          <a:ln/>
        </p:spPr>
      </p:sp>
      <p:pic>
        <p:nvPicPr>
          <p:cNvPr id="16" name="Image 2" descr="preencoded.png">    </p:cNvPr>
          <p:cNvPicPr>
            <a:picLocks noChangeAspect="1"/>
          </p:cNvPicPr>
          <p:nvPr/>
        </p:nvPicPr>
        <p:blipFill>
          <a:blip r:embed="rId3"/>
          <a:stretch>
            <a:fillRect/>
          </a:stretch>
        </p:blipFill>
        <p:spPr>
          <a:xfrm>
            <a:off x="4400093" y="1463040"/>
            <a:ext cx="274320" cy="274320"/>
          </a:xfrm>
          <a:prstGeom prst="rect">
            <a:avLst/>
          </a:prstGeom>
        </p:spPr>
      </p:pic>
      <p:sp>
        <p:nvSpPr>
          <p:cNvPr id="17" name="Text 11"/>
          <p:cNvSpPr txBox="1"/>
          <p:nvPr/>
        </p:nvSpPr>
        <p:spPr>
          <a:xfrm>
            <a:off x="2821838" y="1325880"/>
            <a:ext cx="1422806" cy="2103120"/>
          </a:xfrm>
          <a:prstGeom prst="rect">
            <a:avLst/>
          </a:prstGeom>
          <a:noFill/>
          <a:ln/>
        </p:spPr>
        <p:txBody>
          <a:bodyPr wrap="square" lIns="25400" tIns="25400" rIns="25400" bIns="25400" rtlCol="0" anchor="t"/>
          <a:lstStyle/>
          <a:p>
            <a:pPr indent="0" marL="0">
              <a:buNone/>
            </a:pPr>
            <a:r>
              <a:rPr lang="en-US" sz="1800" b="1" dirty="0">
                <a:solidFill>
                  <a:srgbClr val="0F766E"/>
                </a:solidFill>
              </a:rPr>
              <a:t>2 Oral Screening</a:t>
            </a:r>
            <a:endParaRPr lang="en-US" sz="1800" dirty="0"/>
          </a:p>
          <a:p>
            <a:pPr indent="0" marL="0">
              <a:buNone/>
            </a:pPr>
            <a:r>
              <a:rPr lang="en-US" sz="1600" dirty="0">
                <a:solidFill>
                  <a:srgbClr val="1F2937"/>
                </a:solidFill>
              </a:rPr>
              <a:t>Guided smartphone photo capture.</a:t>
            </a:r>
            <a:endParaRPr lang="en-US" sz="1800" dirty="0"/>
          </a:p>
        </p:txBody>
      </p:sp>
      <p:sp>
        <p:nvSpPr>
          <p:cNvPr id="18" name="Shape 12"/>
          <p:cNvSpPr/>
          <p:nvPr/>
        </p:nvSpPr>
        <p:spPr>
          <a:xfrm>
            <a:off x="5040173" y="1280160"/>
            <a:ext cx="2108606" cy="2194560"/>
          </a:xfrm>
          <a:prstGeom prst="roundRect">
            <a:avLst>
              <a:gd name="adj" fmla="val 2602"/>
            </a:avLst>
          </a:prstGeom>
          <a:solidFill>
            <a:srgbClr val="EEF5F3"/>
          </a:solidFill>
          <a:ln w="12700">
            <a:solidFill>
              <a:srgbClr val="0F766E"/>
            </a:solidFill>
            <a:prstDash val="solid"/>
          </a:ln>
        </p:spPr>
      </p:sp>
      <p:sp>
        <p:nvSpPr>
          <p:cNvPr id="19" name="Shape 13"/>
          <p:cNvSpPr/>
          <p:nvPr/>
        </p:nvSpPr>
        <p:spPr>
          <a:xfrm>
            <a:off x="6600139" y="1371600"/>
            <a:ext cx="457200" cy="457200"/>
          </a:xfrm>
          <a:prstGeom prst="ellipse">
            <a:avLst/>
          </a:prstGeom>
          <a:solidFill>
            <a:srgbClr val="0F766E"/>
          </a:solidFill>
          <a:ln/>
        </p:spPr>
      </p:sp>
      <p:pic>
        <p:nvPicPr>
          <p:cNvPr id="20" name="Image 3" descr="preencoded.png">    </p:cNvPr>
          <p:cNvPicPr>
            <a:picLocks noChangeAspect="1"/>
          </p:cNvPicPr>
          <p:nvPr/>
        </p:nvPicPr>
        <p:blipFill>
          <a:blip r:embed="rId4"/>
          <a:stretch>
            <a:fillRect/>
          </a:stretch>
        </p:blipFill>
        <p:spPr>
          <a:xfrm>
            <a:off x="6691579" y="1463040"/>
            <a:ext cx="274320" cy="274320"/>
          </a:xfrm>
          <a:prstGeom prst="rect">
            <a:avLst/>
          </a:prstGeom>
        </p:spPr>
      </p:pic>
      <p:sp>
        <p:nvSpPr>
          <p:cNvPr id="21" name="Text 14"/>
          <p:cNvSpPr txBox="1"/>
          <p:nvPr/>
        </p:nvSpPr>
        <p:spPr>
          <a:xfrm>
            <a:off x="5113325" y="1325880"/>
            <a:ext cx="1422806" cy="2103120"/>
          </a:xfrm>
          <a:prstGeom prst="rect">
            <a:avLst/>
          </a:prstGeom>
          <a:noFill/>
          <a:ln/>
        </p:spPr>
        <p:txBody>
          <a:bodyPr wrap="square" lIns="25400" tIns="25400" rIns="25400" bIns="25400" rtlCol="0" anchor="t"/>
          <a:lstStyle/>
          <a:p>
            <a:pPr indent="0" marL="0">
              <a:buNone/>
            </a:pPr>
            <a:r>
              <a:rPr lang="en-US" sz="1800" b="1" dirty="0">
                <a:solidFill>
                  <a:srgbClr val="0F766E"/>
                </a:solidFill>
              </a:rPr>
              <a:t>3 AI Analysis</a:t>
            </a:r>
            <a:endParaRPr lang="en-US" sz="1800" dirty="0"/>
          </a:p>
          <a:p>
            <a:pPr indent="0" marL="0">
              <a:buNone/>
            </a:pPr>
            <a:r>
              <a:rPr lang="en-US" sz="1600" dirty="0">
                <a:solidFill>
                  <a:srgbClr val="1F2937"/>
                </a:solidFill>
              </a:rPr>
              <a:t>Image quality + research-demo output.</a:t>
            </a:r>
            <a:endParaRPr lang="en-US" sz="1800" dirty="0"/>
          </a:p>
        </p:txBody>
      </p:sp>
      <p:sp>
        <p:nvSpPr>
          <p:cNvPr id="22" name="Shape 15"/>
          <p:cNvSpPr/>
          <p:nvPr/>
        </p:nvSpPr>
        <p:spPr>
          <a:xfrm>
            <a:off x="7331659" y="1280160"/>
            <a:ext cx="2108606" cy="2194560"/>
          </a:xfrm>
          <a:prstGeom prst="roundRect">
            <a:avLst>
              <a:gd name="adj" fmla="val 2602"/>
            </a:avLst>
          </a:prstGeom>
          <a:solidFill>
            <a:srgbClr val="EEF5F3"/>
          </a:solidFill>
          <a:ln w="12700">
            <a:solidFill>
              <a:srgbClr val="0F766E"/>
            </a:solidFill>
            <a:prstDash val="solid"/>
          </a:ln>
        </p:spPr>
      </p:sp>
      <p:sp>
        <p:nvSpPr>
          <p:cNvPr id="23" name="Shape 16"/>
          <p:cNvSpPr/>
          <p:nvPr/>
        </p:nvSpPr>
        <p:spPr>
          <a:xfrm>
            <a:off x="8891626" y="1371600"/>
            <a:ext cx="457200" cy="457200"/>
          </a:xfrm>
          <a:prstGeom prst="ellipse">
            <a:avLst/>
          </a:prstGeom>
          <a:solidFill>
            <a:srgbClr val="0F766E"/>
          </a:solidFill>
          <a:ln/>
        </p:spPr>
      </p:sp>
      <p:pic>
        <p:nvPicPr>
          <p:cNvPr id="24" name="Image 4" descr="preencoded.png">    </p:cNvPr>
          <p:cNvPicPr>
            <a:picLocks noChangeAspect="1"/>
          </p:cNvPicPr>
          <p:nvPr/>
        </p:nvPicPr>
        <p:blipFill>
          <a:blip r:embed="rId5"/>
          <a:stretch>
            <a:fillRect/>
          </a:stretch>
        </p:blipFill>
        <p:spPr>
          <a:xfrm>
            <a:off x="8983066" y="1463040"/>
            <a:ext cx="274320" cy="274320"/>
          </a:xfrm>
          <a:prstGeom prst="rect">
            <a:avLst/>
          </a:prstGeom>
        </p:spPr>
      </p:pic>
      <p:sp>
        <p:nvSpPr>
          <p:cNvPr id="25" name="Text 17"/>
          <p:cNvSpPr txBox="1"/>
          <p:nvPr/>
        </p:nvSpPr>
        <p:spPr>
          <a:xfrm>
            <a:off x="7404811" y="1325880"/>
            <a:ext cx="1422806" cy="2103120"/>
          </a:xfrm>
          <a:prstGeom prst="rect">
            <a:avLst/>
          </a:prstGeom>
          <a:noFill/>
          <a:ln/>
        </p:spPr>
        <p:txBody>
          <a:bodyPr wrap="square" lIns="25400" tIns="25400" rIns="25400" bIns="25400" rtlCol="0" anchor="t"/>
          <a:lstStyle/>
          <a:p>
            <a:pPr indent="0" marL="0">
              <a:buNone/>
            </a:pPr>
            <a:r>
              <a:rPr lang="en-US" sz="1800" b="1" dirty="0">
                <a:solidFill>
                  <a:srgbClr val="0F766E"/>
                </a:solidFill>
              </a:rPr>
              <a:t>4 Clinical Review</a:t>
            </a:r>
            <a:endParaRPr lang="en-US" sz="1800" dirty="0"/>
          </a:p>
          <a:p>
            <a:pPr indent="0" marL="0">
              <a:buNone/>
            </a:pPr>
            <a:r>
              <a:rPr lang="en-US" sz="1600" dirty="0">
                <a:solidFill>
                  <a:srgbClr val="1F2937"/>
                </a:solidFill>
              </a:rPr>
              <a:t>Medical Officer &amp; specialist review.</a:t>
            </a:r>
            <a:endParaRPr lang="en-US" sz="1800" dirty="0"/>
          </a:p>
        </p:txBody>
      </p:sp>
      <p:sp>
        <p:nvSpPr>
          <p:cNvPr id="26" name="Shape 18"/>
          <p:cNvSpPr/>
          <p:nvPr/>
        </p:nvSpPr>
        <p:spPr>
          <a:xfrm>
            <a:off x="9623146" y="1280160"/>
            <a:ext cx="2108606" cy="2194560"/>
          </a:xfrm>
          <a:prstGeom prst="roundRect">
            <a:avLst>
              <a:gd name="adj" fmla="val 2602"/>
            </a:avLst>
          </a:prstGeom>
          <a:solidFill>
            <a:srgbClr val="EEF5F3"/>
          </a:solidFill>
          <a:ln w="12700">
            <a:solidFill>
              <a:srgbClr val="0F766E"/>
            </a:solidFill>
            <a:prstDash val="solid"/>
          </a:ln>
        </p:spPr>
      </p:sp>
      <p:sp>
        <p:nvSpPr>
          <p:cNvPr id="27" name="Shape 19"/>
          <p:cNvSpPr/>
          <p:nvPr/>
        </p:nvSpPr>
        <p:spPr>
          <a:xfrm>
            <a:off x="11183112" y="1371600"/>
            <a:ext cx="457200" cy="457200"/>
          </a:xfrm>
          <a:prstGeom prst="ellipse">
            <a:avLst/>
          </a:prstGeom>
          <a:solidFill>
            <a:srgbClr val="0F766E"/>
          </a:solidFill>
          <a:ln/>
        </p:spPr>
      </p:sp>
      <p:pic>
        <p:nvPicPr>
          <p:cNvPr id="28" name="Image 5" descr="preencoded.png">    </p:cNvPr>
          <p:cNvPicPr>
            <a:picLocks noChangeAspect="1"/>
          </p:cNvPicPr>
          <p:nvPr/>
        </p:nvPicPr>
        <p:blipFill>
          <a:blip r:embed="rId6"/>
          <a:stretch>
            <a:fillRect/>
          </a:stretch>
        </p:blipFill>
        <p:spPr>
          <a:xfrm>
            <a:off x="11274552" y="1463040"/>
            <a:ext cx="274320" cy="274320"/>
          </a:xfrm>
          <a:prstGeom prst="rect">
            <a:avLst/>
          </a:prstGeom>
        </p:spPr>
      </p:pic>
      <p:sp>
        <p:nvSpPr>
          <p:cNvPr id="29" name="Text 20"/>
          <p:cNvSpPr txBox="1"/>
          <p:nvPr/>
        </p:nvSpPr>
        <p:spPr>
          <a:xfrm>
            <a:off x="9696298" y="1325880"/>
            <a:ext cx="1422806" cy="2103120"/>
          </a:xfrm>
          <a:prstGeom prst="rect">
            <a:avLst/>
          </a:prstGeom>
          <a:noFill/>
          <a:ln/>
        </p:spPr>
        <p:txBody>
          <a:bodyPr wrap="square" lIns="25400" tIns="25400" rIns="25400" bIns="25400" rtlCol="0" anchor="t"/>
          <a:lstStyle/>
          <a:p>
            <a:pPr indent="0" marL="0">
              <a:buNone/>
            </a:pPr>
            <a:r>
              <a:rPr lang="en-US" sz="1800" b="1" dirty="0">
                <a:solidFill>
                  <a:srgbClr val="0F766E"/>
                </a:solidFill>
              </a:rPr>
              <a:t>5 Telemedicine</a:t>
            </a:r>
            <a:endParaRPr lang="en-US" sz="1800" dirty="0"/>
          </a:p>
          <a:p>
            <a:pPr indent="0" marL="0">
              <a:buNone/>
            </a:pPr>
            <a:r>
              <a:rPr lang="en-US" sz="1600" dirty="0">
                <a:solidFill>
                  <a:srgbClr val="1F2937"/>
                </a:solidFill>
              </a:rPr>
              <a:t>Secure two-party video.</a:t>
            </a:r>
            <a:endParaRPr lang="en-US" sz="1800" dirty="0"/>
          </a:p>
        </p:txBody>
      </p:sp>
      <p:sp>
        <p:nvSpPr>
          <p:cNvPr id="30" name="Shape 21"/>
          <p:cNvSpPr/>
          <p:nvPr/>
        </p:nvSpPr>
        <p:spPr>
          <a:xfrm>
            <a:off x="457200" y="3657600"/>
            <a:ext cx="2108606" cy="2194560"/>
          </a:xfrm>
          <a:prstGeom prst="roundRect">
            <a:avLst>
              <a:gd name="adj" fmla="val 2602"/>
            </a:avLst>
          </a:prstGeom>
          <a:solidFill>
            <a:srgbClr val="EEF5F3"/>
          </a:solidFill>
          <a:ln w="12700">
            <a:solidFill>
              <a:srgbClr val="0F766E"/>
            </a:solidFill>
            <a:prstDash val="solid"/>
          </a:ln>
        </p:spPr>
      </p:sp>
      <p:sp>
        <p:nvSpPr>
          <p:cNvPr id="31" name="Shape 22"/>
          <p:cNvSpPr/>
          <p:nvPr/>
        </p:nvSpPr>
        <p:spPr>
          <a:xfrm>
            <a:off x="2017166" y="3749040"/>
            <a:ext cx="457200" cy="457200"/>
          </a:xfrm>
          <a:prstGeom prst="ellipse">
            <a:avLst/>
          </a:prstGeom>
          <a:solidFill>
            <a:srgbClr val="0F766E"/>
          </a:solidFill>
          <a:ln/>
        </p:spPr>
      </p:sp>
      <p:pic>
        <p:nvPicPr>
          <p:cNvPr id="32" name="Image 6" descr="preencoded.png">    </p:cNvPr>
          <p:cNvPicPr>
            <a:picLocks noChangeAspect="1"/>
          </p:cNvPicPr>
          <p:nvPr/>
        </p:nvPicPr>
        <p:blipFill>
          <a:blip r:embed="rId7"/>
          <a:stretch>
            <a:fillRect/>
          </a:stretch>
        </p:blipFill>
        <p:spPr>
          <a:xfrm>
            <a:off x="2108606" y="3840480"/>
            <a:ext cx="274320" cy="274320"/>
          </a:xfrm>
          <a:prstGeom prst="rect">
            <a:avLst/>
          </a:prstGeom>
        </p:spPr>
      </p:pic>
      <p:sp>
        <p:nvSpPr>
          <p:cNvPr id="33" name="Text 23"/>
          <p:cNvSpPr txBox="1"/>
          <p:nvPr/>
        </p:nvSpPr>
        <p:spPr>
          <a:xfrm>
            <a:off x="530352" y="3703320"/>
            <a:ext cx="1422806" cy="2103120"/>
          </a:xfrm>
          <a:prstGeom prst="rect">
            <a:avLst/>
          </a:prstGeom>
          <a:noFill/>
          <a:ln/>
        </p:spPr>
        <p:txBody>
          <a:bodyPr wrap="square" lIns="25400" tIns="25400" rIns="25400" bIns="25400" rtlCol="0" anchor="t"/>
          <a:lstStyle/>
          <a:p>
            <a:pPr indent="0" marL="0">
              <a:buNone/>
            </a:pPr>
            <a:r>
              <a:rPr lang="en-US" sz="1800" b="1" dirty="0">
                <a:solidFill>
                  <a:srgbClr val="0F766E"/>
                </a:solidFill>
              </a:rPr>
              <a:t>6 Appointments</a:t>
            </a:r>
            <a:endParaRPr lang="en-US" sz="1800" dirty="0"/>
          </a:p>
          <a:p>
            <a:pPr indent="0" marL="0">
              <a:buNone/>
            </a:pPr>
            <a:r>
              <a:rPr lang="en-US" sz="1600" dirty="0">
                <a:solidFill>
                  <a:srgbClr val="1F2937"/>
                </a:solidFill>
              </a:rPr>
              <a:t>Hospital bookings and referrals.</a:t>
            </a:r>
            <a:endParaRPr lang="en-US" sz="1800" dirty="0"/>
          </a:p>
        </p:txBody>
      </p:sp>
      <p:sp>
        <p:nvSpPr>
          <p:cNvPr id="34" name="Shape 24"/>
          <p:cNvSpPr/>
          <p:nvPr/>
        </p:nvSpPr>
        <p:spPr>
          <a:xfrm>
            <a:off x="2748686" y="3657600"/>
            <a:ext cx="2108606" cy="2194560"/>
          </a:xfrm>
          <a:prstGeom prst="roundRect">
            <a:avLst>
              <a:gd name="adj" fmla="val 2602"/>
            </a:avLst>
          </a:prstGeom>
          <a:solidFill>
            <a:srgbClr val="EEF5F3"/>
          </a:solidFill>
          <a:ln w="12700">
            <a:solidFill>
              <a:srgbClr val="0F766E"/>
            </a:solidFill>
            <a:prstDash val="solid"/>
          </a:ln>
        </p:spPr>
      </p:sp>
      <p:sp>
        <p:nvSpPr>
          <p:cNvPr id="35" name="Shape 25"/>
          <p:cNvSpPr/>
          <p:nvPr/>
        </p:nvSpPr>
        <p:spPr>
          <a:xfrm>
            <a:off x="4308653" y="3749040"/>
            <a:ext cx="457200" cy="457200"/>
          </a:xfrm>
          <a:prstGeom prst="ellipse">
            <a:avLst/>
          </a:prstGeom>
          <a:solidFill>
            <a:srgbClr val="0F766E"/>
          </a:solidFill>
          <a:ln/>
        </p:spPr>
      </p:sp>
      <p:pic>
        <p:nvPicPr>
          <p:cNvPr id="36" name="Image 7" descr="preencoded.png">    </p:cNvPr>
          <p:cNvPicPr>
            <a:picLocks noChangeAspect="1"/>
          </p:cNvPicPr>
          <p:nvPr/>
        </p:nvPicPr>
        <p:blipFill>
          <a:blip r:embed="rId8"/>
          <a:stretch>
            <a:fillRect/>
          </a:stretch>
        </p:blipFill>
        <p:spPr>
          <a:xfrm>
            <a:off x="4400093" y="3840480"/>
            <a:ext cx="274320" cy="274320"/>
          </a:xfrm>
          <a:prstGeom prst="rect">
            <a:avLst/>
          </a:prstGeom>
        </p:spPr>
      </p:pic>
      <p:sp>
        <p:nvSpPr>
          <p:cNvPr id="37" name="Text 26"/>
          <p:cNvSpPr txBox="1"/>
          <p:nvPr/>
        </p:nvSpPr>
        <p:spPr>
          <a:xfrm>
            <a:off x="2821838" y="3703320"/>
            <a:ext cx="1422806" cy="2103120"/>
          </a:xfrm>
          <a:prstGeom prst="rect">
            <a:avLst/>
          </a:prstGeom>
          <a:noFill/>
          <a:ln/>
        </p:spPr>
        <p:txBody>
          <a:bodyPr wrap="square" lIns="25400" tIns="25400" rIns="25400" bIns="25400" rtlCol="0" anchor="t"/>
          <a:lstStyle/>
          <a:p>
            <a:pPr indent="0" marL="0">
              <a:buNone/>
            </a:pPr>
            <a:r>
              <a:rPr lang="en-US" sz="1800" b="1" dirty="0">
                <a:solidFill>
                  <a:srgbClr val="0F766E"/>
                </a:solidFill>
              </a:rPr>
              <a:t>7 Diagnostics</a:t>
            </a:r>
            <a:endParaRPr lang="en-US" sz="1800" dirty="0"/>
          </a:p>
          <a:p>
            <a:pPr indent="0" marL="0">
              <a:buNone/>
            </a:pPr>
            <a:r>
              <a:rPr lang="en-US" sz="1600" dirty="0">
                <a:solidFill>
                  <a:srgbClr val="1F2937"/>
                </a:solidFill>
              </a:rPr>
              <a:t>Biopsy/pathology tracking.</a:t>
            </a:r>
            <a:endParaRPr lang="en-US" sz="1800" dirty="0"/>
          </a:p>
        </p:txBody>
      </p:sp>
      <p:sp>
        <p:nvSpPr>
          <p:cNvPr id="38" name="Shape 27"/>
          <p:cNvSpPr/>
          <p:nvPr/>
        </p:nvSpPr>
        <p:spPr>
          <a:xfrm>
            <a:off x="5040173" y="3657600"/>
            <a:ext cx="2108606" cy="2194560"/>
          </a:xfrm>
          <a:prstGeom prst="roundRect">
            <a:avLst>
              <a:gd name="adj" fmla="val 2602"/>
            </a:avLst>
          </a:prstGeom>
          <a:solidFill>
            <a:srgbClr val="EEF5F3"/>
          </a:solidFill>
          <a:ln w="12700">
            <a:solidFill>
              <a:srgbClr val="0F766E"/>
            </a:solidFill>
            <a:prstDash val="solid"/>
          </a:ln>
        </p:spPr>
      </p:sp>
      <p:sp>
        <p:nvSpPr>
          <p:cNvPr id="39" name="Shape 28"/>
          <p:cNvSpPr/>
          <p:nvPr/>
        </p:nvSpPr>
        <p:spPr>
          <a:xfrm>
            <a:off x="6600139" y="3749040"/>
            <a:ext cx="457200" cy="457200"/>
          </a:xfrm>
          <a:prstGeom prst="ellipse">
            <a:avLst/>
          </a:prstGeom>
          <a:solidFill>
            <a:srgbClr val="0F766E"/>
          </a:solidFill>
          <a:ln/>
        </p:spPr>
      </p:sp>
      <p:pic>
        <p:nvPicPr>
          <p:cNvPr id="40" name="Image 8" descr="preencoded.png">    </p:cNvPr>
          <p:cNvPicPr>
            <a:picLocks noChangeAspect="1"/>
          </p:cNvPicPr>
          <p:nvPr/>
        </p:nvPicPr>
        <p:blipFill>
          <a:blip r:embed="rId9"/>
          <a:stretch>
            <a:fillRect/>
          </a:stretch>
        </p:blipFill>
        <p:spPr>
          <a:xfrm>
            <a:off x="6691579" y="3840480"/>
            <a:ext cx="274320" cy="274320"/>
          </a:xfrm>
          <a:prstGeom prst="rect">
            <a:avLst/>
          </a:prstGeom>
        </p:spPr>
      </p:pic>
      <p:sp>
        <p:nvSpPr>
          <p:cNvPr id="41" name="Text 29"/>
          <p:cNvSpPr txBox="1"/>
          <p:nvPr/>
        </p:nvSpPr>
        <p:spPr>
          <a:xfrm>
            <a:off x="5113325" y="3703320"/>
            <a:ext cx="1422806" cy="2103120"/>
          </a:xfrm>
          <a:prstGeom prst="rect">
            <a:avLst/>
          </a:prstGeom>
          <a:noFill/>
          <a:ln/>
        </p:spPr>
        <p:txBody>
          <a:bodyPr wrap="square" lIns="25400" tIns="25400" rIns="25400" bIns="25400" rtlCol="0" anchor="t"/>
          <a:lstStyle/>
          <a:p>
            <a:pPr indent="0" marL="0">
              <a:buNone/>
            </a:pPr>
            <a:r>
              <a:rPr lang="en-US" sz="1800" b="1" dirty="0">
                <a:solidFill>
                  <a:srgbClr val="0F766E"/>
                </a:solidFill>
              </a:rPr>
              <a:t>8 Patient Record</a:t>
            </a:r>
            <a:endParaRPr lang="en-US" sz="1800" dirty="0"/>
          </a:p>
          <a:p>
            <a:pPr indent="0" marL="0">
              <a:buNone/>
            </a:pPr>
            <a:r>
              <a:rPr lang="en-US" sz="1600" dirty="0">
                <a:solidFill>
                  <a:srgbClr val="1F2937"/>
                </a:solidFill>
              </a:rPr>
              <a:t>Longitudinal, audited timeline.</a:t>
            </a:r>
            <a:endParaRPr lang="en-US" sz="1800" dirty="0"/>
          </a:p>
        </p:txBody>
      </p:sp>
      <p:sp>
        <p:nvSpPr>
          <p:cNvPr id="42" name="Shape 30"/>
          <p:cNvSpPr/>
          <p:nvPr/>
        </p:nvSpPr>
        <p:spPr>
          <a:xfrm>
            <a:off x="7331659" y="3657600"/>
            <a:ext cx="2108606" cy="2194560"/>
          </a:xfrm>
          <a:prstGeom prst="roundRect">
            <a:avLst>
              <a:gd name="adj" fmla="val 2602"/>
            </a:avLst>
          </a:prstGeom>
          <a:solidFill>
            <a:srgbClr val="EEF5F3"/>
          </a:solidFill>
          <a:ln w="12700">
            <a:solidFill>
              <a:srgbClr val="0F766E"/>
            </a:solidFill>
            <a:prstDash val="solid"/>
          </a:ln>
        </p:spPr>
      </p:sp>
      <p:sp>
        <p:nvSpPr>
          <p:cNvPr id="43" name="Shape 31"/>
          <p:cNvSpPr/>
          <p:nvPr/>
        </p:nvSpPr>
        <p:spPr>
          <a:xfrm>
            <a:off x="8891626" y="3749040"/>
            <a:ext cx="457200" cy="457200"/>
          </a:xfrm>
          <a:prstGeom prst="ellipse">
            <a:avLst/>
          </a:prstGeom>
          <a:solidFill>
            <a:srgbClr val="0F766E"/>
          </a:solidFill>
          <a:ln/>
        </p:spPr>
      </p:sp>
      <p:pic>
        <p:nvPicPr>
          <p:cNvPr id="44" name="Image 9" descr="preencoded.png">    </p:cNvPr>
          <p:cNvPicPr>
            <a:picLocks noChangeAspect="1"/>
          </p:cNvPicPr>
          <p:nvPr/>
        </p:nvPicPr>
        <p:blipFill>
          <a:blip r:embed="rId10"/>
          <a:stretch>
            <a:fillRect/>
          </a:stretch>
        </p:blipFill>
        <p:spPr>
          <a:xfrm>
            <a:off x="8983066" y="3840480"/>
            <a:ext cx="274320" cy="274320"/>
          </a:xfrm>
          <a:prstGeom prst="rect">
            <a:avLst/>
          </a:prstGeom>
        </p:spPr>
      </p:pic>
      <p:sp>
        <p:nvSpPr>
          <p:cNvPr id="45" name="Text 32"/>
          <p:cNvSpPr txBox="1"/>
          <p:nvPr/>
        </p:nvSpPr>
        <p:spPr>
          <a:xfrm>
            <a:off x="7404811" y="3703320"/>
            <a:ext cx="1422806" cy="2103120"/>
          </a:xfrm>
          <a:prstGeom prst="rect">
            <a:avLst/>
          </a:prstGeom>
          <a:noFill/>
          <a:ln/>
        </p:spPr>
        <p:txBody>
          <a:bodyPr wrap="square" lIns="25400" tIns="25400" rIns="25400" bIns="25400" rtlCol="0" anchor="t"/>
          <a:lstStyle/>
          <a:p>
            <a:pPr indent="0" marL="0">
              <a:buNone/>
            </a:pPr>
            <a:r>
              <a:rPr lang="en-US" sz="1800" b="1" dirty="0">
                <a:solidFill>
                  <a:srgbClr val="0F766E"/>
                </a:solidFill>
              </a:rPr>
              <a:t>9 Navigation</a:t>
            </a:r>
            <a:endParaRPr lang="en-US" sz="1800" dirty="0"/>
          </a:p>
          <a:p>
            <a:pPr indent="0" marL="0">
              <a:buNone/>
            </a:pPr>
            <a:r>
              <a:rPr lang="en-US" sz="1600" dirty="0">
                <a:solidFill>
                  <a:srgbClr val="1F2937"/>
                </a:solidFill>
              </a:rPr>
              <a:t>Follow-up and missed-visit tasks.</a:t>
            </a:r>
            <a:endParaRPr lang="en-US" sz="1800" dirty="0"/>
          </a:p>
        </p:txBody>
      </p:sp>
      <p:sp>
        <p:nvSpPr>
          <p:cNvPr id="46" name="Shape 33"/>
          <p:cNvSpPr/>
          <p:nvPr/>
        </p:nvSpPr>
        <p:spPr>
          <a:xfrm>
            <a:off x="9623146" y="3657600"/>
            <a:ext cx="2108606" cy="2194560"/>
          </a:xfrm>
          <a:prstGeom prst="roundRect">
            <a:avLst>
              <a:gd name="adj" fmla="val 2602"/>
            </a:avLst>
          </a:prstGeom>
          <a:solidFill>
            <a:srgbClr val="EEF5F3"/>
          </a:solidFill>
          <a:ln w="12700">
            <a:solidFill>
              <a:srgbClr val="0F766E"/>
            </a:solidFill>
            <a:prstDash val="solid"/>
          </a:ln>
        </p:spPr>
      </p:sp>
      <p:sp>
        <p:nvSpPr>
          <p:cNvPr id="47" name="Shape 34"/>
          <p:cNvSpPr/>
          <p:nvPr/>
        </p:nvSpPr>
        <p:spPr>
          <a:xfrm>
            <a:off x="11183112" y="3749040"/>
            <a:ext cx="457200" cy="457200"/>
          </a:xfrm>
          <a:prstGeom prst="ellipse">
            <a:avLst/>
          </a:prstGeom>
          <a:solidFill>
            <a:srgbClr val="0F766E"/>
          </a:solidFill>
          <a:ln/>
        </p:spPr>
      </p:sp>
      <p:pic>
        <p:nvPicPr>
          <p:cNvPr id="48" name="Image 10" descr="preencoded.png">    </p:cNvPr>
          <p:cNvPicPr>
            <a:picLocks noChangeAspect="1"/>
          </p:cNvPicPr>
          <p:nvPr/>
        </p:nvPicPr>
        <p:blipFill>
          <a:blip r:embed="rId11"/>
          <a:stretch>
            <a:fillRect/>
          </a:stretch>
        </p:blipFill>
        <p:spPr>
          <a:xfrm>
            <a:off x="11274552" y="3840480"/>
            <a:ext cx="274320" cy="274320"/>
          </a:xfrm>
          <a:prstGeom prst="rect">
            <a:avLst/>
          </a:prstGeom>
        </p:spPr>
      </p:pic>
      <p:sp>
        <p:nvSpPr>
          <p:cNvPr id="49" name="Text 35"/>
          <p:cNvSpPr txBox="1"/>
          <p:nvPr/>
        </p:nvSpPr>
        <p:spPr>
          <a:xfrm>
            <a:off x="9696298" y="3703320"/>
            <a:ext cx="1422806" cy="2103120"/>
          </a:xfrm>
          <a:prstGeom prst="rect">
            <a:avLst/>
          </a:prstGeom>
          <a:noFill/>
          <a:ln/>
        </p:spPr>
        <p:txBody>
          <a:bodyPr wrap="square" lIns="25400" tIns="25400" rIns="25400" bIns="25400" rtlCol="0" anchor="t"/>
          <a:lstStyle/>
          <a:p>
            <a:pPr indent="0" marL="0">
              <a:buNone/>
            </a:pPr>
            <a:r>
              <a:rPr lang="en-US" sz="1800" b="1" dirty="0">
                <a:solidFill>
                  <a:srgbClr val="0F766E"/>
                </a:solidFill>
              </a:rPr>
              <a:t>10 District Dashboard</a:t>
            </a:r>
            <a:endParaRPr lang="en-US" sz="1800" dirty="0"/>
          </a:p>
          <a:p>
            <a:pPr indent="0" marL="0">
              <a:buNone/>
            </a:pPr>
            <a:r>
              <a:rPr lang="en-US" sz="1600" dirty="0">
                <a:solidFill>
                  <a:srgbClr val="1F2937"/>
                </a:solidFill>
              </a:rPr>
              <a:t>Aggregate indicators.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F766E"/>
          </a:solidFill>
          <a:ln/>
        </p:spPr>
      </p:sp>
      <p:sp>
        <p:nvSpPr>
          <p:cNvPr id="3" name="Text 1"/>
          <p:cNvSpPr txBox="1"/>
          <p:nvPr/>
        </p:nvSpPr>
        <p:spPr>
          <a:xfrm>
            <a:off x="457200" y="228600"/>
            <a:ext cx="10424160" cy="640080"/>
          </a:xfrm>
          <a:prstGeom prst="rect">
            <a:avLst/>
          </a:prstGeom>
          <a:noFill/>
          <a:ln/>
        </p:spPr>
        <p:txBody>
          <a:bodyPr wrap="square" lIns="0" tIns="0" rIns="0" bIns="0" rtlCol="0" anchor="ctr"/>
          <a:lstStyle/>
          <a:p>
            <a:pPr indent="0" marL="0">
              <a:buNone/>
            </a:pPr>
            <a:r>
              <a:rPr lang="en-US" sz="3000" b="1" dirty="0">
                <a:solidFill>
                  <a:srgbClr val="12305A"/>
                </a:solidFill>
              </a:rPr>
              <a:t>Complete Patient Workflow</a:t>
            </a:r>
            <a:endParaRPr lang="en-US" sz="3000" dirty="0"/>
          </a:p>
        </p:txBody>
      </p:sp>
      <p:sp>
        <p:nvSpPr>
          <p:cNvPr id="4" name="Shape 2"/>
          <p:cNvSpPr/>
          <p:nvPr/>
        </p:nvSpPr>
        <p:spPr>
          <a:xfrm>
            <a:off x="11064240" y="201168"/>
            <a:ext cx="658368" cy="658368"/>
          </a:xfrm>
          <a:prstGeom prst="ellipse">
            <a:avLst/>
          </a:prstGeom>
          <a:solidFill>
            <a:srgbClr val="0F766E"/>
          </a:solidFill>
          <a:ln/>
        </p:spPr>
      </p:sp>
      <p:pic>
        <p:nvPicPr>
          <p:cNvPr id="5" name="Image 0" descr="preencoded.png">    </p:cNvPr>
          <p:cNvPicPr>
            <a:picLocks noChangeAspect="1"/>
          </p:cNvPicPr>
          <p:nvPr/>
        </p:nvPicPr>
        <p:blipFill>
          <a:blip r:embed="rId1"/>
          <a:stretch>
            <a:fillRect/>
          </a:stretch>
        </p:blipFill>
        <p:spPr>
          <a:xfrm>
            <a:off x="11210544" y="347472"/>
            <a:ext cx="365760" cy="365760"/>
          </a:xfrm>
          <a:prstGeom prst="rect">
            <a:avLst/>
          </a:prstGeom>
        </p:spPr>
      </p:pic>
      <p:sp>
        <p:nvSpPr>
          <p:cNvPr id="6" name="Shape 3"/>
          <p:cNvSpPr/>
          <p:nvPr/>
        </p:nvSpPr>
        <p:spPr>
          <a:xfrm>
            <a:off x="457200" y="896112"/>
            <a:ext cx="1097280" cy="45720"/>
          </a:xfrm>
          <a:prstGeom prst="rect">
            <a:avLst/>
          </a:prstGeom>
          <a:solidFill>
            <a:srgbClr val="EA580C"/>
          </a:solidFill>
          <a:ln/>
        </p:spPr>
      </p:sp>
      <p:sp>
        <p:nvSpPr>
          <p:cNvPr id="7" name="Text 4"/>
          <p:cNvSpPr txBox="1"/>
          <p:nvPr/>
        </p:nvSpPr>
        <p:spPr>
          <a:xfrm>
            <a:off x="457200" y="6473952"/>
            <a:ext cx="10058400" cy="274320"/>
          </a:xfrm>
          <a:prstGeom prst="rect">
            <a:avLst/>
          </a:prstGeom>
          <a:noFill/>
          <a:ln/>
        </p:spPr>
        <p:txBody>
          <a:bodyPr wrap="square" lIns="0" tIns="0" rIns="0" bIns="0" rtlCol="0" anchor="ctr"/>
          <a:lstStyle/>
          <a:p>
            <a:pPr indent="0" marL="0">
              <a:buNone/>
            </a:pPr>
            <a:r>
              <a:rPr lang="en-US" sz="1000" dirty="0">
                <a:solidFill>
                  <a:srgbClr val="6B7280"/>
                </a:solidFill>
              </a:rPr>
              <a:t>Hackathon demonstration only — NOT FOR CLINICAL USE  |  AAROGYA DRISHTI · AAROHAN 2026</a:t>
            </a:r>
            <a:endParaRPr lang="en-US" sz="1000" dirty="0"/>
          </a:p>
        </p:txBody>
      </p:sp>
      <p:sp>
        <p:nvSpPr>
          <p:cNvPr id="8" name="Text 5"/>
          <p:cNvSpPr txBox="1"/>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rPr>
              <a:t>7</a:t>
            </a:r>
            <a:endParaRPr lang="en-US" sz="1000" dirty="0"/>
          </a:p>
        </p:txBody>
      </p:sp>
      <p:sp>
        <p:nvSpPr>
          <p:cNvPr id="10" name="Shape 6"/>
          <p:cNvSpPr/>
          <p:nvPr/>
        </p:nvSpPr>
        <p:spPr>
          <a:xfrm>
            <a:off x="457200" y="1188720"/>
            <a:ext cx="1375519" cy="685800"/>
          </a:xfrm>
          <a:prstGeom prst="roundRect">
            <a:avLst>
              <a:gd name="adj" fmla="val 10667"/>
            </a:avLst>
          </a:prstGeom>
          <a:solidFill>
            <a:srgbClr val="0F766E"/>
          </a:solidFill>
          <a:ln/>
        </p:spPr>
      </p:sp>
      <p:sp>
        <p:nvSpPr>
          <p:cNvPr id="11" name="Text 7"/>
          <p:cNvSpPr txBox="1"/>
          <p:nvPr/>
        </p:nvSpPr>
        <p:spPr>
          <a:xfrm>
            <a:off x="457200" y="1188720"/>
            <a:ext cx="1375519" cy="68580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Registration</a:t>
            </a:r>
            <a:endParaRPr lang="en-US" sz="1400" dirty="0"/>
          </a:p>
        </p:txBody>
      </p:sp>
      <p:sp>
        <p:nvSpPr>
          <p:cNvPr id="12" name="Text 8"/>
          <p:cNvSpPr txBox="1"/>
          <p:nvPr/>
        </p:nvSpPr>
        <p:spPr>
          <a:xfrm>
            <a:off x="1832719" y="1188720"/>
            <a:ext cx="274320" cy="685800"/>
          </a:xfrm>
          <a:prstGeom prst="rect">
            <a:avLst/>
          </a:prstGeom>
          <a:noFill/>
          <a:ln/>
        </p:spPr>
        <p:txBody>
          <a:bodyPr wrap="square" lIns="0" tIns="0" rIns="0" bIns="0" rtlCol="0" anchor="ctr"/>
          <a:lstStyle/>
          <a:p>
            <a:pPr algn="ctr" indent="0" marL="0">
              <a:buNone/>
            </a:pPr>
            <a:r>
              <a:rPr lang="en-US" sz="2000" b="1" dirty="0">
                <a:solidFill>
                  <a:srgbClr val="EA580C"/>
                </a:solidFill>
              </a:rPr>
              <a:t>›</a:t>
            </a:r>
            <a:endParaRPr lang="en-US" sz="2000" dirty="0"/>
          </a:p>
        </p:txBody>
      </p:sp>
      <p:sp>
        <p:nvSpPr>
          <p:cNvPr id="13" name="Shape 9"/>
          <p:cNvSpPr/>
          <p:nvPr/>
        </p:nvSpPr>
        <p:spPr>
          <a:xfrm>
            <a:off x="2107039" y="1188720"/>
            <a:ext cx="1375519" cy="685800"/>
          </a:xfrm>
          <a:prstGeom prst="roundRect">
            <a:avLst>
              <a:gd name="adj" fmla="val 10667"/>
            </a:avLst>
          </a:prstGeom>
          <a:solidFill>
            <a:srgbClr val="0F766E"/>
          </a:solidFill>
          <a:ln/>
        </p:spPr>
      </p:sp>
      <p:sp>
        <p:nvSpPr>
          <p:cNvPr id="14" name="Text 10"/>
          <p:cNvSpPr txBox="1"/>
          <p:nvPr/>
        </p:nvSpPr>
        <p:spPr>
          <a:xfrm>
            <a:off x="2107039" y="1188720"/>
            <a:ext cx="1375519" cy="68580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Consent</a:t>
            </a:r>
            <a:endParaRPr lang="en-US" sz="1400" dirty="0"/>
          </a:p>
        </p:txBody>
      </p:sp>
      <p:sp>
        <p:nvSpPr>
          <p:cNvPr id="15" name="Text 11"/>
          <p:cNvSpPr txBox="1"/>
          <p:nvPr/>
        </p:nvSpPr>
        <p:spPr>
          <a:xfrm>
            <a:off x="3482558" y="1188720"/>
            <a:ext cx="274320" cy="685800"/>
          </a:xfrm>
          <a:prstGeom prst="rect">
            <a:avLst/>
          </a:prstGeom>
          <a:noFill/>
          <a:ln/>
        </p:spPr>
        <p:txBody>
          <a:bodyPr wrap="square" lIns="0" tIns="0" rIns="0" bIns="0" rtlCol="0" anchor="ctr"/>
          <a:lstStyle/>
          <a:p>
            <a:pPr algn="ctr" indent="0" marL="0">
              <a:buNone/>
            </a:pPr>
            <a:r>
              <a:rPr lang="en-US" sz="2000" b="1" dirty="0">
                <a:solidFill>
                  <a:srgbClr val="EA580C"/>
                </a:solidFill>
              </a:rPr>
              <a:t>›</a:t>
            </a:r>
            <a:endParaRPr lang="en-US" sz="2000" dirty="0"/>
          </a:p>
        </p:txBody>
      </p:sp>
      <p:sp>
        <p:nvSpPr>
          <p:cNvPr id="16" name="Shape 12"/>
          <p:cNvSpPr/>
          <p:nvPr/>
        </p:nvSpPr>
        <p:spPr>
          <a:xfrm>
            <a:off x="3756878" y="1188720"/>
            <a:ext cx="1375519" cy="685800"/>
          </a:xfrm>
          <a:prstGeom prst="roundRect">
            <a:avLst>
              <a:gd name="adj" fmla="val 10667"/>
            </a:avLst>
          </a:prstGeom>
          <a:solidFill>
            <a:srgbClr val="0F766E"/>
          </a:solidFill>
          <a:ln/>
        </p:spPr>
      </p:sp>
      <p:sp>
        <p:nvSpPr>
          <p:cNvPr id="17" name="Text 13"/>
          <p:cNvSpPr txBox="1"/>
          <p:nvPr/>
        </p:nvSpPr>
        <p:spPr>
          <a:xfrm>
            <a:off x="3756878" y="1188720"/>
            <a:ext cx="1375519" cy="68580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Medical History</a:t>
            </a:r>
            <a:endParaRPr lang="en-US" sz="1400" dirty="0"/>
          </a:p>
        </p:txBody>
      </p:sp>
      <p:sp>
        <p:nvSpPr>
          <p:cNvPr id="18" name="Text 14"/>
          <p:cNvSpPr txBox="1"/>
          <p:nvPr/>
        </p:nvSpPr>
        <p:spPr>
          <a:xfrm>
            <a:off x="5132397" y="1188720"/>
            <a:ext cx="274320" cy="685800"/>
          </a:xfrm>
          <a:prstGeom prst="rect">
            <a:avLst/>
          </a:prstGeom>
          <a:noFill/>
          <a:ln/>
        </p:spPr>
        <p:txBody>
          <a:bodyPr wrap="square" lIns="0" tIns="0" rIns="0" bIns="0" rtlCol="0" anchor="ctr"/>
          <a:lstStyle/>
          <a:p>
            <a:pPr algn="ctr" indent="0" marL="0">
              <a:buNone/>
            </a:pPr>
            <a:r>
              <a:rPr lang="en-US" sz="2000" b="1" dirty="0">
                <a:solidFill>
                  <a:srgbClr val="EA580C"/>
                </a:solidFill>
              </a:rPr>
              <a:t>›</a:t>
            </a:r>
            <a:endParaRPr lang="en-US" sz="2000" dirty="0"/>
          </a:p>
        </p:txBody>
      </p:sp>
      <p:sp>
        <p:nvSpPr>
          <p:cNvPr id="19" name="Shape 15"/>
          <p:cNvSpPr/>
          <p:nvPr/>
        </p:nvSpPr>
        <p:spPr>
          <a:xfrm>
            <a:off x="5406717" y="1188720"/>
            <a:ext cx="1375519" cy="685800"/>
          </a:xfrm>
          <a:prstGeom prst="roundRect">
            <a:avLst>
              <a:gd name="adj" fmla="val 10667"/>
            </a:avLst>
          </a:prstGeom>
          <a:solidFill>
            <a:srgbClr val="0F766E"/>
          </a:solidFill>
          <a:ln/>
        </p:spPr>
      </p:sp>
      <p:sp>
        <p:nvSpPr>
          <p:cNvPr id="20" name="Text 16"/>
          <p:cNvSpPr txBox="1"/>
          <p:nvPr/>
        </p:nvSpPr>
        <p:spPr>
          <a:xfrm>
            <a:off x="5406717" y="1188720"/>
            <a:ext cx="1375519" cy="68580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Oral Photo Capture</a:t>
            </a:r>
            <a:endParaRPr lang="en-US" sz="1400" dirty="0"/>
          </a:p>
        </p:txBody>
      </p:sp>
      <p:sp>
        <p:nvSpPr>
          <p:cNvPr id="21" name="Text 17"/>
          <p:cNvSpPr txBox="1"/>
          <p:nvPr/>
        </p:nvSpPr>
        <p:spPr>
          <a:xfrm>
            <a:off x="6782235" y="1188720"/>
            <a:ext cx="274320" cy="685800"/>
          </a:xfrm>
          <a:prstGeom prst="rect">
            <a:avLst/>
          </a:prstGeom>
          <a:noFill/>
          <a:ln/>
        </p:spPr>
        <p:txBody>
          <a:bodyPr wrap="square" lIns="0" tIns="0" rIns="0" bIns="0" rtlCol="0" anchor="ctr"/>
          <a:lstStyle/>
          <a:p>
            <a:pPr algn="ctr" indent="0" marL="0">
              <a:buNone/>
            </a:pPr>
            <a:r>
              <a:rPr lang="en-US" sz="2000" b="1" dirty="0">
                <a:solidFill>
                  <a:srgbClr val="EA580C"/>
                </a:solidFill>
              </a:rPr>
              <a:t>›</a:t>
            </a:r>
            <a:endParaRPr lang="en-US" sz="2000" dirty="0"/>
          </a:p>
        </p:txBody>
      </p:sp>
      <p:sp>
        <p:nvSpPr>
          <p:cNvPr id="22" name="Shape 18"/>
          <p:cNvSpPr/>
          <p:nvPr/>
        </p:nvSpPr>
        <p:spPr>
          <a:xfrm>
            <a:off x="7056555" y="1188720"/>
            <a:ext cx="1375519" cy="685800"/>
          </a:xfrm>
          <a:prstGeom prst="roundRect">
            <a:avLst>
              <a:gd name="adj" fmla="val 10667"/>
            </a:avLst>
          </a:prstGeom>
          <a:solidFill>
            <a:srgbClr val="0F766E"/>
          </a:solidFill>
          <a:ln/>
        </p:spPr>
      </p:sp>
      <p:sp>
        <p:nvSpPr>
          <p:cNvPr id="23" name="Text 19"/>
          <p:cNvSpPr txBox="1"/>
          <p:nvPr/>
        </p:nvSpPr>
        <p:spPr>
          <a:xfrm>
            <a:off x="7056555" y="1188720"/>
            <a:ext cx="1375519" cy="68580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Image Quality Check</a:t>
            </a:r>
            <a:endParaRPr lang="en-US" sz="1400" dirty="0"/>
          </a:p>
        </p:txBody>
      </p:sp>
      <p:sp>
        <p:nvSpPr>
          <p:cNvPr id="24" name="Text 20"/>
          <p:cNvSpPr txBox="1"/>
          <p:nvPr/>
        </p:nvSpPr>
        <p:spPr>
          <a:xfrm>
            <a:off x="8432074" y="1188720"/>
            <a:ext cx="274320" cy="685800"/>
          </a:xfrm>
          <a:prstGeom prst="rect">
            <a:avLst/>
          </a:prstGeom>
          <a:noFill/>
          <a:ln/>
        </p:spPr>
        <p:txBody>
          <a:bodyPr wrap="square" lIns="0" tIns="0" rIns="0" bIns="0" rtlCol="0" anchor="ctr"/>
          <a:lstStyle/>
          <a:p>
            <a:pPr algn="ctr" indent="0" marL="0">
              <a:buNone/>
            </a:pPr>
            <a:r>
              <a:rPr lang="en-US" sz="2000" b="1" dirty="0">
                <a:solidFill>
                  <a:srgbClr val="EA580C"/>
                </a:solidFill>
              </a:rPr>
              <a:t>›</a:t>
            </a:r>
            <a:endParaRPr lang="en-US" sz="2000" dirty="0"/>
          </a:p>
        </p:txBody>
      </p:sp>
      <p:sp>
        <p:nvSpPr>
          <p:cNvPr id="25" name="Shape 21"/>
          <p:cNvSpPr/>
          <p:nvPr/>
        </p:nvSpPr>
        <p:spPr>
          <a:xfrm>
            <a:off x="8706394" y="1188720"/>
            <a:ext cx="1375519" cy="685800"/>
          </a:xfrm>
          <a:prstGeom prst="roundRect">
            <a:avLst>
              <a:gd name="adj" fmla="val 10667"/>
            </a:avLst>
          </a:prstGeom>
          <a:solidFill>
            <a:srgbClr val="0F766E"/>
          </a:solidFill>
          <a:ln/>
        </p:spPr>
      </p:sp>
      <p:sp>
        <p:nvSpPr>
          <p:cNvPr id="26" name="Text 22"/>
          <p:cNvSpPr txBox="1"/>
          <p:nvPr/>
        </p:nvSpPr>
        <p:spPr>
          <a:xfrm>
            <a:off x="8706394" y="1188720"/>
            <a:ext cx="1375519" cy="68580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Research-Demo AI</a:t>
            </a:r>
            <a:endParaRPr lang="en-US" sz="1400" dirty="0"/>
          </a:p>
        </p:txBody>
      </p:sp>
      <p:sp>
        <p:nvSpPr>
          <p:cNvPr id="27" name="Text 23"/>
          <p:cNvSpPr txBox="1"/>
          <p:nvPr/>
        </p:nvSpPr>
        <p:spPr>
          <a:xfrm>
            <a:off x="10081913" y="1188720"/>
            <a:ext cx="274320" cy="685800"/>
          </a:xfrm>
          <a:prstGeom prst="rect">
            <a:avLst/>
          </a:prstGeom>
          <a:noFill/>
          <a:ln/>
        </p:spPr>
        <p:txBody>
          <a:bodyPr wrap="square" lIns="0" tIns="0" rIns="0" bIns="0" rtlCol="0" anchor="ctr"/>
          <a:lstStyle/>
          <a:p>
            <a:pPr algn="ctr" indent="0" marL="0">
              <a:buNone/>
            </a:pPr>
            <a:r>
              <a:rPr lang="en-US" sz="2000" b="1" dirty="0">
                <a:solidFill>
                  <a:srgbClr val="EA580C"/>
                </a:solidFill>
              </a:rPr>
              <a:t>›</a:t>
            </a:r>
            <a:endParaRPr lang="en-US" sz="2000" dirty="0"/>
          </a:p>
        </p:txBody>
      </p:sp>
      <p:sp>
        <p:nvSpPr>
          <p:cNvPr id="28" name="Shape 24"/>
          <p:cNvSpPr/>
          <p:nvPr/>
        </p:nvSpPr>
        <p:spPr>
          <a:xfrm>
            <a:off x="10356233" y="1188720"/>
            <a:ext cx="1375519" cy="685800"/>
          </a:xfrm>
          <a:prstGeom prst="roundRect">
            <a:avLst>
              <a:gd name="adj" fmla="val 10667"/>
            </a:avLst>
          </a:prstGeom>
          <a:solidFill>
            <a:srgbClr val="0F766E"/>
          </a:solidFill>
          <a:ln/>
        </p:spPr>
      </p:sp>
      <p:sp>
        <p:nvSpPr>
          <p:cNvPr id="29" name="Text 25"/>
          <p:cNvSpPr txBox="1"/>
          <p:nvPr/>
        </p:nvSpPr>
        <p:spPr>
          <a:xfrm>
            <a:off x="10356233" y="1188720"/>
            <a:ext cx="1375519" cy="68580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Independent MO Review</a:t>
            </a:r>
            <a:endParaRPr lang="en-US" sz="1400" dirty="0"/>
          </a:p>
        </p:txBody>
      </p:sp>
      <p:sp>
        <p:nvSpPr>
          <p:cNvPr id="30" name="Shape 26"/>
          <p:cNvSpPr/>
          <p:nvPr/>
        </p:nvSpPr>
        <p:spPr>
          <a:xfrm>
            <a:off x="457200" y="2148840"/>
            <a:ext cx="1375519" cy="685800"/>
          </a:xfrm>
          <a:prstGeom prst="roundRect">
            <a:avLst>
              <a:gd name="adj" fmla="val 10667"/>
            </a:avLst>
          </a:prstGeom>
          <a:solidFill>
            <a:srgbClr val="0F766E"/>
          </a:solidFill>
          <a:ln/>
        </p:spPr>
      </p:sp>
      <p:sp>
        <p:nvSpPr>
          <p:cNvPr id="31" name="Text 27"/>
          <p:cNvSpPr txBox="1"/>
          <p:nvPr/>
        </p:nvSpPr>
        <p:spPr>
          <a:xfrm>
            <a:off x="457200" y="2148840"/>
            <a:ext cx="1375519" cy="68580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Specialist Referral</a:t>
            </a:r>
            <a:endParaRPr lang="en-US" sz="1400" dirty="0"/>
          </a:p>
        </p:txBody>
      </p:sp>
      <p:sp>
        <p:nvSpPr>
          <p:cNvPr id="32" name="Text 28"/>
          <p:cNvSpPr txBox="1"/>
          <p:nvPr/>
        </p:nvSpPr>
        <p:spPr>
          <a:xfrm>
            <a:off x="1832719" y="2148840"/>
            <a:ext cx="274320" cy="685800"/>
          </a:xfrm>
          <a:prstGeom prst="rect">
            <a:avLst/>
          </a:prstGeom>
          <a:noFill/>
          <a:ln/>
        </p:spPr>
        <p:txBody>
          <a:bodyPr wrap="square" lIns="0" tIns="0" rIns="0" bIns="0" rtlCol="0" anchor="ctr"/>
          <a:lstStyle/>
          <a:p>
            <a:pPr algn="ctr" indent="0" marL="0">
              <a:buNone/>
            </a:pPr>
            <a:r>
              <a:rPr lang="en-US" sz="2000" b="1" dirty="0">
                <a:solidFill>
                  <a:srgbClr val="EA580C"/>
                </a:solidFill>
              </a:rPr>
              <a:t>›</a:t>
            </a:r>
            <a:endParaRPr lang="en-US" sz="2000" dirty="0"/>
          </a:p>
        </p:txBody>
      </p:sp>
      <p:sp>
        <p:nvSpPr>
          <p:cNvPr id="33" name="Shape 29"/>
          <p:cNvSpPr/>
          <p:nvPr/>
        </p:nvSpPr>
        <p:spPr>
          <a:xfrm>
            <a:off x="2107039" y="2148840"/>
            <a:ext cx="1375519" cy="685800"/>
          </a:xfrm>
          <a:prstGeom prst="roundRect">
            <a:avLst>
              <a:gd name="adj" fmla="val 10667"/>
            </a:avLst>
          </a:prstGeom>
          <a:solidFill>
            <a:srgbClr val="0F766E"/>
          </a:solidFill>
          <a:ln/>
        </p:spPr>
      </p:sp>
      <p:sp>
        <p:nvSpPr>
          <p:cNvPr id="34" name="Text 30"/>
          <p:cNvSpPr txBox="1"/>
          <p:nvPr/>
        </p:nvSpPr>
        <p:spPr>
          <a:xfrm>
            <a:off x="2107039" y="2148840"/>
            <a:ext cx="1375519" cy="68580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Video / Physical Consult</a:t>
            </a:r>
            <a:endParaRPr lang="en-US" sz="1400" dirty="0"/>
          </a:p>
        </p:txBody>
      </p:sp>
      <p:sp>
        <p:nvSpPr>
          <p:cNvPr id="35" name="Text 31"/>
          <p:cNvSpPr txBox="1"/>
          <p:nvPr/>
        </p:nvSpPr>
        <p:spPr>
          <a:xfrm>
            <a:off x="3482558" y="2148840"/>
            <a:ext cx="274320" cy="685800"/>
          </a:xfrm>
          <a:prstGeom prst="rect">
            <a:avLst/>
          </a:prstGeom>
          <a:noFill/>
          <a:ln/>
        </p:spPr>
        <p:txBody>
          <a:bodyPr wrap="square" lIns="0" tIns="0" rIns="0" bIns="0" rtlCol="0" anchor="ctr"/>
          <a:lstStyle/>
          <a:p>
            <a:pPr algn="ctr" indent="0" marL="0">
              <a:buNone/>
            </a:pPr>
            <a:r>
              <a:rPr lang="en-US" sz="2000" b="1" dirty="0">
                <a:solidFill>
                  <a:srgbClr val="EA580C"/>
                </a:solidFill>
              </a:rPr>
              <a:t>›</a:t>
            </a:r>
            <a:endParaRPr lang="en-US" sz="2000" dirty="0"/>
          </a:p>
        </p:txBody>
      </p:sp>
      <p:sp>
        <p:nvSpPr>
          <p:cNvPr id="36" name="Shape 32"/>
          <p:cNvSpPr/>
          <p:nvPr/>
        </p:nvSpPr>
        <p:spPr>
          <a:xfrm>
            <a:off x="3756878" y="2148840"/>
            <a:ext cx="1375519" cy="685800"/>
          </a:xfrm>
          <a:prstGeom prst="roundRect">
            <a:avLst>
              <a:gd name="adj" fmla="val 10667"/>
            </a:avLst>
          </a:prstGeom>
          <a:solidFill>
            <a:srgbClr val="0F766E"/>
          </a:solidFill>
          <a:ln/>
        </p:spPr>
      </p:sp>
      <p:sp>
        <p:nvSpPr>
          <p:cNvPr id="37" name="Text 33"/>
          <p:cNvSpPr txBox="1"/>
          <p:nvPr/>
        </p:nvSpPr>
        <p:spPr>
          <a:xfrm>
            <a:off x="3756878" y="2148840"/>
            <a:ext cx="1375519" cy="68580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Simulated Investigation</a:t>
            </a:r>
            <a:endParaRPr lang="en-US" sz="1400" dirty="0"/>
          </a:p>
        </p:txBody>
      </p:sp>
      <p:sp>
        <p:nvSpPr>
          <p:cNvPr id="38" name="Text 34"/>
          <p:cNvSpPr txBox="1"/>
          <p:nvPr/>
        </p:nvSpPr>
        <p:spPr>
          <a:xfrm>
            <a:off x="5132397" y="2148840"/>
            <a:ext cx="274320" cy="685800"/>
          </a:xfrm>
          <a:prstGeom prst="rect">
            <a:avLst/>
          </a:prstGeom>
          <a:noFill/>
          <a:ln/>
        </p:spPr>
        <p:txBody>
          <a:bodyPr wrap="square" lIns="0" tIns="0" rIns="0" bIns="0" rtlCol="0" anchor="ctr"/>
          <a:lstStyle/>
          <a:p>
            <a:pPr algn="ctr" indent="0" marL="0">
              <a:buNone/>
            </a:pPr>
            <a:r>
              <a:rPr lang="en-US" sz="2000" b="1" dirty="0">
                <a:solidFill>
                  <a:srgbClr val="EA580C"/>
                </a:solidFill>
              </a:rPr>
              <a:t>›</a:t>
            </a:r>
            <a:endParaRPr lang="en-US" sz="2000" dirty="0"/>
          </a:p>
        </p:txBody>
      </p:sp>
      <p:sp>
        <p:nvSpPr>
          <p:cNvPr id="39" name="Shape 35"/>
          <p:cNvSpPr/>
          <p:nvPr/>
        </p:nvSpPr>
        <p:spPr>
          <a:xfrm>
            <a:off x="5406717" y="2148840"/>
            <a:ext cx="1375519" cy="685800"/>
          </a:xfrm>
          <a:prstGeom prst="roundRect">
            <a:avLst>
              <a:gd name="adj" fmla="val 10667"/>
            </a:avLst>
          </a:prstGeom>
          <a:solidFill>
            <a:srgbClr val="0F766E"/>
          </a:solidFill>
          <a:ln/>
        </p:spPr>
      </p:sp>
      <p:sp>
        <p:nvSpPr>
          <p:cNvPr id="40" name="Text 36"/>
          <p:cNvSpPr txBox="1"/>
          <p:nvPr/>
        </p:nvSpPr>
        <p:spPr>
          <a:xfrm>
            <a:off x="5406717" y="2148840"/>
            <a:ext cx="1375519" cy="68580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Clinician-Entered Result</a:t>
            </a:r>
            <a:endParaRPr lang="en-US" sz="1400" dirty="0"/>
          </a:p>
        </p:txBody>
      </p:sp>
      <p:sp>
        <p:nvSpPr>
          <p:cNvPr id="41" name="Text 37"/>
          <p:cNvSpPr txBox="1"/>
          <p:nvPr/>
        </p:nvSpPr>
        <p:spPr>
          <a:xfrm>
            <a:off x="6782235" y="2148840"/>
            <a:ext cx="274320" cy="685800"/>
          </a:xfrm>
          <a:prstGeom prst="rect">
            <a:avLst/>
          </a:prstGeom>
          <a:noFill/>
          <a:ln/>
        </p:spPr>
        <p:txBody>
          <a:bodyPr wrap="square" lIns="0" tIns="0" rIns="0" bIns="0" rtlCol="0" anchor="ctr"/>
          <a:lstStyle/>
          <a:p>
            <a:pPr algn="ctr" indent="0" marL="0">
              <a:buNone/>
            </a:pPr>
            <a:r>
              <a:rPr lang="en-US" sz="2000" b="1" dirty="0">
                <a:solidFill>
                  <a:srgbClr val="EA580C"/>
                </a:solidFill>
              </a:rPr>
              <a:t>›</a:t>
            </a:r>
            <a:endParaRPr lang="en-US" sz="2000" dirty="0"/>
          </a:p>
        </p:txBody>
      </p:sp>
      <p:sp>
        <p:nvSpPr>
          <p:cNvPr id="42" name="Shape 38"/>
          <p:cNvSpPr/>
          <p:nvPr/>
        </p:nvSpPr>
        <p:spPr>
          <a:xfrm>
            <a:off x="7056555" y="2148840"/>
            <a:ext cx="1375519" cy="685800"/>
          </a:xfrm>
          <a:prstGeom prst="roundRect">
            <a:avLst>
              <a:gd name="adj" fmla="val 10667"/>
            </a:avLst>
          </a:prstGeom>
          <a:solidFill>
            <a:srgbClr val="0F766E"/>
          </a:solidFill>
          <a:ln/>
        </p:spPr>
      </p:sp>
      <p:sp>
        <p:nvSpPr>
          <p:cNvPr id="43" name="Text 39"/>
          <p:cNvSpPr txBox="1"/>
          <p:nvPr/>
        </p:nvSpPr>
        <p:spPr>
          <a:xfrm>
            <a:off x="7056555" y="2148840"/>
            <a:ext cx="1375519" cy="68580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Navigation &amp; Follow-up</a:t>
            </a:r>
            <a:endParaRPr lang="en-US" sz="1400" dirty="0"/>
          </a:p>
        </p:txBody>
      </p:sp>
      <p:sp>
        <p:nvSpPr>
          <p:cNvPr id="44" name="Text 40"/>
          <p:cNvSpPr txBox="1"/>
          <p:nvPr/>
        </p:nvSpPr>
        <p:spPr>
          <a:xfrm>
            <a:off x="8432074" y="2148840"/>
            <a:ext cx="274320" cy="685800"/>
          </a:xfrm>
          <a:prstGeom prst="rect">
            <a:avLst/>
          </a:prstGeom>
          <a:noFill/>
          <a:ln/>
        </p:spPr>
        <p:txBody>
          <a:bodyPr wrap="square" lIns="0" tIns="0" rIns="0" bIns="0" rtlCol="0" anchor="ctr"/>
          <a:lstStyle/>
          <a:p>
            <a:pPr algn="ctr" indent="0" marL="0">
              <a:buNone/>
            </a:pPr>
            <a:r>
              <a:rPr lang="en-US" sz="2000" b="1" dirty="0">
                <a:solidFill>
                  <a:srgbClr val="EA580C"/>
                </a:solidFill>
              </a:rPr>
              <a:t>›</a:t>
            </a:r>
            <a:endParaRPr lang="en-US" sz="2000" dirty="0"/>
          </a:p>
        </p:txBody>
      </p:sp>
      <p:sp>
        <p:nvSpPr>
          <p:cNvPr id="45" name="Shape 41"/>
          <p:cNvSpPr/>
          <p:nvPr/>
        </p:nvSpPr>
        <p:spPr>
          <a:xfrm>
            <a:off x="8706394" y="2148840"/>
            <a:ext cx="1375519" cy="685800"/>
          </a:xfrm>
          <a:prstGeom prst="roundRect">
            <a:avLst>
              <a:gd name="adj" fmla="val 10667"/>
            </a:avLst>
          </a:prstGeom>
          <a:solidFill>
            <a:srgbClr val="0F766E"/>
          </a:solidFill>
          <a:ln/>
        </p:spPr>
      </p:sp>
      <p:sp>
        <p:nvSpPr>
          <p:cNvPr id="46" name="Text 42"/>
          <p:cNvSpPr txBox="1"/>
          <p:nvPr/>
        </p:nvSpPr>
        <p:spPr>
          <a:xfrm>
            <a:off x="8706394" y="2148840"/>
            <a:ext cx="1375519" cy="68580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Aggregate Dashboard</a:t>
            </a:r>
            <a:endParaRPr lang="en-US" sz="1400" dirty="0"/>
          </a:p>
        </p:txBody>
      </p:sp>
      <p:sp>
        <p:nvSpPr>
          <p:cNvPr id="47" name="Shape 43"/>
          <p:cNvSpPr/>
          <p:nvPr/>
        </p:nvSpPr>
        <p:spPr>
          <a:xfrm>
            <a:off x="457200" y="3291840"/>
            <a:ext cx="2681478" cy="1097280"/>
          </a:xfrm>
          <a:prstGeom prst="roundRect">
            <a:avLst>
              <a:gd name="adj" fmla="val 5000"/>
            </a:avLst>
          </a:prstGeom>
          <a:solidFill>
            <a:srgbClr val="EEF5F3"/>
          </a:solidFill>
          <a:ln w="12700">
            <a:solidFill>
              <a:srgbClr val="0F766E"/>
            </a:solidFill>
            <a:prstDash val="solid"/>
          </a:ln>
        </p:spPr>
      </p:sp>
      <p:sp>
        <p:nvSpPr>
          <p:cNvPr id="48" name="Text 44"/>
          <p:cNvSpPr txBox="1"/>
          <p:nvPr/>
        </p:nvSpPr>
        <p:spPr>
          <a:xfrm>
            <a:off x="530352" y="3337560"/>
            <a:ext cx="2535174" cy="1005840"/>
          </a:xfrm>
          <a:prstGeom prst="rect">
            <a:avLst/>
          </a:prstGeom>
          <a:noFill/>
          <a:ln/>
        </p:spPr>
        <p:txBody>
          <a:bodyPr wrap="square" lIns="25400" tIns="25400" rIns="25400" bIns="25400" rtlCol="0" anchor="t"/>
          <a:lstStyle/>
          <a:p>
            <a:pPr indent="0" marL="0">
              <a:buNone/>
            </a:pPr>
            <a:r>
              <a:rPr lang="en-US" sz="1500" b="1" dirty="0">
                <a:solidFill>
                  <a:srgbClr val="0F766E"/>
                </a:solidFill>
              </a:rPr>
              <a:t>Poor-quality image</a:t>
            </a:r>
            <a:endParaRPr lang="en-US" sz="1500" dirty="0"/>
          </a:p>
          <a:p>
            <a:pPr indent="0" marL="0">
              <a:buNone/>
            </a:pPr>
            <a:r>
              <a:rPr lang="en-US" sz="1300" dirty="0">
                <a:solidFill>
                  <a:srgbClr val="1F2937"/>
                </a:solidFill>
              </a:rPr>
              <a:t>→ request recapture</a:t>
            </a:r>
            <a:endParaRPr lang="en-US" sz="1500" dirty="0"/>
          </a:p>
        </p:txBody>
      </p:sp>
      <p:sp>
        <p:nvSpPr>
          <p:cNvPr id="49" name="Shape 45"/>
          <p:cNvSpPr/>
          <p:nvPr/>
        </p:nvSpPr>
        <p:spPr>
          <a:xfrm>
            <a:off x="3321558" y="3291840"/>
            <a:ext cx="2681478" cy="1097280"/>
          </a:xfrm>
          <a:prstGeom prst="roundRect">
            <a:avLst>
              <a:gd name="adj" fmla="val 5000"/>
            </a:avLst>
          </a:prstGeom>
          <a:solidFill>
            <a:srgbClr val="EEF5F3"/>
          </a:solidFill>
          <a:ln w="12700">
            <a:solidFill>
              <a:srgbClr val="0F766E"/>
            </a:solidFill>
            <a:prstDash val="solid"/>
          </a:ln>
        </p:spPr>
      </p:sp>
      <p:sp>
        <p:nvSpPr>
          <p:cNvPr id="50" name="Text 46"/>
          <p:cNvSpPr txBox="1"/>
          <p:nvPr/>
        </p:nvSpPr>
        <p:spPr>
          <a:xfrm>
            <a:off x="3394710" y="3337560"/>
            <a:ext cx="2535174" cy="1005840"/>
          </a:xfrm>
          <a:prstGeom prst="rect">
            <a:avLst/>
          </a:prstGeom>
          <a:noFill/>
          <a:ln/>
        </p:spPr>
        <p:txBody>
          <a:bodyPr wrap="square" lIns="25400" tIns="25400" rIns="25400" bIns="25400" rtlCol="0" anchor="t"/>
          <a:lstStyle/>
          <a:p>
            <a:pPr indent="0" marL="0">
              <a:buNone/>
            </a:pPr>
            <a:r>
              <a:rPr lang="en-US" sz="1500" b="1" dirty="0">
                <a:solidFill>
                  <a:srgbClr val="0F766E"/>
                </a:solidFill>
              </a:rPr>
              <a:t>AI unavailable</a:t>
            </a:r>
            <a:endParaRPr lang="en-US" sz="1500" dirty="0"/>
          </a:p>
          <a:p>
            <a:pPr indent="0" marL="0">
              <a:buNone/>
            </a:pPr>
            <a:r>
              <a:rPr lang="en-US" sz="1300" dirty="0">
                <a:solidFill>
                  <a:srgbClr val="1F2937"/>
                </a:solidFill>
              </a:rPr>
              <a:t>→ continue workflow without AI</a:t>
            </a:r>
            <a:endParaRPr lang="en-US" sz="1500" dirty="0"/>
          </a:p>
        </p:txBody>
      </p:sp>
      <p:sp>
        <p:nvSpPr>
          <p:cNvPr id="51" name="Shape 47"/>
          <p:cNvSpPr/>
          <p:nvPr/>
        </p:nvSpPr>
        <p:spPr>
          <a:xfrm>
            <a:off x="6185916" y="3291840"/>
            <a:ext cx="2681478" cy="1097280"/>
          </a:xfrm>
          <a:prstGeom prst="roundRect">
            <a:avLst>
              <a:gd name="adj" fmla="val 5000"/>
            </a:avLst>
          </a:prstGeom>
          <a:solidFill>
            <a:srgbClr val="EEF5F3"/>
          </a:solidFill>
          <a:ln w="12700">
            <a:solidFill>
              <a:srgbClr val="0F766E"/>
            </a:solidFill>
            <a:prstDash val="solid"/>
          </a:ln>
        </p:spPr>
      </p:sp>
      <p:sp>
        <p:nvSpPr>
          <p:cNvPr id="52" name="Text 48"/>
          <p:cNvSpPr txBox="1"/>
          <p:nvPr/>
        </p:nvSpPr>
        <p:spPr>
          <a:xfrm>
            <a:off x="6259068" y="3337560"/>
            <a:ext cx="2535174" cy="1005840"/>
          </a:xfrm>
          <a:prstGeom prst="rect">
            <a:avLst/>
          </a:prstGeom>
          <a:noFill/>
          <a:ln/>
        </p:spPr>
        <p:txBody>
          <a:bodyPr wrap="square" lIns="25400" tIns="25400" rIns="25400" bIns="25400" rtlCol="0" anchor="t"/>
          <a:lstStyle/>
          <a:p>
            <a:pPr indent="0" marL="0">
              <a:buNone/>
            </a:pPr>
            <a:r>
              <a:rPr lang="en-US" sz="1500" b="1" dirty="0">
                <a:solidFill>
                  <a:srgbClr val="0F766E"/>
                </a:solidFill>
              </a:rPr>
              <a:t>Specialist needed</a:t>
            </a:r>
            <a:endParaRPr lang="en-US" sz="1500" dirty="0"/>
          </a:p>
          <a:p>
            <a:pPr indent="0" marL="0">
              <a:buNone/>
            </a:pPr>
            <a:r>
              <a:rPr lang="en-US" sz="1300" dirty="0">
                <a:solidFill>
                  <a:srgbClr val="1F2937"/>
                </a:solidFill>
              </a:rPr>
              <a:t>→ create referral</a:t>
            </a:r>
            <a:endParaRPr lang="en-US" sz="1500" dirty="0"/>
          </a:p>
        </p:txBody>
      </p:sp>
      <p:sp>
        <p:nvSpPr>
          <p:cNvPr id="53" name="Shape 49"/>
          <p:cNvSpPr/>
          <p:nvPr/>
        </p:nvSpPr>
        <p:spPr>
          <a:xfrm>
            <a:off x="9050274" y="3291840"/>
            <a:ext cx="2681478" cy="1097280"/>
          </a:xfrm>
          <a:prstGeom prst="roundRect">
            <a:avLst>
              <a:gd name="adj" fmla="val 5000"/>
            </a:avLst>
          </a:prstGeom>
          <a:solidFill>
            <a:srgbClr val="EEF5F3"/>
          </a:solidFill>
          <a:ln w="12700">
            <a:solidFill>
              <a:srgbClr val="0F766E"/>
            </a:solidFill>
            <a:prstDash val="solid"/>
          </a:ln>
        </p:spPr>
      </p:sp>
      <p:sp>
        <p:nvSpPr>
          <p:cNvPr id="54" name="Text 50"/>
          <p:cNvSpPr txBox="1"/>
          <p:nvPr/>
        </p:nvSpPr>
        <p:spPr>
          <a:xfrm>
            <a:off x="9123426" y="3337560"/>
            <a:ext cx="2535174" cy="1005840"/>
          </a:xfrm>
          <a:prstGeom prst="rect">
            <a:avLst/>
          </a:prstGeom>
          <a:noFill/>
          <a:ln/>
        </p:spPr>
        <p:txBody>
          <a:bodyPr wrap="square" lIns="25400" tIns="25400" rIns="25400" bIns="25400" rtlCol="0" anchor="t"/>
          <a:lstStyle/>
          <a:p>
            <a:pPr indent="0" marL="0">
              <a:buNone/>
            </a:pPr>
            <a:r>
              <a:rPr lang="en-US" sz="1500" b="1" dirty="0">
                <a:solidFill>
                  <a:srgbClr val="0F766E"/>
                </a:solidFill>
              </a:rPr>
              <a:t>Missed appointment</a:t>
            </a:r>
            <a:endParaRPr lang="en-US" sz="1500" dirty="0"/>
          </a:p>
          <a:p>
            <a:pPr indent="0" marL="0">
              <a:buNone/>
            </a:pPr>
            <a:r>
              <a:rPr lang="en-US" sz="1300" dirty="0">
                <a:solidFill>
                  <a:srgbClr val="1F2937"/>
                </a:solidFill>
              </a:rPr>
              <a:t>→ create follow-up task</a:t>
            </a:r>
            <a:endParaRPr lang="en-US" sz="1500" dirty="0"/>
          </a:p>
        </p:txBody>
      </p:sp>
      <p:sp>
        <p:nvSpPr>
          <p:cNvPr id="55" name="Shape 51"/>
          <p:cNvSpPr/>
          <p:nvPr/>
        </p:nvSpPr>
        <p:spPr>
          <a:xfrm>
            <a:off x="457200" y="4846320"/>
            <a:ext cx="11274552" cy="457200"/>
          </a:xfrm>
          <a:prstGeom prst="rect">
            <a:avLst/>
          </a:prstGeom>
          <a:solidFill>
            <a:srgbClr val="EA580C"/>
          </a:solidFill>
          <a:ln/>
        </p:spPr>
      </p:sp>
      <p:sp>
        <p:nvSpPr>
          <p:cNvPr id="56" name="Text 52"/>
          <p:cNvSpPr txBox="1"/>
          <p:nvPr/>
        </p:nvSpPr>
        <p:spPr>
          <a:xfrm>
            <a:off x="457200" y="4846320"/>
            <a:ext cx="11274552" cy="457200"/>
          </a:xfrm>
          <a:prstGeom prst="rect">
            <a:avLst/>
          </a:prstGeom>
          <a:noFill/>
          <a:ln/>
        </p:spPr>
        <p:txBody>
          <a:bodyPr wrap="square" lIns="25400" tIns="25400" rIns="25400" bIns="25400" rtlCol="0" anchor="ctr"/>
          <a:lstStyle/>
          <a:p>
            <a:pPr algn="ctr" indent="0" marL="0">
              <a:buNone/>
            </a:pPr>
            <a:r>
              <a:rPr lang="en-US" sz="1400" b="1" dirty="0">
                <a:solidFill>
                  <a:srgbClr val="FFFFFF"/>
                </a:solidFill>
              </a:rPr>
              <a:t>No AI result can bypass clinician review</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F766E"/>
          </a:solidFill>
          <a:ln/>
        </p:spPr>
      </p:sp>
      <p:sp>
        <p:nvSpPr>
          <p:cNvPr id="3" name="Text 1"/>
          <p:cNvSpPr txBox="1"/>
          <p:nvPr/>
        </p:nvSpPr>
        <p:spPr>
          <a:xfrm>
            <a:off x="457200" y="228600"/>
            <a:ext cx="10424160" cy="640080"/>
          </a:xfrm>
          <a:prstGeom prst="rect">
            <a:avLst/>
          </a:prstGeom>
          <a:noFill/>
          <a:ln/>
        </p:spPr>
        <p:txBody>
          <a:bodyPr wrap="square" lIns="0" tIns="0" rIns="0" bIns="0" rtlCol="0" anchor="ctr"/>
          <a:lstStyle/>
          <a:p>
            <a:pPr indent="0" marL="0">
              <a:buNone/>
            </a:pPr>
            <a:r>
              <a:rPr lang="en-US" sz="3000" b="1" dirty="0">
                <a:solidFill>
                  <a:srgbClr val="12305A"/>
                </a:solidFill>
              </a:rPr>
              <a:t>AI and Image-Processing Pipeline</a:t>
            </a:r>
            <a:endParaRPr lang="en-US" sz="3000" dirty="0"/>
          </a:p>
        </p:txBody>
      </p:sp>
      <p:sp>
        <p:nvSpPr>
          <p:cNvPr id="4" name="Shape 2"/>
          <p:cNvSpPr/>
          <p:nvPr/>
        </p:nvSpPr>
        <p:spPr>
          <a:xfrm>
            <a:off x="11064240" y="201168"/>
            <a:ext cx="658368" cy="658368"/>
          </a:xfrm>
          <a:prstGeom prst="ellipse">
            <a:avLst/>
          </a:prstGeom>
          <a:solidFill>
            <a:srgbClr val="0F766E"/>
          </a:solidFill>
          <a:ln/>
        </p:spPr>
      </p:sp>
      <p:pic>
        <p:nvPicPr>
          <p:cNvPr id="5" name="Image 0" descr="preencoded.png">    </p:cNvPr>
          <p:cNvPicPr>
            <a:picLocks noChangeAspect="1"/>
          </p:cNvPicPr>
          <p:nvPr/>
        </p:nvPicPr>
        <p:blipFill>
          <a:blip r:embed="rId1"/>
          <a:stretch>
            <a:fillRect/>
          </a:stretch>
        </p:blipFill>
        <p:spPr>
          <a:xfrm>
            <a:off x="11210544" y="347472"/>
            <a:ext cx="365760" cy="365760"/>
          </a:xfrm>
          <a:prstGeom prst="rect">
            <a:avLst/>
          </a:prstGeom>
        </p:spPr>
      </p:pic>
      <p:sp>
        <p:nvSpPr>
          <p:cNvPr id="6" name="Shape 3"/>
          <p:cNvSpPr/>
          <p:nvPr/>
        </p:nvSpPr>
        <p:spPr>
          <a:xfrm>
            <a:off x="457200" y="896112"/>
            <a:ext cx="1097280" cy="45720"/>
          </a:xfrm>
          <a:prstGeom prst="rect">
            <a:avLst/>
          </a:prstGeom>
          <a:solidFill>
            <a:srgbClr val="EA580C"/>
          </a:solidFill>
          <a:ln/>
        </p:spPr>
      </p:sp>
      <p:sp>
        <p:nvSpPr>
          <p:cNvPr id="7" name="Text 4"/>
          <p:cNvSpPr txBox="1"/>
          <p:nvPr/>
        </p:nvSpPr>
        <p:spPr>
          <a:xfrm>
            <a:off x="457200" y="6473952"/>
            <a:ext cx="10058400" cy="274320"/>
          </a:xfrm>
          <a:prstGeom prst="rect">
            <a:avLst/>
          </a:prstGeom>
          <a:noFill/>
          <a:ln/>
        </p:spPr>
        <p:txBody>
          <a:bodyPr wrap="square" lIns="0" tIns="0" rIns="0" bIns="0" rtlCol="0" anchor="ctr"/>
          <a:lstStyle/>
          <a:p>
            <a:pPr indent="0" marL="0">
              <a:buNone/>
            </a:pPr>
            <a:r>
              <a:rPr lang="en-US" sz="1000" dirty="0">
                <a:solidFill>
                  <a:srgbClr val="6B7280"/>
                </a:solidFill>
              </a:rPr>
              <a:t>Hackathon demonstration only — NOT FOR CLINICAL USE  |  AAROGYA DRISHTI · AAROHAN 2026</a:t>
            </a:r>
            <a:endParaRPr lang="en-US" sz="1000" dirty="0"/>
          </a:p>
        </p:txBody>
      </p:sp>
      <p:sp>
        <p:nvSpPr>
          <p:cNvPr id="8" name="Text 5"/>
          <p:cNvSpPr txBox="1"/>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rPr>
              <a:t>8</a:t>
            </a:r>
            <a:endParaRPr lang="en-US" sz="1000" dirty="0"/>
          </a:p>
        </p:txBody>
      </p:sp>
      <p:sp>
        <p:nvSpPr>
          <p:cNvPr id="10" name="Shape 6"/>
          <p:cNvSpPr/>
          <p:nvPr/>
        </p:nvSpPr>
        <p:spPr>
          <a:xfrm>
            <a:off x="457200" y="1280160"/>
            <a:ext cx="1650492" cy="1005840"/>
          </a:xfrm>
          <a:prstGeom prst="roundRect">
            <a:avLst>
              <a:gd name="adj" fmla="val 7273"/>
            </a:avLst>
          </a:prstGeom>
          <a:solidFill>
            <a:srgbClr val="0F766E"/>
          </a:solidFill>
          <a:ln/>
        </p:spPr>
      </p:sp>
      <p:sp>
        <p:nvSpPr>
          <p:cNvPr id="11" name="Text 7"/>
          <p:cNvSpPr txBox="1"/>
          <p:nvPr/>
        </p:nvSpPr>
        <p:spPr>
          <a:xfrm>
            <a:off x="457200" y="1280160"/>
            <a:ext cx="1650492" cy="100584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Image Upload</a:t>
            </a:r>
            <a:endParaRPr lang="en-US" sz="1400" dirty="0"/>
          </a:p>
        </p:txBody>
      </p:sp>
      <p:sp>
        <p:nvSpPr>
          <p:cNvPr id="12" name="Text 8"/>
          <p:cNvSpPr txBox="1"/>
          <p:nvPr/>
        </p:nvSpPr>
        <p:spPr>
          <a:xfrm>
            <a:off x="2107692" y="1280160"/>
            <a:ext cx="274320" cy="1005840"/>
          </a:xfrm>
          <a:prstGeom prst="rect">
            <a:avLst/>
          </a:prstGeom>
          <a:noFill/>
          <a:ln/>
        </p:spPr>
        <p:txBody>
          <a:bodyPr wrap="square" lIns="0" tIns="0" rIns="0" bIns="0" rtlCol="0" anchor="ctr"/>
          <a:lstStyle/>
          <a:p>
            <a:pPr algn="ctr" indent="0" marL="0">
              <a:buNone/>
            </a:pPr>
            <a:r>
              <a:rPr lang="en-US" sz="2000" b="1" dirty="0">
                <a:solidFill>
                  <a:srgbClr val="EA580C"/>
                </a:solidFill>
              </a:rPr>
              <a:t>›</a:t>
            </a:r>
            <a:endParaRPr lang="en-US" sz="2000" dirty="0"/>
          </a:p>
        </p:txBody>
      </p:sp>
      <p:sp>
        <p:nvSpPr>
          <p:cNvPr id="13" name="Shape 9"/>
          <p:cNvSpPr/>
          <p:nvPr/>
        </p:nvSpPr>
        <p:spPr>
          <a:xfrm>
            <a:off x="2382012" y="1280160"/>
            <a:ext cx="1650492" cy="1005840"/>
          </a:xfrm>
          <a:prstGeom prst="roundRect">
            <a:avLst>
              <a:gd name="adj" fmla="val 7273"/>
            </a:avLst>
          </a:prstGeom>
          <a:solidFill>
            <a:srgbClr val="0F766E"/>
          </a:solidFill>
          <a:ln/>
        </p:spPr>
      </p:sp>
      <p:sp>
        <p:nvSpPr>
          <p:cNvPr id="14" name="Text 10"/>
          <p:cNvSpPr txBox="1"/>
          <p:nvPr/>
        </p:nvSpPr>
        <p:spPr>
          <a:xfrm>
            <a:off x="2382012" y="1280160"/>
            <a:ext cx="1650492" cy="100584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Validation</a:t>
            </a:r>
            <a:endParaRPr lang="en-US" sz="1400" dirty="0"/>
          </a:p>
        </p:txBody>
      </p:sp>
      <p:sp>
        <p:nvSpPr>
          <p:cNvPr id="15" name="Text 11"/>
          <p:cNvSpPr txBox="1"/>
          <p:nvPr/>
        </p:nvSpPr>
        <p:spPr>
          <a:xfrm>
            <a:off x="4032504" y="1280160"/>
            <a:ext cx="274320" cy="1005840"/>
          </a:xfrm>
          <a:prstGeom prst="rect">
            <a:avLst/>
          </a:prstGeom>
          <a:noFill/>
          <a:ln/>
        </p:spPr>
        <p:txBody>
          <a:bodyPr wrap="square" lIns="0" tIns="0" rIns="0" bIns="0" rtlCol="0" anchor="ctr"/>
          <a:lstStyle/>
          <a:p>
            <a:pPr algn="ctr" indent="0" marL="0">
              <a:buNone/>
            </a:pPr>
            <a:r>
              <a:rPr lang="en-US" sz="2000" b="1" dirty="0">
                <a:solidFill>
                  <a:srgbClr val="EA580C"/>
                </a:solidFill>
              </a:rPr>
              <a:t>›</a:t>
            </a:r>
            <a:endParaRPr lang="en-US" sz="2000" dirty="0"/>
          </a:p>
        </p:txBody>
      </p:sp>
      <p:sp>
        <p:nvSpPr>
          <p:cNvPr id="16" name="Shape 12"/>
          <p:cNvSpPr/>
          <p:nvPr/>
        </p:nvSpPr>
        <p:spPr>
          <a:xfrm>
            <a:off x="4306824" y="1280160"/>
            <a:ext cx="1650492" cy="1005840"/>
          </a:xfrm>
          <a:prstGeom prst="roundRect">
            <a:avLst>
              <a:gd name="adj" fmla="val 7273"/>
            </a:avLst>
          </a:prstGeom>
          <a:solidFill>
            <a:srgbClr val="0F766E"/>
          </a:solidFill>
          <a:ln/>
        </p:spPr>
      </p:sp>
      <p:sp>
        <p:nvSpPr>
          <p:cNvPr id="17" name="Text 13"/>
          <p:cNvSpPr txBox="1"/>
          <p:nvPr/>
        </p:nvSpPr>
        <p:spPr>
          <a:xfrm>
            <a:off x="4306824" y="1280160"/>
            <a:ext cx="1650492" cy="100584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Quality Assessment (OpenCV)</a:t>
            </a:r>
            <a:endParaRPr lang="en-US" sz="1400" dirty="0"/>
          </a:p>
        </p:txBody>
      </p:sp>
      <p:sp>
        <p:nvSpPr>
          <p:cNvPr id="18" name="Text 14"/>
          <p:cNvSpPr txBox="1"/>
          <p:nvPr/>
        </p:nvSpPr>
        <p:spPr>
          <a:xfrm>
            <a:off x="5957316" y="1280160"/>
            <a:ext cx="274320" cy="1005840"/>
          </a:xfrm>
          <a:prstGeom prst="rect">
            <a:avLst/>
          </a:prstGeom>
          <a:noFill/>
          <a:ln/>
        </p:spPr>
        <p:txBody>
          <a:bodyPr wrap="square" lIns="0" tIns="0" rIns="0" bIns="0" rtlCol="0" anchor="ctr"/>
          <a:lstStyle/>
          <a:p>
            <a:pPr algn="ctr" indent="0" marL="0">
              <a:buNone/>
            </a:pPr>
            <a:r>
              <a:rPr lang="en-US" sz="2000" b="1" dirty="0">
                <a:solidFill>
                  <a:srgbClr val="EA580C"/>
                </a:solidFill>
              </a:rPr>
              <a:t>›</a:t>
            </a:r>
            <a:endParaRPr lang="en-US" sz="2000" dirty="0"/>
          </a:p>
        </p:txBody>
      </p:sp>
      <p:sp>
        <p:nvSpPr>
          <p:cNvPr id="19" name="Shape 15"/>
          <p:cNvSpPr/>
          <p:nvPr/>
        </p:nvSpPr>
        <p:spPr>
          <a:xfrm>
            <a:off x="6231636" y="1280160"/>
            <a:ext cx="1650492" cy="1005840"/>
          </a:xfrm>
          <a:prstGeom prst="roundRect">
            <a:avLst>
              <a:gd name="adj" fmla="val 7273"/>
            </a:avLst>
          </a:prstGeom>
          <a:solidFill>
            <a:srgbClr val="0F766E"/>
          </a:solidFill>
          <a:ln/>
        </p:spPr>
      </p:sp>
      <p:sp>
        <p:nvSpPr>
          <p:cNvPr id="20" name="Text 16"/>
          <p:cNvSpPr txBox="1"/>
          <p:nvPr/>
        </p:nvSpPr>
        <p:spPr>
          <a:xfrm>
            <a:off x="6231636" y="1280160"/>
            <a:ext cx="1650492" cy="100584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Mock/Research AI Adapter</a:t>
            </a:r>
            <a:endParaRPr lang="en-US" sz="1400" dirty="0"/>
          </a:p>
        </p:txBody>
      </p:sp>
      <p:sp>
        <p:nvSpPr>
          <p:cNvPr id="21" name="Text 17"/>
          <p:cNvSpPr txBox="1"/>
          <p:nvPr/>
        </p:nvSpPr>
        <p:spPr>
          <a:xfrm>
            <a:off x="7882128" y="1280160"/>
            <a:ext cx="274320" cy="1005840"/>
          </a:xfrm>
          <a:prstGeom prst="rect">
            <a:avLst/>
          </a:prstGeom>
          <a:noFill/>
          <a:ln/>
        </p:spPr>
        <p:txBody>
          <a:bodyPr wrap="square" lIns="0" tIns="0" rIns="0" bIns="0" rtlCol="0" anchor="ctr"/>
          <a:lstStyle/>
          <a:p>
            <a:pPr algn="ctr" indent="0" marL="0">
              <a:buNone/>
            </a:pPr>
            <a:r>
              <a:rPr lang="en-US" sz="2000" b="1" dirty="0">
                <a:solidFill>
                  <a:srgbClr val="EA580C"/>
                </a:solidFill>
              </a:rPr>
              <a:t>›</a:t>
            </a:r>
            <a:endParaRPr lang="en-US" sz="2000" dirty="0"/>
          </a:p>
        </p:txBody>
      </p:sp>
      <p:sp>
        <p:nvSpPr>
          <p:cNvPr id="22" name="Shape 18"/>
          <p:cNvSpPr/>
          <p:nvPr/>
        </p:nvSpPr>
        <p:spPr>
          <a:xfrm>
            <a:off x="8156448" y="1280160"/>
            <a:ext cx="1650492" cy="1005840"/>
          </a:xfrm>
          <a:prstGeom prst="roundRect">
            <a:avLst>
              <a:gd name="adj" fmla="val 7273"/>
            </a:avLst>
          </a:prstGeom>
          <a:solidFill>
            <a:srgbClr val="0F766E"/>
          </a:solidFill>
          <a:ln/>
        </p:spPr>
      </p:sp>
      <p:sp>
        <p:nvSpPr>
          <p:cNvPr id="23" name="Text 19"/>
          <p:cNvSpPr txBox="1"/>
          <p:nvPr/>
        </p:nvSpPr>
        <p:spPr>
          <a:xfrm>
            <a:off x="8156448" y="1280160"/>
            <a:ext cx="1650492" cy="100584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Structured Output</a:t>
            </a:r>
            <a:endParaRPr lang="en-US" sz="1400" dirty="0"/>
          </a:p>
        </p:txBody>
      </p:sp>
      <p:sp>
        <p:nvSpPr>
          <p:cNvPr id="24" name="Text 20"/>
          <p:cNvSpPr txBox="1"/>
          <p:nvPr/>
        </p:nvSpPr>
        <p:spPr>
          <a:xfrm>
            <a:off x="9806940" y="1280160"/>
            <a:ext cx="274320" cy="1005840"/>
          </a:xfrm>
          <a:prstGeom prst="rect">
            <a:avLst/>
          </a:prstGeom>
          <a:noFill/>
          <a:ln/>
        </p:spPr>
        <p:txBody>
          <a:bodyPr wrap="square" lIns="0" tIns="0" rIns="0" bIns="0" rtlCol="0" anchor="ctr"/>
          <a:lstStyle/>
          <a:p>
            <a:pPr algn="ctr" indent="0" marL="0">
              <a:buNone/>
            </a:pPr>
            <a:r>
              <a:rPr lang="en-US" sz="2000" b="1" dirty="0">
                <a:solidFill>
                  <a:srgbClr val="EA580C"/>
                </a:solidFill>
              </a:rPr>
              <a:t>›</a:t>
            </a:r>
            <a:endParaRPr lang="en-US" sz="2000" dirty="0"/>
          </a:p>
        </p:txBody>
      </p:sp>
      <p:sp>
        <p:nvSpPr>
          <p:cNvPr id="25" name="Shape 21"/>
          <p:cNvSpPr/>
          <p:nvPr/>
        </p:nvSpPr>
        <p:spPr>
          <a:xfrm>
            <a:off x="10081260" y="1280160"/>
            <a:ext cx="1650492" cy="1005840"/>
          </a:xfrm>
          <a:prstGeom prst="roundRect">
            <a:avLst>
              <a:gd name="adj" fmla="val 7273"/>
            </a:avLst>
          </a:prstGeom>
          <a:solidFill>
            <a:srgbClr val="0F766E"/>
          </a:solidFill>
          <a:ln/>
        </p:spPr>
      </p:sp>
      <p:sp>
        <p:nvSpPr>
          <p:cNvPr id="26" name="Text 22"/>
          <p:cNvSpPr txBox="1"/>
          <p:nvPr/>
        </p:nvSpPr>
        <p:spPr>
          <a:xfrm>
            <a:off x="10081260" y="1280160"/>
            <a:ext cx="1650492" cy="100584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Medical Officer Review</a:t>
            </a:r>
            <a:endParaRPr lang="en-US" sz="1400" dirty="0"/>
          </a:p>
        </p:txBody>
      </p:sp>
      <p:sp>
        <p:nvSpPr>
          <p:cNvPr id="27" name="Shape 23"/>
          <p:cNvSpPr/>
          <p:nvPr/>
        </p:nvSpPr>
        <p:spPr>
          <a:xfrm>
            <a:off x="457200" y="2926080"/>
            <a:ext cx="2681478" cy="1463040"/>
          </a:xfrm>
          <a:prstGeom prst="roundRect">
            <a:avLst>
              <a:gd name="adj" fmla="val 3750"/>
            </a:avLst>
          </a:prstGeom>
          <a:solidFill>
            <a:srgbClr val="EEF5F3"/>
          </a:solidFill>
          <a:ln w="12700">
            <a:solidFill>
              <a:srgbClr val="0F766E"/>
            </a:solidFill>
            <a:prstDash val="solid"/>
          </a:ln>
        </p:spPr>
      </p:sp>
      <p:sp>
        <p:nvSpPr>
          <p:cNvPr id="28" name="Text 24"/>
          <p:cNvSpPr txBox="1"/>
          <p:nvPr/>
        </p:nvSpPr>
        <p:spPr>
          <a:xfrm>
            <a:off x="530352" y="2971800"/>
            <a:ext cx="2535174" cy="1371600"/>
          </a:xfrm>
          <a:prstGeom prst="rect">
            <a:avLst/>
          </a:prstGeom>
          <a:noFill/>
          <a:ln/>
        </p:spPr>
        <p:txBody>
          <a:bodyPr wrap="square" lIns="25400" tIns="25400" rIns="25400" bIns="25400" rtlCol="0" anchor="t"/>
          <a:lstStyle/>
          <a:p>
            <a:pPr indent="0" marL="0">
              <a:buNone/>
            </a:pPr>
            <a:r>
              <a:rPr lang="en-US" sz="1500" b="1" dirty="0">
                <a:solidFill>
                  <a:srgbClr val="0F766E"/>
                </a:solidFill>
              </a:rPr>
              <a:t>Guided capture</a:t>
            </a:r>
            <a:endParaRPr lang="en-US" sz="1500" dirty="0"/>
          </a:p>
          <a:p>
            <a:pPr indent="0" marL="0">
              <a:buNone/>
            </a:pPr>
            <a:r>
              <a:rPr lang="en-US" sz="1300" dirty="0">
                <a:solidFill>
                  <a:srgbClr val="1F2937"/>
                </a:solidFill>
              </a:rPr>
              <a:t>Cheek, tongue, palate, gums, floor of mouth; retake allowed.</a:t>
            </a:r>
            <a:endParaRPr lang="en-US" sz="1500" dirty="0"/>
          </a:p>
        </p:txBody>
      </p:sp>
      <p:sp>
        <p:nvSpPr>
          <p:cNvPr id="29" name="Shape 25"/>
          <p:cNvSpPr/>
          <p:nvPr/>
        </p:nvSpPr>
        <p:spPr>
          <a:xfrm>
            <a:off x="3321558" y="2926080"/>
            <a:ext cx="2681478" cy="1463040"/>
          </a:xfrm>
          <a:prstGeom prst="roundRect">
            <a:avLst>
              <a:gd name="adj" fmla="val 3750"/>
            </a:avLst>
          </a:prstGeom>
          <a:solidFill>
            <a:srgbClr val="EEF5F3"/>
          </a:solidFill>
          <a:ln w="12700">
            <a:solidFill>
              <a:srgbClr val="0F766E"/>
            </a:solidFill>
            <a:prstDash val="solid"/>
          </a:ln>
        </p:spPr>
      </p:sp>
      <p:sp>
        <p:nvSpPr>
          <p:cNvPr id="30" name="Text 26"/>
          <p:cNvSpPr txBox="1"/>
          <p:nvPr/>
        </p:nvSpPr>
        <p:spPr>
          <a:xfrm>
            <a:off x="3394710" y="2971800"/>
            <a:ext cx="2535174" cy="1371600"/>
          </a:xfrm>
          <a:prstGeom prst="rect">
            <a:avLst/>
          </a:prstGeom>
          <a:noFill/>
          <a:ln/>
        </p:spPr>
        <p:txBody>
          <a:bodyPr wrap="square" lIns="25400" tIns="25400" rIns="25400" bIns="25400" rtlCol="0" anchor="t"/>
          <a:lstStyle/>
          <a:p>
            <a:pPr indent="0" marL="0">
              <a:buNone/>
            </a:pPr>
            <a:r>
              <a:rPr lang="en-US" sz="1500" b="1" dirty="0">
                <a:solidFill>
                  <a:srgbClr val="0F766E"/>
                </a:solidFill>
              </a:rPr>
              <a:t>Quality checks</a:t>
            </a:r>
            <a:endParaRPr lang="en-US" sz="1500" dirty="0"/>
          </a:p>
          <a:p>
            <a:pPr indent="0" marL="0">
              <a:buNone/>
            </a:pPr>
            <a:r>
              <a:rPr lang="en-US" sz="1300" dirty="0">
                <a:solidFill>
                  <a:srgbClr val="1F2937"/>
                </a:solidFill>
              </a:rPr>
              <a:t>Blur, brightness, glare, invalid image → recapture.</a:t>
            </a:r>
            <a:endParaRPr lang="en-US" sz="1500" dirty="0"/>
          </a:p>
        </p:txBody>
      </p:sp>
      <p:sp>
        <p:nvSpPr>
          <p:cNvPr id="31" name="Shape 27"/>
          <p:cNvSpPr/>
          <p:nvPr/>
        </p:nvSpPr>
        <p:spPr>
          <a:xfrm>
            <a:off x="6185916" y="2926080"/>
            <a:ext cx="2681478" cy="1463040"/>
          </a:xfrm>
          <a:prstGeom prst="roundRect">
            <a:avLst>
              <a:gd name="adj" fmla="val 3750"/>
            </a:avLst>
          </a:prstGeom>
          <a:solidFill>
            <a:srgbClr val="EEF5F3"/>
          </a:solidFill>
          <a:ln w="12700">
            <a:solidFill>
              <a:srgbClr val="0F766E"/>
            </a:solidFill>
            <a:prstDash val="solid"/>
          </a:ln>
        </p:spPr>
      </p:sp>
      <p:sp>
        <p:nvSpPr>
          <p:cNvPr id="32" name="Text 28"/>
          <p:cNvSpPr txBox="1"/>
          <p:nvPr/>
        </p:nvSpPr>
        <p:spPr>
          <a:xfrm>
            <a:off x="6259068" y="2971800"/>
            <a:ext cx="2535174" cy="1371600"/>
          </a:xfrm>
          <a:prstGeom prst="rect">
            <a:avLst/>
          </a:prstGeom>
          <a:noFill/>
          <a:ln/>
        </p:spPr>
        <p:txBody>
          <a:bodyPr wrap="square" lIns="25400" tIns="25400" rIns="25400" bIns="25400" rtlCol="0" anchor="t"/>
          <a:lstStyle/>
          <a:p>
            <a:pPr indent="0" marL="0">
              <a:buNone/>
            </a:pPr>
            <a:r>
              <a:rPr lang="en-US" sz="1500" b="1" dirty="0">
                <a:solidFill>
                  <a:srgbClr val="0F766E"/>
                </a:solidFill>
              </a:rPr>
              <a:t>Structured output</a:t>
            </a:r>
            <a:endParaRPr lang="en-US" sz="1500" dirty="0"/>
          </a:p>
          <a:p>
            <a:pPr indent="0" marL="0">
              <a:buNone/>
            </a:pPr>
            <a:r>
              <a:rPr lang="en-US" sz="1300" dirty="0">
                <a:solidFill>
                  <a:srgbClr val="1F2937"/>
                </a:solidFill>
              </a:rPr>
              <a:t>Model version, research label, requires_clinician_review = true.</a:t>
            </a:r>
            <a:endParaRPr lang="en-US" sz="1500" dirty="0"/>
          </a:p>
        </p:txBody>
      </p:sp>
      <p:sp>
        <p:nvSpPr>
          <p:cNvPr id="33" name="Shape 29"/>
          <p:cNvSpPr/>
          <p:nvPr/>
        </p:nvSpPr>
        <p:spPr>
          <a:xfrm>
            <a:off x="9050274" y="2926080"/>
            <a:ext cx="2681478" cy="1463040"/>
          </a:xfrm>
          <a:prstGeom prst="roundRect">
            <a:avLst>
              <a:gd name="adj" fmla="val 3750"/>
            </a:avLst>
          </a:prstGeom>
          <a:solidFill>
            <a:srgbClr val="EEF5F3"/>
          </a:solidFill>
          <a:ln w="12700">
            <a:solidFill>
              <a:srgbClr val="0F766E"/>
            </a:solidFill>
            <a:prstDash val="solid"/>
          </a:ln>
        </p:spPr>
      </p:sp>
      <p:sp>
        <p:nvSpPr>
          <p:cNvPr id="34" name="Text 30"/>
          <p:cNvSpPr txBox="1"/>
          <p:nvPr/>
        </p:nvSpPr>
        <p:spPr>
          <a:xfrm>
            <a:off x="9123426" y="2971800"/>
            <a:ext cx="2535174" cy="1371600"/>
          </a:xfrm>
          <a:prstGeom prst="rect">
            <a:avLst/>
          </a:prstGeom>
          <a:noFill/>
          <a:ln/>
        </p:spPr>
        <p:txBody>
          <a:bodyPr wrap="square" lIns="25400" tIns="25400" rIns="25400" bIns="25400" rtlCol="0" anchor="t"/>
          <a:lstStyle/>
          <a:p>
            <a:pPr indent="0" marL="0">
              <a:buNone/>
            </a:pPr>
            <a:r>
              <a:rPr lang="en-US" sz="1500" b="1" dirty="0">
                <a:solidFill>
                  <a:srgbClr val="0F766E"/>
                </a:solidFill>
              </a:rPr>
              <a:t>No overclaiming</a:t>
            </a:r>
            <a:endParaRPr lang="en-US" sz="1500" dirty="0"/>
          </a:p>
          <a:p>
            <a:pPr indent="0" marL="0">
              <a:buNone/>
            </a:pPr>
            <a:r>
              <a:rPr lang="en-US" sz="1300" dirty="0">
                <a:solidFill>
                  <a:srgbClr val="1F2937"/>
                </a:solidFill>
              </a:rPr>
              <a:t>No accuracy, heatmap or localization claims.</a:t>
            </a:r>
            <a:endParaRPr lang="en-US" sz="1500" dirty="0"/>
          </a:p>
        </p:txBody>
      </p:sp>
      <p:sp>
        <p:nvSpPr>
          <p:cNvPr id="35" name="Shape 31"/>
          <p:cNvSpPr/>
          <p:nvPr/>
        </p:nvSpPr>
        <p:spPr>
          <a:xfrm>
            <a:off x="457200" y="4754880"/>
            <a:ext cx="11274552" cy="457200"/>
          </a:xfrm>
          <a:prstGeom prst="rect">
            <a:avLst/>
          </a:prstGeom>
          <a:solidFill>
            <a:srgbClr val="EA580C"/>
          </a:solidFill>
          <a:ln/>
        </p:spPr>
      </p:sp>
      <p:sp>
        <p:nvSpPr>
          <p:cNvPr id="36" name="Text 32"/>
          <p:cNvSpPr txBox="1"/>
          <p:nvPr/>
        </p:nvSpPr>
        <p:spPr>
          <a:xfrm>
            <a:off x="457200" y="4754880"/>
            <a:ext cx="11274552" cy="457200"/>
          </a:xfrm>
          <a:prstGeom prst="rect">
            <a:avLst/>
          </a:prstGeom>
          <a:noFill/>
          <a:ln/>
        </p:spPr>
        <p:txBody>
          <a:bodyPr wrap="square" lIns="25400" tIns="25400" rIns="25400" bIns="25400" rtlCol="0" anchor="ctr"/>
          <a:lstStyle/>
          <a:p>
            <a:pPr algn="ctr" indent="0" marL="0">
              <a:buNone/>
            </a:pPr>
            <a:r>
              <a:rPr lang="en-US" sz="1400" b="1" dirty="0">
                <a:solidFill>
                  <a:srgbClr val="FFFFFF"/>
                </a:solidFill>
              </a:rPr>
              <a:t>AI OUTPUT — NOT FOR CLINICAL USE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F766E"/>
          </a:solidFill>
          <a:ln/>
        </p:spPr>
      </p:sp>
      <p:sp>
        <p:nvSpPr>
          <p:cNvPr id="3" name="Text 1"/>
          <p:cNvSpPr txBox="1"/>
          <p:nvPr/>
        </p:nvSpPr>
        <p:spPr>
          <a:xfrm>
            <a:off x="457200" y="228600"/>
            <a:ext cx="10424160" cy="640080"/>
          </a:xfrm>
          <a:prstGeom prst="rect">
            <a:avLst/>
          </a:prstGeom>
          <a:noFill/>
          <a:ln/>
        </p:spPr>
        <p:txBody>
          <a:bodyPr wrap="square" lIns="0" tIns="0" rIns="0" bIns="0" rtlCol="0" anchor="ctr"/>
          <a:lstStyle/>
          <a:p>
            <a:pPr indent="0" marL="0">
              <a:buNone/>
            </a:pPr>
            <a:r>
              <a:rPr lang="en-US" sz="3000" b="1" dirty="0">
                <a:solidFill>
                  <a:srgbClr val="12305A"/>
                </a:solidFill>
              </a:rPr>
              <a:t>Proposed Technology Stack</a:t>
            </a:r>
            <a:endParaRPr lang="en-US" sz="3000" dirty="0"/>
          </a:p>
        </p:txBody>
      </p:sp>
      <p:sp>
        <p:nvSpPr>
          <p:cNvPr id="4" name="Shape 2"/>
          <p:cNvSpPr/>
          <p:nvPr/>
        </p:nvSpPr>
        <p:spPr>
          <a:xfrm>
            <a:off x="11064240" y="201168"/>
            <a:ext cx="658368" cy="658368"/>
          </a:xfrm>
          <a:prstGeom prst="ellipse">
            <a:avLst/>
          </a:prstGeom>
          <a:solidFill>
            <a:srgbClr val="0F766E"/>
          </a:solidFill>
          <a:ln/>
        </p:spPr>
      </p:sp>
      <p:pic>
        <p:nvPicPr>
          <p:cNvPr id="5" name="Image 0" descr="preencoded.png">    </p:cNvPr>
          <p:cNvPicPr>
            <a:picLocks noChangeAspect="1"/>
          </p:cNvPicPr>
          <p:nvPr/>
        </p:nvPicPr>
        <p:blipFill>
          <a:blip r:embed="rId1"/>
          <a:stretch>
            <a:fillRect/>
          </a:stretch>
        </p:blipFill>
        <p:spPr>
          <a:xfrm>
            <a:off x="11210544" y="347472"/>
            <a:ext cx="365760" cy="365760"/>
          </a:xfrm>
          <a:prstGeom prst="rect">
            <a:avLst/>
          </a:prstGeom>
        </p:spPr>
      </p:pic>
      <p:sp>
        <p:nvSpPr>
          <p:cNvPr id="6" name="Shape 3"/>
          <p:cNvSpPr/>
          <p:nvPr/>
        </p:nvSpPr>
        <p:spPr>
          <a:xfrm>
            <a:off x="457200" y="896112"/>
            <a:ext cx="1097280" cy="45720"/>
          </a:xfrm>
          <a:prstGeom prst="rect">
            <a:avLst/>
          </a:prstGeom>
          <a:solidFill>
            <a:srgbClr val="EA580C"/>
          </a:solidFill>
          <a:ln/>
        </p:spPr>
      </p:sp>
      <p:sp>
        <p:nvSpPr>
          <p:cNvPr id="7" name="Text 4"/>
          <p:cNvSpPr txBox="1"/>
          <p:nvPr/>
        </p:nvSpPr>
        <p:spPr>
          <a:xfrm>
            <a:off x="457200" y="6473952"/>
            <a:ext cx="10058400" cy="274320"/>
          </a:xfrm>
          <a:prstGeom prst="rect">
            <a:avLst/>
          </a:prstGeom>
          <a:noFill/>
          <a:ln/>
        </p:spPr>
        <p:txBody>
          <a:bodyPr wrap="square" lIns="0" tIns="0" rIns="0" bIns="0" rtlCol="0" anchor="ctr"/>
          <a:lstStyle/>
          <a:p>
            <a:pPr indent="0" marL="0">
              <a:buNone/>
            </a:pPr>
            <a:r>
              <a:rPr lang="en-US" sz="1000" dirty="0">
                <a:solidFill>
                  <a:srgbClr val="6B7280"/>
                </a:solidFill>
              </a:rPr>
              <a:t>Hackathon demonstration only — NOT FOR CLINICAL USE  |  AAROGYA DRISHTI · AAROHAN 2026</a:t>
            </a:r>
            <a:endParaRPr lang="en-US" sz="1000" dirty="0"/>
          </a:p>
        </p:txBody>
      </p:sp>
      <p:sp>
        <p:nvSpPr>
          <p:cNvPr id="8" name="Text 5"/>
          <p:cNvSpPr txBox="1"/>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rPr>
              <a:t>9</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828800"/>
                <a:gridCol w="3931920"/>
                <a:gridCol w="5513832"/>
              </a:tblGrid>
              <a:tr h="548640">
                <a:tc>
                  <a:txBody>
                    <a:bodyPr/>
                    <a:lstStyle/>
                    <a:p>
                      <a:pPr indent="0" marL="0">
                        <a:buNone/>
                      </a:pPr>
                      <a:r>
                        <a:rPr lang="en-US" sz="1400" b="1" dirty="0">
                          <a:solidFill>
                            <a:srgbClr val="FFFFFF"/>
                          </a:solidFill>
                        </a:rPr>
                        <a:t>Layer</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12305A"/>
                    </a:solidFill>
                  </a:tcPr>
                </a:tc>
                <a:tc>
                  <a:txBody>
                    <a:bodyPr/>
                    <a:lstStyle/>
                    <a:p>
                      <a:pPr indent="0" marL="0">
                        <a:buNone/>
                      </a:pPr>
                      <a:r>
                        <a:rPr lang="en-US" sz="1400" b="1" dirty="0">
                          <a:solidFill>
                            <a:srgbClr val="FFFFFF"/>
                          </a:solidFill>
                        </a:rPr>
                        <a:t>Recommended</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12305A"/>
                    </a:solidFill>
                  </a:tcPr>
                </a:tc>
                <a:tc>
                  <a:txBody>
                    <a:bodyPr/>
                    <a:lstStyle/>
                    <a:p>
                      <a:pPr indent="0" marL="0">
                        <a:buNone/>
                      </a:pPr>
                      <a:r>
                        <a:rPr lang="en-US" sz="1400" b="1" dirty="0">
                          <a:solidFill>
                            <a:srgbClr val="FFFFFF"/>
                          </a:solidFill>
                        </a:rPr>
                        <a:t>Role</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12305A"/>
                    </a:solidFill>
                  </a:tcPr>
                </a:tc>
              </a:tr>
              <a:tr h="548640">
                <a:tc>
                  <a:txBody>
                    <a:bodyPr/>
                    <a:lstStyle/>
                    <a:p>
                      <a:pPr indent="0" marL="0">
                        <a:buNone/>
                      </a:pPr>
                      <a:r>
                        <a:rPr lang="en-US" sz="1400" dirty="0">
                          <a:solidFill>
                            <a:srgbClr val="1F2937"/>
                          </a:solidFill>
                        </a:rPr>
                        <a:t>Frontend</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React + TypeScript + Vite PWA</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Installable mobile/web UI that works on Android.</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F2937"/>
                          </a:solidFill>
                        </a:rPr>
                        <a:t>Backend</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400" dirty="0">
                          <a:solidFill>
                            <a:srgbClr val="1F2937"/>
                          </a:solidFill>
                        </a:rPr>
                        <a:t>Python + FastAPI</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400" dirty="0">
                          <a:solidFill>
                            <a:srgbClr val="1F2937"/>
                          </a:solidFill>
                        </a:rPr>
                        <a:t>Authenticated, validated workflow APIs.</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r>
              <a:tr h="548640">
                <a:tc>
                  <a:txBody>
                    <a:bodyPr/>
                    <a:lstStyle/>
                    <a:p>
                      <a:pPr indent="0" marL="0">
                        <a:buNone/>
                      </a:pPr>
                      <a:r>
                        <a:rPr lang="en-US" sz="1400" dirty="0">
                          <a:solidFill>
                            <a:srgbClr val="1F2937"/>
                          </a:solidFill>
                        </a:rPr>
                        <a:t>Database</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PostgreSQL</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Persistent records with constraints.</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F2937"/>
                          </a:solidFill>
                        </a:rPr>
                        <a:t>Image quality</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400" dirty="0">
                          <a:solidFill>
                            <a:srgbClr val="1F2937"/>
                          </a:solidFill>
                        </a:rPr>
                        <a:t>OpenCV</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400" dirty="0">
                          <a:solidFill>
                            <a:srgbClr val="1F2937"/>
                          </a:solidFill>
                        </a:rPr>
                        <a:t>Flags blurry, dark or glare images.</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r>
              <a:tr h="548640">
                <a:tc>
                  <a:txBody>
                    <a:bodyPr/>
                    <a:lstStyle/>
                    <a:p>
                      <a:pPr indent="0" marL="0">
                        <a:buNone/>
                      </a:pPr>
                      <a:r>
                        <a:rPr lang="en-US" sz="1400" dirty="0">
                          <a:solidFill>
                            <a:srgbClr val="1F2937"/>
                          </a:solidFill>
                        </a:rPr>
                        <a:t>AI</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Pluggable mock/research service</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Replaceable, versioned, may fail safely.</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F2937"/>
                          </a:solidFill>
                        </a:rPr>
                        <a:t>Infrastructure</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400" dirty="0">
                          <a:solidFill>
                            <a:srgbClr val="1F2937"/>
                          </a:solidFill>
                        </a:rPr>
                        <a:t>Docker, HTTPS, private object storage, video SDK, logs &amp; health checks</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400" dirty="0">
                          <a:solidFill>
                            <a:srgbClr val="1F2937"/>
                          </a:solidFill>
                        </a:rPr>
                        <a:t>Secure deployment and monitoring.</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r>
            </a:tbl>
          </a:graphicData>
        </a:graphic>
      </p:graphicFrame>
      <p:sp>
        <p:nvSpPr>
          <p:cNvPr id="11" name="Text 6"/>
          <p:cNvSpPr txBox="1"/>
          <p:nvPr/>
        </p:nvSpPr>
        <p:spPr>
          <a:xfrm>
            <a:off x="457200" y="5303520"/>
            <a:ext cx="11247120" cy="548640"/>
          </a:xfrm>
          <a:prstGeom prst="rect">
            <a:avLst/>
          </a:prstGeom>
          <a:noFill/>
          <a:ln/>
        </p:spPr>
        <p:txBody>
          <a:bodyPr wrap="square" lIns="25400" tIns="25400" rIns="25400" bIns="25400" rtlCol="0" anchor="t"/>
          <a:lstStyle/>
          <a:p>
            <a:pPr indent="0" marL="0">
              <a:buNone/>
            </a:pPr>
            <a:r>
              <a:rPr lang="en-US" sz="1300" b="1" dirty="0">
                <a:solidFill>
                  <a:srgbClr val="EA580C"/>
                </a:solidFill>
              </a:rPr>
              <a:t>Alternatives allowed by the official statement: React Native/Flutter, Next.js, Node.js, other secure video or cloud services.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F766E"/>
          </a:solidFill>
          <a:ln/>
        </p:spPr>
      </p:sp>
      <p:sp>
        <p:nvSpPr>
          <p:cNvPr id="3" name="Text 1"/>
          <p:cNvSpPr txBox="1"/>
          <p:nvPr/>
        </p:nvSpPr>
        <p:spPr>
          <a:xfrm>
            <a:off x="457200" y="228600"/>
            <a:ext cx="10424160" cy="640080"/>
          </a:xfrm>
          <a:prstGeom prst="rect">
            <a:avLst/>
          </a:prstGeom>
          <a:noFill/>
          <a:ln/>
        </p:spPr>
        <p:txBody>
          <a:bodyPr wrap="square" lIns="0" tIns="0" rIns="0" bIns="0" rtlCol="0" anchor="ctr"/>
          <a:lstStyle/>
          <a:p>
            <a:pPr indent="0" marL="0">
              <a:buNone/>
            </a:pPr>
            <a:r>
              <a:rPr lang="en-US" sz="3000" b="1" dirty="0">
                <a:solidFill>
                  <a:srgbClr val="12305A"/>
                </a:solidFill>
              </a:rPr>
              <a:t>Complete System Architecture</a:t>
            </a:r>
            <a:endParaRPr lang="en-US" sz="3000" dirty="0"/>
          </a:p>
        </p:txBody>
      </p:sp>
      <p:sp>
        <p:nvSpPr>
          <p:cNvPr id="4" name="Shape 2"/>
          <p:cNvSpPr/>
          <p:nvPr/>
        </p:nvSpPr>
        <p:spPr>
          <a:xfrm>
            <a:off x="11064240" y="201168"/>
            <a:ext cx="658368" cy="658368"/>
          </a:xfrm>
          <a:prstGeom prst="ellipse">
            <a:avLst/>
          </a:prstGeom>
          <a:solidFill>
            <a:srgbClr val="0F766E"/>
          </a:solidFill>
          <a:ln/>
        </p:spPr>
      </p:sp>
      <p:pic>
        <p:nvPicPr>
          <p:cNvPr id="5" name="Image 0" descr="preencoded.png">    </p:cNvPr>
          <p:cNvPicPr>
            <a:picLocks noChangeAspect="1"/>
          </p:cNvPicPr>
          <p:nvPr/>
        </p:nvPicPr>
        <p:blipFill>
          <a:blip r:embed="rId1"/>
          <a:stretch>
            <a:fillRect/>
          </a:stretch>
        </p:blipFill>
        <p:spPr>
          <a:xfrm>
            <a:off x="11210544" y="347472"/>
            <a:ext cx="365760" cy="365760"/>
          </a:xfrm>
          <a:prstGeom prst="rect">
            <a:avLst/>
          </a:prstGeom>
        </p:spPr>
      </p:pic>
      <p:sp>
        <p:nvSpPr>
          <p:cNvPr id="6" name="Shape 3"/>
          <p:cNvSpPr/>
          <p:nvPr/>
        </p:nvSpPr>
        <p:spPr>
          <a:xfrm>
            <a:off x="457200" y="896112"/>
            <a:ext cx="1097280" cy="45720"/>
          </a:xfrm>
          <a:prstGeom prst="rect">
            <a:avLst/>
          </a:prstGeom>
          <a:solidFill>
            <a:srgbClr val="EA580C"/>
          </a:solidFill>
          <a:ln/>
        </p:spPr>
      </p:sp>
      <p:sp>
        <p:nvSpPr>
          <p:cNvPr id="7" name="Text 4"/>
          <p:cNvSpPr txBox="1"/>
          <p:nvPr/>
        </p:nvSpPr>
        <p:spPr>
          <a:xfrm>
            <a:off x="457200" y="6473952"/>
            <a:ext cx="10058400" cy="274320"/>
          </a:xfrm>
          <a:prstGeom prst="rect">
            <a:avLst/>
          </a:prstGeom>
          <a:noFill/>
          <a:ln/>
        </p:spPr>
        <p:txBody>
          <a:bodyPr wrap="square" lIns="0" tIns="0" rIns="0" bIns="0" rtlCol="0" anchor="ctr"/>
          <a:lstStyle/>
          <a:p>
            <a:pPr indent="0" marL="0">
              <a:buNone/>
            </a:pPr>
            <a:r>
              <a:rPr lang="en-US" sz="1000" dirty="0">
                <a:solidFill>
                  <a:srgbClr val="6B7280"/>
                </a:solidFill>
              </a:rPr>
              <a:t>Hackathon demonstration only — NOT FOR CLINICAL USE  |  AAROGYA DRISHTI · AAROHAN 2026</a:t>
            </a:r>
            <a:endParaRPr lang="en-US" sz="1000" dirty="0"/>
          </a:p>
        </p:txBody>
      </p:sp>
      <p:sp>
        <p:nvSpPr>
          <p:cNvPr id="8" name="Text 5"/>
          <p:cNvSpPr txBox="1"/>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rPr>
              <a:t>10</a:t>
            </a:r>
            <a:endParaRPr lang="en-US" sz="1000" dirty="0"/>
          </a:p>
        </p:txBody>
      </p:sp>
      <p:sp>
        <p:nvSpPr>
          <p:cNvPr id="10" name="Shape 6"/>
          <p:cNvSpPr/>
          <p:nvPr/>
        </p:nvSpPr>
        <p:spPr>
          <a:xfrm>
            <a:off x="457200" y="1143000"/>
            <a:ext cx="2194560" cy="640080"/>
          </a:xfrm>
          <a:prstGeom prst="rect">
            <a:avLst/>
          </a:prstGeom>
          <a:solidFill>
            <a:srgbClr val="0F766E"/>
          </a:solidFill>
          <a:ln/>
        </p:spPr>
      </p:sp>
      <p:sp>
        <p:nvSpPr>
          <p:cNvPr id="11" name="Text 7"/>
          <p:cNvSpPr txBox="1"/>
          <p:nvPr/>
        </p:nvSpPr>
        <p:spPr>
          <a:xfrm>
            <a:off x="457200" y="1143000"/>
            <a:ext cx="2194560" cy="640080"/>
          </a:xfrm>
          <a:prstGeom prst="rect">
            <a:avLst/>
          </a:prstGeom>
          <a:noFill/>
          <a:ln/>
        </p:spPr>
        <p:txBody>
          <a:bodyPr wrap="square" lIns="25400" tIns="25400" rIns="25400" bIns="25400" rtlCol="0" anchor="ctr"/>
          <a:lstStyle/>
          <a:p>
            <a:pPr algn="ctr" indent="0" marL="0">
              <a:buNone/>
            </a:pPr>
            <a:r>
              <a:rPr lang="en-US" sz="1300" b="1" dirty="0">
                <a:solidFill>
                  <a:srgbClr val="FFFFFF"/>
                </a:solidFill>
              </a:rPr>
              <a:t>1 Presentation</a:t>
            </a:r>
            <a:endParaRPr lang="en-US" sz="1300" dirty="0"/>
          </a:p>
        </p:txBody>
      </p:sp>
      <p:sp>
        <p:nvSpPr>
          <p:cNvPr id="12" name="Shape 8"/>
          <p:cNvSpPr/>
          <p:nvPr/>
        </p:nvSpPr>
        <p:spPr>
          <a:xfrm>
            <a:off x="2651760" y="1143000"/>
            <a:ext cx="6309360" cy="640080"/>
          </a:xfrm>
          <a:prstGeom prst="rect">
            <a:avLst/>
          </a:prstGeom>
          <a:solidFill>
            <a:srgbClr val="EEF5F3"/>
          </a:solidFill>
          <a:ln w="19050">
            <a:solidFill>
              <a:srgbClr val="0F766E"/>
            </a:solidFill>
            <a:prstDash val="solid"/>
          </a:ln>
        </p:spPr>
      </p:sp>
      <p:sp>
        <p:nvSpPr>
          <p:cNvPr id="13" name="Text 9"/>
          <p:cNvSpPr txBox="1"/>
          <p:nvPr/>
        </p:nvSpPr>
        <p:spPr>
          <a:xfrm>
            <a:off x="2743200" y="1143000"/>
            <a:ext cx="6126480" cy="640080"/>
          </a:xfrm>
          <a:prstGeom prst="rect">
            <a:avLst/>
          </a:prstGeom>
          <a:noFill/>
          <a:ln/>
        </p:spPr>
        <p:txBody>
          <a:bodyPr wrap="square" lIns="25400" tIns="25400" rIns="25400" bIns="25400" rtlCol="0" anchor="ctr"/>
          <a:lstStyle/>
          <a:p>
            <a:pPr indent="0" marL="0">
              <a:buNone/>
            </a:pPr>
            <a:r>
              <a:rPr lang="en-US" sz="1200" dirty="0">
                <a:solidFill>
                  <a:srgbClr val="1F2937"/>
                </a:solidFill>
              </a:rPr>
              <a:t>Health Worker PWA · Medical Officer · Specialist · Navigator · Admin Dashboard</a:t>
            </a:r>
            <a:endParaRPr lang="en-US" sz="1200" dirty="0"/>
          </a:p>
        </p:txBody>
      </p:sp>
      <p:sp>
        <p:nvSpPr>
          <p:cNvPr id="14" name="Text 10"/>
          <p:cNvSpPr txBox="1"/>
          <p:nvPr/>
        </p:nvSpPr>
        <p:spPr>
          <a:xfrm>
            <a:off x="5394960" y="1746504"/>
            <a:ext cx="548640" cy="274320"/>
          </a:xfrm>
          <a:prstGeom prst="rect">
            <a:avLst/>
          </a:prstGeom>
          <a:noFill/>
          <a:ln/>
        </p:spPr>
        <p:txBody>
          <a:bodyPr wrap="square" lIns="0" tIns="0" rIns="0" bIns="0" rtlCol="0" anchor="ctr"/>
          <a:lstStyle/>
          <a:p>
            <a:pPr algn="ctr" indent="0" marL="0">
              <a:buNone/>
            </a:pPr>
            <a:r>
              <a:rPr lang="en-US" sz="1400" b="1" dirty="0">
                <a:solidFill>
                  <a:srgbClr val="EA580C"/>
                </a:solidFill>
              </a:rPr>
              <a:t>⇅</a:t>
            </a:r>
            <a:endParaRPr lang="en-US" sz="1400" dirty="0"/>
          </a:p>
        </p:txBody>
      </p:sp>
      <p:sp>
        <p:nvSpPr>
          <p:cNvPr id="15" name="Shape 11"/>
          <p:cNvSpPr/>
          <p:nvPr/>
        </p:nvSpPr>
        <p:spPr>
          <a:xfrm>
            <a:off x="457200" y="2011680"/>
            <a:ext cx="2194560" cy="640080"/>
          </a:xfrm>
          <a:prstGeom prst="rect">
            <a:avLst/>
          </a:prstGeom>
          <a:solidFill>
            <a:srgbClr val="12305A"/>
          </a:solidFill>
          <a:ln/>
        </p:spPr>
      </p:sp>
      <p:sp>
        <p:nvSpPr>
          <p:cNvPr id="16" name="Text 12"/>
          <p:cNvSpPr txBox="1"/>
          <p:nvPr/>
        </p:nvSpPr>
        <p:spPr>
          <a:xfrm>
            <a:off x="457200" y="2011680"/>
            <a:ext cx="2194560" cy="640080"/>
          </a:xfrm>
          <a:prstGeom prst="rect">
            <a:avLst/>
          </a:prstGeom>
          <a:noFill/>
          <a:ln/>
        </p:spPr>
        <p:txBody>
          <a:bodyPr wrap="square" lIns="25400" tIns="25400" rIns="25400" bIns="25400" rtlCol="0" anchor="ctr"/>
          <a:lstStyle/>
          <a:p>
            <a:pPr algn="ctr" indent="0" marL="0">
              <a:buNone/>
            </a:pPr>
            <a:r>
              <a:rPr lang="en-US" sz="1300" b="1" dirty="0">
                <a:solidFill>
                  <a:srgbClr val="FFFFFF"/>
                </a:solidFill>
              </a:rPr>
              <a:t>2 API</a:t>
            </a:r>
            <a:endParaRPr lang="en-US" sz="1300" dirty="0"/>
          </a:p>
        </p:txBody>
      </p:sp>
      <p:sp>
        <p:nvSpPr>
          <p:cNvPr id="17" name="Shape 13"/>
          <p:cNvSpPr/>
          <p:nvPr/>
        </p:nvSpPr>
        <p:spPr>
          <a:xfrm>
            <a:off x="2651760" y="2011680"/>
            <a:ext cx="6309360" cy="640080"/>
          </a:xfrm>
          <a:prstGeom prst="rect">
            <a:avLst/>
          </a:prstGeom>
          <a:solidFill>
            <a:srgbClr val="EEF5F3"/>
          </a:solidFill>
          <a:ln w="19050">
            <a:solidFill>
              <a:srgbClr val="12305A"/>
            </a:solidFill>
            <a:prstDash val="solid"/>
          </a:ln>
        </p:spPr>
      </p:sp>
      <p:sp>
        <p:nvSpPr>
          <p:cNvPr id="18" name="Text 14"/>
          <p:cNvSpPr txBox="1"/>
          <p:nvPr/>
        </p:nvSpPr>
        <p:spPr>
          <a:xfrm>
            <a:off x="2743200" y="2011680"/>
            <a:ext cx="6126480" cy="640080"/>
          </a:xfrm>
          <a:prstGeom prst="rect">
            <a:avLst/>
          </a:prstGeom>
          <a:noFill/>
          <a:ln/>
        </p:spPr>
        <p:txBody>
          <a:bodyPr wrap="square" lIns="25400" tIns="25400" rIns="25400" bIns="25400" rtlCol="0" anchor="ctr"/>
          <a:lstStyle/>
          <a:p>
            <a:pPr indent="0" marL="0">
              <a:buNone/>
            </a:pPr>
            <a:r>
              <a:rPr lang="en-US" sz="1200" dirty="0">
                <a:solidFill>
                  <a:srgbClr val="1F2937"/>
                </a:solidFill>
              </a:rPr>
              <a:t>FastAPI · authentication · authorization · validation · workflow</a:t>
            </a:r>
            <a:endParaRPr lang="en-US" sz="1200" dirty="0"/>
          </a:p>
        </p:txBody>
      </p:sp>
      <p:sp>
        <p:nvSpPr>
          <p:cNvPr id="19" name="Text 15"/>
          <p:cNvSpPr txBox="1"/>
          <p:nvPr/>
        </p:nvSpPr>
        <p:spPr>
          <a:xfrm>
            <a:off x="5394960" y="2615184"/>
            <a:ext cx="548640" cy="274320"/>
          </a:xfrm>
          <a:prstGeom prst="rect">
            <a:avLst/>
          </a:prstGeom>
          <a:noFill/>
          <a:ln/>
        </p:spPr>
        <p:txBody>
          <a:bodyPr wrap="square" lIns="0" tIns="0" rIns="0" bIns="0" rtlCol="0" anchor="ctr"/>
          <a:lstStyle/>
          <a:p>
            <a:pPr algn="ctr" indent="0" marL="0">
              <a:buNone/>
            </a:pPr>
            <a:r>
              <a:rPr lang="en-US" sz="1400" b="1" dirty="0">
                <a:solidFill>
                  <a:srgbClr val="EA580C"/>
                </a:solidFill>
              </a:rPr>
              <a:t>⇅</a:t>
            </a:r>
            <a:endParaRPr lang="en-US" sz="1400" dirty="0"/>
          </a:p>
        </p:txBody>
      </p:sp>
      <p:sp>
        <p:nvSpPr>
          <p:cNvPr id="20" name="Shape 16"/>
          <p:cNvSpPr/>
          <p:nvPr/>
        </p:nvSpPr>
        <p:spPr>
          <a:xfrm>
            <a:off x="457200" y="2880360"/>
            <a:ext cx="2194560" cy="640080"/>
          </a:xfrm>
          <a:prstGeom prst="rect">
            <a:avLst/>
          </a:prstGeom>
          <a:solidFill>
            <a:srgbClr val="EA580C"/>
          </a:solidFill>
          <a:ln/>
        </p:spPr>
      </p:sp>
      <p:sp>
        <p:nvSpPr>
          <p:cNvPr id="21" name="Text 17"/>
          <p:cNvSpPr txBox="1"/>
          <p:nvPr/>
        </p:nvSpPr>
        <p:spPr>
          <a:xfrm>
            <a:off x="457200" y="2880360"/>
            <a:ext cx="2194560" cy="640080"/>
          </a:xfrm>
          <a:prstGeom prst="rect">
            <a:avLst/>
          </a:prstGeom>
          <a:noFill/>
          <a:ln/>
        </p:spPr>
        <p:txBody>
          <a:bodyPr wrap="square" lIns="25400" tIns="25400" rIns="25400" bIns="25400" rtlCol="0" anchor="ctr"/>
          <a:lstStyle/>
          <a:p>
            <a:pPr algn="ctr" indent="0" marL="0">
              <a:buNone/>
            </a:pPr>
            <a:r>
              <a:rPr lang="en-US" sz="1300" b="1" dirty="0">
                <a:solidFill>
                  <a:srgbClr val="FFFFFF"/>
                </a:solidFill>
              </a:rPr>
              <a:t>3 AI (can fail)</a:t>
            </a:r>
            <a:endParaRPr lang="en-US" sz="1300" dirty="0"/>
          </a:p>
        </p:txBody>
      </p:sp>
      <p:sp>
        <p:nvSpPr>
          <p:cNvPr id="22" name="Shape 18"/>
          <p:cNvSpPr/>
          <p:nvPr/>
        </p:nvSpPr>
        <p:spPr>
          <a:xfrm>
            <a:off x="2651760" y="2880360"/>
            <a:ext cx="6309360" cy="640080"/>
          </a:xfrm>
          <a:prstGeom prst="rect">
            <a:avLst/>
          </a:prstGeom>
          <a:solidFill>
            <a:srgbClr val="EEF5F3"/>
          </a:solidFill>
          <a:ln w="19050">
            <a:solidFill>
              <a:srgbClr val="EA580C"/>
            </a:solidFill>
            <a:prstDash val="dash"/>
          </a:ln>
        </p:spPr>
      </p:sp>
      <p:sp>
        <p:nvSpPr>
          <p:cNvPr id="23" name="Text 19"/>
          <p:cNvSpPr txBox="1"/>
          <p:nvPr/>
        </p:nvSpPr>
        <p:spPr>
          <a:xfrm>
            <a:off x="2743200" y="2880360"/>
            <a:ext cx="6126480" cy="640080"/>
          </a:xfrm>
          <a:prstGeom prst="rect">
            <a:avLst/>
          </a:prstGeom>
          <a:noFill/>
          <a:ln/>
        </p:spPr>
        <p:txBody>
          <a:bodyPr wrap="square" lIns="25400" tIns="25400" rIns="25400" bIns="25400" rtlCol="0" anchor="ctr"/>
          <a:lstStyle/>
          <a:p>
            <a:pPr indent="0" marL="0">
              <a:buNone/>
            </a:pPr>
            <a:r>
              <a:rPr lang="en-US" sz="1200" dirty="0">
                <a:solidFill>
                  <a:srgbClr val="1F2937"/>
                </a:solidFill>
              </a:rPr>
              <a:t>Image quality service · replaceable mock/research adapter</a:t>
            </a:r>
            <a:endParaRPr lang="en-US" sz="1200" dirty="0"/>
          </a:p>
        </p:txBody>
      </p:sp>
      <p:sp>
        <p:nvSpPr>
          <p:cNvPr id="24" name="Text 20"/>
          <p:cNvSpPr txBox="1"/>
          <p:nvPr/>
        </p:nvSpPr>
        <p:spPr>
          <a:xfrm>
            <a:off x="5394960" y="3483864"/>
            <a:ext cx="548640" cy="274320"/>
          </a:xfrm>
          <a:prstGeom prst="rect">
            <a:avLst/>
          </a:prstGeom>
          <a:noFill/>
          <a:ln/>
        </p:spPr>
        <p:txBody>
          <a:bodyPr wrap="square" lIns="0" tIns="0" rIns="0" bIns="0" rtlCol="0" anchor="ctr"/>
          <a:lstStyle/>
          <a:p>
            <a:pPr algn="ctr" indent="0" marL="0">
              <a:buNone/>
            </a:pPr>
            <a:r>
              <a:rPr lang="en-US" sz="1400" b="1" dirty="0">
                <a:solidFill>
                  <a:srgbClr val="EA580C"/>
                </a:solidFill>
              </a:rPr>
              <a:t>⇅</a:t>
            </a:r>
            <a:endParaRPr lang="en-US" sz="1400" dirty="0"/>
          </a:p>
        </p:txBody>
      </p:sp>
      <p:sp>
        <p:nvSpPr>
          <p:cNvPr id="25" name="Shape 21"/>
          <p:cNvSpPr/>
          <p:nvPr/>
        </p:nvSpPr>
        <p:spPr>
          <a:xfrm>
            <a:off x="457200" y="3749040"/>
            <a:ext cx="2194560" cy="640080"/>
          </a:xfrm>
          <a:prstGeom prst="rect">
            <a:avLst/>
          </a:prstGeom>
          <a:solidFill>
            <a:srgbClr val="12305A"/>
          </a:solidFill>
          <a:ln/>
        </p:spPr>
      </p:sp>
      <p:sp>
        <p:nvSpPr>
          <p:cNvPr id="26" name="Text 22"/>
          <p:cNvSpPr txBox="1"/>
          <p:nvPr/>
        </p:nvSpPr>
        <p:spPr>
          <a:xfrm>
            <a:off x="457200" y="3749040"/>
            <a:ext cx="2194560" cy="640080"/>
          </a:xfrm>
          <a:prstGeom prst="rect">
            <a:avLst/>
          </a:prstGeom>
          <a:noFill/>
          <a:ln/>
        </p:spPr>
        <p:txBody>
          <a:bodyPr wrap="square" lIns="25400" tIns="25400" rIns="25400" bIns="25400" rtlCol="0" anchor="ctr"/>
          <a:lstStyle/>
          <a:p>
            <a:pPr algn="ctr" indent="0" marL="0">
              <a:buNone/>
            </a:pPr>
            <a:r>
              <a:rPr lang="en-US" sz="1300" b="1" dirty="0">
                <a:solidFill>
                  <a:srgbClr val="FFFFFF"/>
                </a:solidFill>
              </a:rPr>
              <a:t>4 Data</a:t>
            </a:r>
            <a:endParaRPr lang="en-US" sz="1300" dirty="0"/>
          </a:p>
        </p:txBody>
      </p:sp>
      <p:sp>
        <p:nvSpPr>
          <p:cNvPr id="27" name="Shape 23"/>
          <p:cNvSpPr/>
          <p:nvPr/>
        </p:nvSpPr>
        <p:spPr>
          <a:xfrm>
            <a:off x="2651760" y="3749040"/>
            <a:ext cx="6309360" cy="640080"/>
          </a:xfrm>
          <a:prstGeom prst="rect">
            <a:avLst/>
          </a:prstGeom>
          <a:solidFill>
            <a:srgbClr val="EEF5F3"/>
          </a:solidFill>
          <a:ln w="19050">
            <a:solidFill>
              <a:srgbClr val="12305A"/>
            </a:solidFill>
            <a:prstDash val="solid"/>
          </a:ln>
        </p:spPr>
      </p:sp>
      <p:sp>
        <p:nvSpPr>
          <p:cNvPr id="28" name="Text 24"/>
          <p:cNvSpPr txBox="1"/>
          <p:nvPr/>
        </p:nvSpPr>
        <p:spPr>
          <a:xfrm>
            <a:off x="2743200" y="3749040"/>
            <a:ext cx="6126480" cy="640080"/>
          </a:xfrm>
          <a:prstGeom prst="rect">
            <a:avLst/>
          </a:prstGeom>
          <a:noFill/>
          <a:ln/>
        </p:spPr>
        <p:txBody>
          <a:bodyPr wrap="square" lIns="25400" tIns="25400" rIns="25400" bIns="25400" rtlCol="0" anchor="ctr"/>
          <a:lstStyle/>
          <a:p>
            <a:pPr indent="0" marL="0">
              <a:buNone/>
            </a:pPr>
            <a:r>
              <a:rPr lang="en-US" sz="1200" dirty="0">
                <a:solidFill>
                  <a:srgbClr val="1F2937"/>
                </a:solidFill>
              </a:rPr>
              <a:t>PostgreSQL · private image/report storage</a:t>
            </a:r>
            <a:endParaRPr lang="en-US" sz="1200" dirty="0"/>
          </a:p>
        </p:txBody>
      </p:sp>
      <p:sp>
        <p:nvSpPr>
          <p:cNvPr id="29" name="Text 25"/>
          <p:cNvSpPr txBox="1"/>
          <p:nvPr/>
        </p:nvSpPr>
        <p:spPr>
          <a:xfrm>
            <a:off x="5394960" y="4352544"/>
            <a:ext cx="548640" cy="274320"/>
          </a:xfrm>
          <a:prstGeom prst="rect">
            <a:avLst/>
          </a:prstGeom>
          <a:noFill/>
          <a:ln/>
        </p:spPr>
        <p:txBody>
          <a:bodyPr wrap="square" lIns="0" tIns="0" rIns="0" bIns="0" rtlCol="0" anchor="ctr"/>
          <a:lstStyle/>
          <a:p>
            <a:pPr algn="ctr" indent="0" marL="0">
              <a:buNone/>
            </a:pPr>
            <a:r>
              <a:rPr lang="en-US" sz="1400" b="1" dirty="0">
                <a:solidFill>
                  <a:srgbClr val="EA580C"/>
                </a:solidFill>
              </a:rPr>
              <a:t>⇅</a:t>
            </a:r>
            <a:endParaRPr lang="en-US" sz="1400" dirty="0"/>
          </a:p>
        </p:txBody>
      </p:sp>
      <p:sp>
        <p:nvSpPr>
          <p:cNvPr id="30" name="Shape 26"/>
          <p:cNvSpPr/>
          <p:nvPr/>
        </p:nvSpPr>
        <p:spPr>
          <a:xfrm>
            <a:off x="457200" y="4617720"/>
            <a:ext cx="2194560" cy="640080"/>
          </a:xfrm>
          <a:prstGeom prst="rect">
            <a:avLst/>
          </a:prstGeom>
          <a:solidFill>
            <a:srgbClr val="0F766E"/>
          </a:solidFill>
          <a:ln/>
        </p:spPr>
      </p:sp>
      <p:sp>
        <p:nvSpPr>
          <p:cNvPr id="31" name="Text 27"/>
          <p:cNvSpPr txBox="1"/>
          <p:nvPr/>
        </p:nvSpPr>
        <p:spPr>
          <a:xfrm>
            <a:off x="457200" y="4617720"/>
            <a:ext cx="2194560" cy="640080"/>
          </a:xfrm>
          <a:prstGeom prst="rect">
            <a:avLst/>
          </a:prstGeom>
          <a:noFill/>
          <a:ln/>
        </p:spPr>
        <p:txBody>
          <a:bodyPr wrap="square" lIns="25400" tIns="25400" rIns="25400" bIns="25400" rtlCol="0" anchor="ctr"/>
          <a:lstStyle/>
          <a:p>
            <a:pPr algn="ctr" indent="0" marL="0">
              <a:buNone/>
            </a:pPr>
            <a:r>
              <a:rPr lang="en-US" sz="1300" b="1" dirty="0">
                <a:solidFill>
                  <a:srgbClr val="FFFFFF"/>
                </a:solidFill>
              </a:rPr>
              <a:t>5 Integration</a:t>
            </a:r>
            <a:endParaRPr lang="en-US" sz="1300" dirty="0"/>
          </a:p>
        </p:txBody>
      </p:sp>
      <p:sp>
        <p:nvSpPr>
          <p:cNvPr id="32" name="Shape 28"/>
          <p:cNvSpPr/>
          <p:nvPr/>
        </p:nvSpPr>
        <p:spPr>
          <a:xfrm>
            <a:off x="2651760" y="4617720"/>
            <a:ext cx="6309360" cy="640080"/>
          </a:xfrm>
          <a:prstGeom prst="rect">
            <a:avLst/>
          </a:prstGeom>
          <a:solidFill>
            <a:srgbClr val="EEF5F3"/>
          </a:solidFill>
          <a:ln w="19050">
            <a:solidFill>
              <a:srgbClr val="0F766E"/>
            </a:solidFill>
            <a:prstDash val="solid"/>
          </a:ln>
        </p:spPr>
      </p:sp>
      <p:sp>
        <p:nvSpPr>
          <p:cNvPr id="33" name="Text 29"/>
          <p:cNvSpPr txBox="1"/>
          <p:nvPr/>
        </p:nvSpPr>
        <p:spPr>
          <a:xfrm>
            <a:off x="2743200" y="4617720"/>
            <a:ext cx="6126480" cy="640080"/>
          </a:xfrm>
          <a:prstGeom prst="rect">
            <a:avLst/>
          </a:prstGeom>
          <a:noFill/>
          <a:ln/>
        </p:spPr>
        <p:txBody>
          <a:bodyPr wrap="square" lIns="25400" tIns="25400" rIns="25400" bIns="25400" rtlCol="0" anchor="ctr"/>
          <a:lstStyle/>
          <a:p>
            <a:pPr indent="0" marL="0">
              <a:buNone/>
            </a:pPr>
            <a:r>
              <a:rPr lang="en-US" sz="1200" dirty="0">
                <a:solidFill>
                  <a:srgbClr val="1F2937"/>
                </a:solidFill>
              </a:rPr>
              <a:t>Secure video consultation · appointments · notifications (if implemented)</a:t>
            </a:r>
            <a:endParaRPr lang="en-US" sz="1200" dirty="0"/>
          </a:p>
        </p:txBody>
      </p:sp>
      <p:sp>
        <p:nvSpPr>
          <p:cNvPr id="34" name="Text 30"/>
          <p:cNvSpPr txBox="1"/>
          <p:nvPr/>
        </p:nvSpPr>
        <p:spPr>
          <a:xfrm>
            <a:off x="5394960" y="5221224"/>
            <a:ext cx="548640" cy="274320"/>
          </a:xfrm>
          <a:prstGeom prst="rect">
            <a:avLst/>
          </a:prstGeom>
          <a:noFill/>
          <a:ln/>
        </p:spPr>
        <p:txBody>
          <a:bodyPr wrap="square" lIns="0" tIns="0" rIns="0" bIns="0" rtlCol="0" anchor="ctr"/>
          <a:lstStyle/>
          <a:p>
            <a:pPr algn="ctr" indent="0" marL="0">
              <a:buNone/>
            </a:pPr>
            <a:r>
              <a:rPr lang="en-US" sz="1400" b="1" dirty="0">
                <a:solidFill>
                  <a:srgbClr val="EA580C"/>
                </a:solidFill>
              </a:rPr>
              <a:t>⇅</a:t>
            </a:r>
            <a:endParaRPr lang="en-US" sz="1400" dirty="0"/>
          </a:p>
        </p:txBody>
      </p:sp>
      <p:sp>
        <p:nvSpPr>
          <p:cNvPr id="35" name="Shape 31"/>
          <p:cNvSpPr/>
          <p:nvPr/>
        </p:nvSpPr>
        <p:spPr>
          <a:xfrm>
            <a:off x="457200" y="5486400"/>
            <a:ext cx="2194560" cy="640080"/>
          </a:xfrm>
          <a:prstGeom prst="rect">
            <a:avLst/>
          </a:prstGeom>
          <a:solidFill>
            <a:srgbClr val="12305A"/>
          </a:solidFill>
          <a:ln/>
        </p:spPr>
      </p:sp>
      <p:sp>
        <p:nvSpPr>
          <p:cNvPr id="36" name="Text 32"/>
          <p:cNvSpPr txBox="1"/>
          <p:nvPr/>
        </p:nvSpPr>
        <p:spPr>
          <a:xfrm>
            <a:off x="457200" y="5486400"/>
            <a:ext cx="2194560" cy="640080"/>
          </a:xfrm>
          <a:prstGeom prst="rect">
            <a:avLst/>
          </a:prstGeom>
          <a:noFill/>
          <a:ln/>
        </p:spPr>
        <p:txBody>
          <a:bodyPr wrap="square" lIns="25400" tIns="25400" rIns="25400" bIns="25400" rtlCol="0" anchor="ctr"/>
          <a:lstStyle/>
          <a:p>
            <a:pPr algn="ctr" indent="0" marL="0">
              <a:buNone/>
            </a:pPr>
            <a:r>
              <a:rPr lang="en-US" sz="1300" b="1" dirty="0">
                <a:solidFill>
                  <a:srgbClr val="FFFFFF"/>
                </a:solidFill>
              </a:rPr>
              <a:t>6 Infrastructure</a:t>
            </a:r>
            <a:endParaRPr lang="en-US" sz="1300" dirty="0"/>
          </a:p>
        </p:txBody>
      </p:sp>
      <p:sp>
        <p:nvSpPr>
          <p:cNvPr id="37" name="Shape 33"/>
          <p:cNvSpPr/>
          <p:nvPr/>
        </p:nvSpPr>
        <p:spPr>
          <a:xfrm>
            <a:off x="2651760" y="5486400"/>
            <a:ext cx="6309360" cy="640080"/>
          </a:xfrm>
          <a:prstGeom prst="rect">
            <a:avLst/>
          </a:prstGeom>
          <a:solidFill>
            <a:srgbClr val="EEF5F3"/>
          </a:solidFill>
          <a:ln w="19050">
            <a:solidFill>
              <a:srgbClr val="12305A"/>
            </a:solidFill>
            <a:prstDash val="solid"/>
          </a:ln>
        </p:spPr>
      </p:sp>
      <p:sp>
        <p:nvSpPr>
          <p:cNvPr id="38" name="Text 34"/>
          <p:cNvSpPr txBox="1"/>
          <p:nvPr/>
        </p:nvSpPr>
        <p:spPr>
          <a:xfrm>
            <a:off x="2743200" y="5486400"/>
            <a:ext cx="6126480" cy="640080"/>
          </a:xfrm>
          <a:prstGeom prst="rect">
            <a:avLst/>
          </a:prstGeom>
          <a:noFill/>
          <a:ln/>
        </p:spPr>
        <p:txBody>
          <a:bodyPr wrap="square" lIns="25400" tIns="25400" rIns="25400" bIns="25400" rtlCol="0" anchor="ctr"/>
          <a:lstStyle/>
          <a:p>
            <a:pPr indent="0" marL="0">
              <a:buNone/>
            </a:pPr>
            <a:r>
              <a:rPr lang="en-US" sz="1200" dirty="0">
                <a:solidFill>
                  <a:srgbClr val="1F2937"/>
                </a:solidFill>
              </a:rPr>
              <a:t>Docker · HTTPS · monitoring · backups · deployment</a:t>
            </a:r>
            <a:endParaRPr lang="en-US" sz="1200" dirty="0"/>
          </a:p>
        </p:txBody>
      </p:sp>
      <p:sp>
        <p:nvSpPr>
          <p:cNvPr id="39" name="Shape 35"/>
          <p:cNvSpPr/>
          <p:nvPr/>
        </p:nvSpPr>
        <p:spPr>
          <a:xfrm>
            <a:off x="9144000" y="1143000"/>
            <a:ext cx="2587752" cy="1463040"/>
          </a:xfrm>
          <a:prstGeom prst="roundRect">
            <a:avLst>
              <a:gd name="adj" fmla="val 3750"/>
            </a:avLst>
          </a:prstGeom>
          <a:solidFill>
            <a:srgbClr val="EEF5F3"/>
          </a:solidFill>
          <a:ln w="12700">
            <a:solidFill>
              <a:srgbClr val="0F766E"/>
            </a:solidFill>
            <a:prstDash val="solid"/>
          </a:ln>
        </p:spPr>
      </p:sp>
      <p:sp>
        <p:nvSpPr>
          <p:cNvPr id="40" name="Text 36"/>
          <p:cNvSpPr txBox="1"/>
          <p:nvPr/>
        </p:nvSpPr>
        <p:spPr>
          <a:xfrm>
            <a:off x="9189720" y="1188720"/>
            <a:ext cx="2496312" cy="1371600"/>
          </a:xfrm>
          <a:prstGeom prst="rect">
            <a:avLst/>
          </a:prstGeom>
          <a:noFill/>
          <a:ln/>
        </p:spPr>
        <p:txBody>
          <a:bodyPr wrap="square" lIns="25400" tIns="25400" rIns="25400" bIns="25400" rtlCol="0" anchor="t"/>
          <a:lstStyle/>
          <a:p>
            <a:pPr indent="0" marL="0">
              <a:buNone/>
            </a:pPr>
            <a:r>
              <a:rPr lang="en-US" sz="1200" b="1" dirty="0">
                <a:solidFill>
                  <a:srgbClr val="0F766E"/>
                </a:solidFill>
              </a:rPr>
              <a:t>Security boundary</a:t>
            </a:r>
            <a:endParaRPr lang="en-US" sz="1300" dirty="0"/>
          </a:p>
          <a:p>
            <a:pPr indent="0" marL="0">
              <a:buNone/>
            </a:pPr>
            <a:r>
              <a:rPr lang="en-US" sz="1100" dirty="0">
                <a:solidFill>
                  <a:srgbClr val="1F2937"/>
                </a:solidFill>
              </a:rPr>
              <a:t>Auth + patient-level checks at the API; private storage; no public links.</a:t>
            </a:r>
            <a:endParaRPr lang="en-US" sz="1300" dirty="0"/>
          </a:p>
        </p:txBody>
      </p:sp>
      <p:sp>
        <p:nvSpPr>
          <p:cNvPr id="41" name="Shape 37"/>
          <p:cNvSpPr/>
          <p:nvPr/>
        </p:nvSpPr>
        <p:spPr>
          <a:xfrm>
            <a:off x="9144000" y="2788920"/>
            <a:ext cx="2587752" cy="1463040"/>
          </a:xfrm>
          <a:prstGeom prst="roundRect">
            <a:avLst>
              <a:gd name="adj" fmla="val 3750"/>
            </a:avLst>
          </a:prstGeom>
          <a:solidFill>
            <a:srgbClr val="EEF5F3"/>
          </a:solidFill>
          <a:ln w="12700">
            <a:solidFill>
              <a:srgbClr val="0F766E"/>
            </a:solidFill>
            <a:prstDash val="solid"/>
          </a:ln>
        </p:spPr>
      </p:sp>
      <p:sp>
        <p:nvSpPr>
          <p:cNvPr id="42" name="Text 38"/>
          <p:cNvSpPr txBox="1"/>
          <p:nvPr/>
        </p:nvSpPr>
        <p:spPr>
          <a:xfrm>
            <a:off x="9189720" y="2834640"/>
            <a:ext cx="2496312" cy="1371600"/>
          </a:xfrm>
          <a:prstGeom prst="rect">
            <a:avLst/>
          </a:prstGeom>
          <a:noFill/>
          <a:ln/>
        </p:spPr>
        <p:txBody>
          <a:bodyPr wrap="square" lIns="25400" tIns="25400" rIns="25400" bIns="25400" rtlCol="0" anchor="t"/>
          <a:lstStyle/>
          <a:p>
            <a:pPr indent="0" marL="0">
              <a:buNone/>
            </a:pPr>
            <a:r>
              <a:rPr lang="en-US" sz="1200" b="1" dirty="0">
                <a:solidFill>
                  <a:srgbClr val="0F766E"/>
                </a:solidFill>
              </a:rPr>
              <a:t>Private vs aggregate</a:t>
            </a:r>
            <a:endParaRPr lang="en-US" sz="1300" dirty="0"/>
          </a:p>
          <a:p>
            <a:pPr indent="0" marL="0">
              <a:buNone/>
            </a:pPr>
            <a:r>
              <a:rPr lang="en-US" sz="1100" dirty="0">
                <a:solidFill>
                  <a:srgbClr val="1F2937"/>
                </a:solidFill>
              </a:rPr>
              <a:t>Images/records stay private; dashboard shows aggregates only.</a:t>
            </a:r>
            <a:endParaRPr lang="en-US" sz="1300" dirty="0"/>
          </a:p>
        </p:txBody>
      </p:sp>
      <p:sp>
        <p:nvSpPr>
          <p:cNvPr id="43" name="Shape 39"/>
          <p:cNvSpPr/>
          <p:nvPr/>
        </p:nvSpPr>
        <p:spPr>
          <a:xfrm>
            <a:off x="9144000" y="4434840"/>
            <a:ext cx="2587752" cy="1463040"/>
          </a:xfrm>
          <a:prstGeom prst="roundRect">
            <a:avLst>
              <a:gd name="adj" fmla="val 3750"/>
            </a:avLst>
          </a:prstGeom>
          <a:solidFill>
            <a:srgbClr val="EEF5F3"/>
          </a:solidFill>
          <a:ln w="12700">
            <a:solidFill>
              <a:srgbClr val="0F766E"/>
            </a:solidFill>
            <a:prstDash val="solid"/>
          </a:ln>
        </p:spPr>
      </p:sp>
      <p:sp>
        <p:nvSpPr>
          <p:cNvPr id="44" name="Text 40"/>
          <p:cNvSpPr txBox="1"/>
          <p:nvPr/>
        </p:nvSpPr>
        <p:spPr>
          <a:xfrm>
            <a:off x="9189720" y="4480560"/>
            <a:ext cx="2496312" cy="1371600"/>
          </a:xfrm>
          <a:prstGeom prst="rect">
            <a:avLst/>
          </a:prstGeom>
          <a:noFill/>
          <a:ln/>
        </p:spPr>
        <p:txBody>
          <a:bodyPr wrap="square" lIns="25400" tIns="25400" rIns="25400" bIns="25400" rtlCol="0" anchor="t"/>
          <a:lstStyle/>
          <a:p>
            <a:pPr indent="0" marL="0">
              <a:buNone/>
            </a:pPr>
            <a:r>
              <a:rPr lang="en-US" sz="1200" b="1" dirty="0">
                <a:solidFill>
                  <a:srgbClr val="0F766E"/>
                </a:solidFill>
              </a:rPr>
              <a:t>Fault isolation</a:t>
            </a:r>
            <a:endParaRPr lang="en-US" sz="1300" dirty="0"/>
          </a:p>
          <a:p>
            <a:pPr indent="0" marL="0">
              <a:buNone/>
            </a:pPr>
            <a:r>
              <a:rPr lang="en-US" sz="1100" dirty="0">
                <a:solidFill>
                  <a:srgbClr val="1F2937"/>
                </a:solidFill>
              </a:rPr>
              <a:t>AI down ≠ workflow down. Manual review continues.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F766E"/>
          </a:solidFill>
          <a:ln/>
        </p:spPr>
      </p:sp>
      <p:sp>
        <p:nvSpPr>
          <p:cNvPr id="3" name="Text 1"/>
          <p:cNvSpPr txBox="1"/>
          <p:nvPr/>
        </p:nvSpPr>
        <p:spPr>
          <a:xfrm>
            <a:off x="457200" y="228600"/>
            <a:ext cx="10424160" cy="640080"/>
          </a:xfrm>
          <a:prstGeom prst="rect">
            <a:avLst/>
          </a:prstGeom>
          <a:noFill/>
          <a:ln/>
        </p:spPr>
        <p:txBody>
          <a:bodyPr wrap="square" lIns="0" tIns="0" rIns="0" bIns="0" rtlCol="0" anchor="ctr"/>
          <a:lstStyle/>
          <a:p>
            <a:pPr indent="0" marL="0">
              <a:buNone/>
            </a:pPr>
            <a:r>
              <a:rPr lang="en-US" sz="3000" b="1" dirty="0">
                <a:solidFill>
                  <a:srgbClr val="12305A"/>
                </a:solidFill>
              </a:rPr>
              <a:t>Database Architecture (Proposed ER Diagram)</a:t>
            </a:r>
            <a:endParaRPr lang="en-US" sz="3000" dirty="0"/>
          </a:p>
        </p:txBody>
      </p:sp>
      <p:sp>
        <p:nvSpPr>
          <p:cNvPr id="4" name="Shape 2"/>
          <p:cNvSpPr/>
          <p:nvPr/>
        </p:nvSpPr>
        <p:spPr>
          <a:xfrm>
            <a:off x="11064240" y="201168"/>
            <a:ext cx="658368" cy="658368"/>
          </a:xfrm>
          <a:prstGeom prst="ellipse">
            <a:avLst/>
          </a:prstGeom>
          <a:solidFill>
            <a:srgbClr val="0F766E"/>
          </a:solidFill>
          <a:ln/>
        </p:spPr>
      </p:sp>
      <p:pic>
        <p:nvPicPr>
          <p:cNvPr id="5" name="Image 0" descr="preencoded.png">    </p:cNvPr>
          <p:cNvPicPr>
            <a:picLocks noChangeAspect="1"/>
          </p:cNvPicPr>
          <p:nvPr/>
        </p:nvPicPr>
        <p:blipFill>
          <a:blip r:embed="rId1"/>
          <a:stretch>
            <a:fillRect/>
          </a:stretch>
        </p:blipFill>
        <p:spPr>
          <a:xfrm>
            <a:off x="11210544" y="347472"/>
            <a:ext cx="365760" cy="365760"/>
          </a:xfrm>
          <a:prstGeom prst="rect">
            <a:avLst/>
          </a:prstGeom>
        </p:spPr>
      </p:pic>
      <p:sp>
        <p:nvSpPr>
          <p:cNvPr id="6" name="Shape 3"/>
          <p:cNvSpPr/>
          <p:nvPr/>
        </p:nvSpPr>
        <p:spPr>
          <a:xfrm>
            <a:off x="457200" y="896112"/>
            <a:ext cx="1097280" cy="45720"/>
          </a:xfrm>
          <a:prstGeom prst="rect">
            <a:avLst/>
          </a:prstGeom>
          <a:solidFill>
            <a:srgbClr val="EA580C"/>
          </a:solidFill>
          <a:ln/>
        </p:spPr>
      </p:sp>
      <p:sp>
        <p:nvSpPr>
          <p:cNvPr id="7" name="Text 4"/>
          <p:cNvSpPr txBox="1"/>
          <p:nvPr/>
        </p:nvSpPr>
        <p:spPr>
          <a:xfrm>
            <a:off x="457200" y="6473952"/>
            <a:ext cx="10058400" cy="274320"/>
          </a:xfrm>
          <a:prstGeom prst="rect">
            <a:avLst/>
          </a:prstGeom>
          <a:noFill/>
          <a:ln/>
        </p:spPr>
        <p:txBody>
          <a:bodyPr wrap="square" lIns="0" tIns="0" rIns="0" bIns="0" rtlCol="0" anchor="ctr"/>
          <a:lstStyle/>
          <a:p>
            <a:pPr indent="0" marL="0">
              <a:buNone/>
            </a:pPr>
            <a:r>
              <a:rPr lang="en-US" sz="1000" dirty="0">
                <a:solidFill>
                  <a:srgbClr val="6B7280"/>
                </a:solidFill>
              </a:rPr>
              <a:t>Hackathon demonstration only — NOT FOR CLINICAL USE  |  AAROGYA DRISHTI · AAROHAN 2026</a:t>
            </a:r>
            <a:endParaRPr lang="en-US" sz="1000" dirty="0"/>
          </a:p>
        </p:txBody>
      </p:sp>
      <p:sp>
        <p:nvSpPr>
          <p:cNvPr id="8" name="Text 5"/>
          <p:cNvSpPr txBox="1"/>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rPr>
              <a:t>11</a:t>
            </a:r>
            <a:endParaRPr lang="en-US" sz="1000" dirty="0"/>
          </a:p>
        </p:txBody>
      </p:sp>
      <p:sp>
        <p:nvSpPr>
          <p:cNvPr id="10" name="Shape 6"/>
          <p:cNvSpPr/>
          <p:nvPr/>
        </p:nvSpPr>
        <p:spPr>
          <a:xfrm>
            <a:off x="457200" y="1143000"/>
            <a:ext cx="2560320" cy="731520"/>
          </a:xfrm>
          <a:prstGeom prst="roundRect">
            <a:avLst>
              <a:gd name="adj" fmla="val 7500"/>
            </a:avLst>
          </a:prstGeom>
          <a:solidFill>
            <a:srgbClr val="EEF5F3"/>
          </a:solidFill>
          <a:ln w="19050">
            <a:solidFill>
              <a:srgbClr val="0F766E"/>
            </a:solidFill>
            <a:prstDash val="solid"/>
          </a:ln>
        </p:spPr>
      </p:sp>
      <p:sp>
        <p:nvSpPr>
          <p:cNvPr id="11" name="Text 7"/>
          <p:cNvSpPr txBox="1"/>
          <p:nvPr/>
        </p:nvSpPr>
        <p:spPr>
          <a:xfrm>
            <a:off x="502920" y="1143000"/>
            <a:ext cx="2468880" cy="731520"/>
          </a:xfrm>
          <a:prstGeom prst="rect">
            <a:avLst/>
          </a:prstGeom>
          <a:noFill/>
          <a:ln/>
        </p:spPr>
        <p:txBody>
          <a:bodyPr wrap="square" lIns="25400" tIns="25400" rIns="25400" bIns="25400" rtlCol="0" anchor="ctr"/>
          <a:lstStyle/>
          <a:p>
            <a:pPr indent="0" marL="0">
              <a:buNone/>
            </a:pPr>
            <a:r>
              <a:rPr lang="en-US" sz="1300" b="1" dirty="0">
                <a:solidFill>
                  <a:srgbClr val="0F766E"/>
                </a:solidFill>
              </a:rPr>
              <a:t>Users</a:t>
            </a:r>
            <a:endParaRPr lang="en-US" sz="1300" dirty="0"/>
          </a:p>
          <a:p>
            <a:pPr indent="0" marL="0">
              <a:buNone/>
            </a:pPr>
            <a:r>
              <a:rPr lang="en-US" sz="1000" dirty="0">
                <a:solidFill>
                  <a:srgbClr val="1F2937"/>
                </a:solidFill>
              </a:rPr>
              <a:t>role, facility</a:t>
            </a:r>
            <a:endParaRPr lang="en-US" sz="1300" dirty="0"/>
          </a:p>
        </p:txBody>
      </p:sp>
      <p:sp>
        <p:nvSpPr>
          <p:cNvPr id="12" name="Shape 8"/>
          <p:cNvSpPr/>
          <p:nvPr/>
        </p:nvSpPr>
        <p:spPr>
          <a:xfrm>
            <a:off x="3355848" y="1143000"/>
            <a:ext cx="2560320" cy="731520"/>
          </a:xfrm>
          <a:prstGeom prst="roundRect">
            <a:avLst>
              <a:gd name="adj" fmla="val 7500"/>
            </a:avLst>
          </a:prstGeom>
          <a:solidFill>
            <a:srgbClr val="EEF5F3"/>
          </a:solidFill>
          <a:ln w="19050">
            <a:solidFill>
              <a:srgbClr val="0F766E"/>
            </a:solidFill>
            <a:prstDash val="solid"/>
          </a:ln>
        </p:spPr>
      </p:sp>
      <p:sp>
        <p:nvSpPr>
          <p:cNvPr id="13" name="Text 9"/>
          <p:cNvSpPr txBox="1"/>
          <p:nvPr/>
        </p:nvSpPr>
        <p:spPr>
          <a:xfrm>
            <a:off x="3401568" y="1143000"/>
            <a:ext cx="2468880" cy="731520"/>
          </a:xfrm>
          <a:prstGeom prst="rect">
            <a:avLst/>
          </a:prstGeom>
          <a:noFill/>
          <a:ln/>
        </p:spPr>
        <p:txBody>
          <a:bodyPr wrap="square" lIns="25400" tIns="25400" rIns="25400" bIns="25400" rtlCol="0" anchor="ctr"/>
          <a:lstStyle/>
          <a:p>
            <a:pPr indent="0" marL="0">
              <a:buNone/>
            </a:pPr>
            <a:r>
              <a:rPr lang="en-US" sz="1300" b="1" dirty="0">
                <a:solidFill>
                  <a:srgbClr val="0F766E"/>
                </a:solidFill>
              </a:rPr>
              <a:t>Patients</a:t>
            </a:r>
            <a:endParaRPr lang="en-US" sz="1300" dirty="0"/>
          </a:p>
          <a:p>
            <a:pPr indent="0" marL="0">
              <a:buNone/>
            </a:pPr>
            <a:r>
              <a:rPr lang="en-US" sz="1000" dirty="0">
                <a:solidFill>
                  <a:srgbClr val="1F2937"/>
                </a:solidFill>
              </a:rPr>
              <a:t>demographics, residence</a:t>
            </a:r>
            <a:endParaRPr lang="en-US" sz="1300" dirty="0"/>
          </a:p>
        </p:txBody>
      </p:sp>
      <p:sp>
        <p:nvSpPr>
          <p:cNvPr id="14" name="Shape 10"/>
          <p:cNvSpPr/>
          <p:nvPr/>
        </p:nvSpPr>
        <p:spPr>
          <a:xfrm>
            <a:off x="6254496" y="1143000"/>
            <a:ext cx="2560320" cy="731520"/>
          </a:xfrm>
          <a:prstGeom prst="roundRect">
            <a:avLst>
              <a:gd name="adj" fmla="val 7500"/>
            </a:avLst>
          </a:prstGeom>
          <a:solidFill>
            <a:srgbClr val="EEF5F3"/>
          </a:solidFill>
          <a:ln w="19050">
            <a:solidFill>
              <a:srgbClr val="0F766E"/>
            </a:solidFill>
            <a:prstDash val="solid"/>
          </a:ln>
        </p:spPr>
      </p:sp>
      <p:sp>
        <p:nvSpPr>
          <p:cNvPr id="15" name="Text 11"/>
          <p:cNvSpPr txBox="1"/>
          <p:nvPr/>
        </p:nvSpPr>
        <p:spPr>
          <a:xfrm>
            <a:off x="6300216" y="1143000"/>
            <a:ext cx="2468880" cy="731520"/>
          </a:xfrm>
          <a:prstGeom prst="rect">
            <a:avLst/>
          </a:prstGeom>
          <a:noFill/>
          <a:ln/>
        </p:spPr>
        <p:txBody>
          <a:bodyPr wrap="square" lIns="25400" tIns="25400" rIns="25400" bIns="25400" rtlCol="0" anchor="ctr"/>
          <a:lstStyle/>
          <a:p>
            <a:pPr indent="0" marL="0">
              <a:buNone/>
            </a:pPr>
            <a:r>
              <a:rPr lang="en-US" sz="1300" b="1" dirty="0">
                <a:solidFill>
                  <a:srgbClr val="0F766E"/>
                </a:solidFill>
              </a:rPr>
              <a:t>Consents</a:t>
            </a:r>
            <a:endParaRPr lang="en-US" sz="1300" dirty="0"/>
          </a:p>
          <a:p>
            <a:pPr indent="0" marL="0">
              <a:buNone/>
            </a:pPr>
            <a:r>
              <a:rPr lang="en-US" sz="1000" dirty="0">
                <a:solidFill>
                  <a:srgbClr val="1F2937"/>
                </a:solidFill>
              </a:rPr>
              <a:t>purpose, version, time</a:t>
            </a:r>
            <a:endParaRPr lang="en-US" sz="1300" dirty="0"/>
          </a:p>
        </p:txBody>
      </p:sp>
      <p:sp>
        <p:nvSpPr>
          <p:cNvPr id="16" name="Shape 12"/>
          <p:cNvSpPr/>
          <p:nvPr/>
        </p:nvSpPr>
        <p:spPr>
          <a:xfrm>
            <a:off x="9153144" y="1143000"/>
            <a:ext cx="2560320" cy="731520"/>
          </a:xfrm>
          <a:prstGeom prst="roundRect">
            <a:avLst>
              <a:gd name="adj" fmla="val 7500"/>
            </a:avLst>
          </a:prstGeom>
          <a:solidFill>
            <a:srgbClr val="EEF5F3"/>
          </a:solidFill>
          <a:ln w="19050">
            <a:solidFill>
              <a:srgbClr val="0F766E"/>
            </a:solidFill>
            <a:prstDash val="solid"/>
          </a:ln>
        </p:spPr>
      </p:sp>
      <p:sp>
        <p:nvSpPr>
          <p:cNvPr id="17" name="Text 13"/>
          <p:cNvSpPr txBox="1"/>
          <p:nvPr/>
        </p:nvSpPr>
        <p:spPr>
          <a:xfrm>
            <a:off x="9198864" y="1143000"/>
            <a:ext cx="2468880" cy="731520"/>
          </a:xfrm>
          <a:prstGeom prst="rect">
            <a:avLst/>
          </a:prstGeom>
          <a:noFill/>
          <a:ln/>
        </p:spPr>
        <p:txBody>
          <a:bodyPr wrap="square" lIns="25400" tIns="25400" rIns="25400" bIns="25400" rtlCol="0" anchor="ctr"/>
          <a:lstStyle/>
          <a:p>
            <a:pPr indent="0" marL="0">
              <a:buNone/>
            </a:pPr>
            <a:r>
              <a:rPr lang="en-US" sz="1300" b="1" dirty="0">
                <a:solidFill>
                  <a:srgbClr val="0F766E"/>
                </a:solidFill>
              </a:rPr>
              <a:t>Audit Events</a:t>
            </a:r>
            <a:endParaRPr lang="en-US" sz="1300" dirty="0"/>
          </a:p>
          <a:p>
            <a:pPr indent="0" marL="0">
              <a:buNone/>
            </a:pPr>
            <a:r>
              <a:rPr lang="en-US" sz="1000" dirty="0">
                <a:solidFill>
                  <a:srgbClr val="1F2937"/>
                </a:solidFill>
              </a:rPr>
              <a:t>append-only, all actions</a:t>
            </a:r>
            <a:endParaRPr lang="en-US" sz="1300" dirty="0"/>
          </a:p>
        </p:txBody>
      </p:sp>
      <p:sp>
        <p:nvSpPr>
          <p:cNvPr id="18" name="Shape 14"/>
          <p:cNvSpPr/>
          <p:nvPr/>
        </p:nvSpPr>
        <p:spPr>
          <a:xfrm>
            <a:off x="3355848" y="2240280"/>
            <a:ext cx="2560320" cy="731520"/>
          </a:xfrm>
          <a:prstGeom prst="roundRect">
            <a:avLst>
              <a:gd name="adj" fmla="val 7500"/>
            </a:avLst>
          </a:prstGeom>
          <a:solidFill>
            <a:srgbClr val="EEF5F3"/>
          </a:solidFill>
          <a:ln w="19050">
            <a:solidFill>
              <a:srgbClr val="0F766E"/>
            </a:solidFill>
            <a:prstDash val="solid"/>
          </a:ln>
        </p:spPr>
      </p:sp>
      <p:sp>
        <p:nvSpPr>
          <p:cNvPr id="19" name="Text 15"/>
          <p:cNvSpPr txBox="1"/>
          <p:nvPr/>
        </p:nvSpPr>
        <p:spPr>
          <a:xfrm>
            <a:off x="3401568" y="2240280"/>
            <a:ext cx="2468880" cy="731520"/>
          </a:xfrm>
          <a:prstGeom prst="rect">
            <a:avLst/>
          </a:prstGeom>
          <a:noFill/>
          <a:ln/>
        </p:spPr>
        <p:txBody>
          <a:bodyPr wrap="square" lIns="25400" tIns="25400" rIns="25400" bIns="25400" rtlCol="0" anchor="ctr"/>
          <a:lstStyle/>
          <a:p>
            <a:pPr indent="0" marL="0">
              <a:buNone/>
            </a:pPr>
            <a:r>
              <a:rPr lang="en-US" sz="1300" b="1" dirty="0">
                <a:solidFill>
                  <a:srgbClr val="0F766E"/>
                </a:solidFill>
              </a:rPr>
              <a:t>Screenings</a:t>
            </a:r>
            <a:endParaRPr lang="en-US" sz="1300" dirty="0"/>
          </a:p>
          <a:p>
            <a:pPr indent="0" marL="0">
              <a:buNone/>
            </a:pPr>
            <a:r>
              <a:rPr lang="en-US" sz="1000" dirty="0">
                <a:solidFill>
                  <a:srgbClr val="1F2937"/>
                </a:solidFill>
              </a:rPr>
              <a:t>patient_id, examiner</a:t>
            </a:r>
            <a:endParaRPr lang="en-US" sz="1300" dirty="0"/>
          </a:p>
        </p:txBody>
      </p:sp>
      <p:sp>
        <p:nvSpPr>
          <p:cNvPr id="20" name="Shape 16"/>
          <p:cNvSpPr/>
          <p:nvPr/>
        </p:nvSpPr>
        <p:spPr>
          <a:xfrm>
            <a:off x="6254496" y="2240280"/>
            <a:ext cx="2560320" cy="731520"/>
          </a:xfrm>
          <a:prstGeom prst="roundRect">
            <a:avLst>
              <a:gd name="adj" fmla="val 7500"/>
            </a:avLst>
          </a:prstGeom>
          <a:solidFill>
            <a:srgbClr val="EEF5F3"/>
          </a:solidFill>
          <a:ln w="19050">
            <a:solidFill>
              <a:srgbClr val="0F766E"/>
            </a:solidFill>
            <a:prstDash val="solid"/>
          </a:ln>
        </p:spPr>
      </p:sp>
      <p:sp>
        <p:nvSpPr>
          <p:cNvPr id="21" name="Text 17"/>
          <p:cNvSpPr txBox="1"/>
          <p:nvPr/>
        </p:nvSpPr>
        <p:spPr>
          <a:xfrm>
            <a:off x="6300216" y="2240280"/>
            <a:ext cx="2468880" cy="731520"/>
          </a:xfrm>
          <a:prstGeom prst="rect">
            <a:avLst/>
          </a:prstGeom>
          <a:noFill/>
          <a:ln/>
        </p:spPr>
        <p:txBody>
          <a:bodyPr wrap="square" lIns="25400" tIns="25400" rIns="25400" bIns="25400" rtlCol="0" anchor="ctr"/>
          <a:lstStyle/>
          <a:p>
            <a:pPr indent="0" marL="0">
              <a:buNone/>
            </a:pPr>
            <a:r>
              <a:rPr lang="en-US" sz="1300" b="1" dirty="0">
                <a:solidFill>
                  <a:srgbClr val="0F766E"/>
                </a:solidFill>
              </a:rPr>
              <a:t>Images</a:t>
            </a:r>
            <a:endParaRPr lang="en-US" sz="1300" dirty="0"/>
          </a:p>
          <a:p>
            <a:pPr indent="0" marL="0">
              <a:buNone/>
            </a:pPr>
            <a:r>
              <a:rPr lang="en-US" sz="1000" dirty="0">
                <a:solidFill>
                  <a:srgbClr val="1F2937"/>
                </a:solidFill>
              </a:rPr>
              <a:t>private key, checksum</a:t>
            </a:r>
            <a:endParaRPr lang="en-US" sz="1300" dirty="0"/>
          </a:p>
        </p:txBody>
      </p:sp>
      <p:sp>
        <p:nvSpPr>
          <p:cNvPr id="22" name="Shape 18"/>
          <p:cNvSpPr/>
          <p:nvPr/>
        </p:nvSpPr>
        <p:spPr>
          <a:xfrm>
            <a:off x="9153144" y="2240280"/>
            <a:ext cx="2560320" cy="731520"/>
          </a:xfrm>
          <a:prstGeom prst="roundRect">
            <a:avLst>
              <a:gd name="adj" fmla="val 7500"/>
            </a:avLst>
          </a:prstGeom>
          <a:solidFill>
            <a:srgbClr val="EA580C"/>
          </a:solidFill>
          <a:ln w="19050">
            <a:solidFill>
              <a:srgbClr val="0F766E"/>
            </a:solidFill>
            <a:prstDash val="solid"/>
          </a:ln>
        </p:spPr>
      </p:sp>
      <p:sp>
        <p:nvSpPr>
          <p:cNvPr id="23" name="Text 19"/>
          <p:cNvSpPr txBox="1"/>
          <p:nvPr/>
        </p:nvSpPr>
        <p:spPr>
          <a:xfrm>
            <a:off x="9198864" y="2240280"/>
            <a:ext cx="2468880" cy="731520"/>
          </a:xfrm>
          <a:prstGeom prst="rect">
            <a:avLst/>
          </a:prstGeom>
          <a:noFill/>
          <a:ln/>
        </p:spPr>
        <p:txBody>
          <a:bodyPr wrap="square" lIns="25400" tIns="25400" rIns="25400" bIns="25400" rtlCol="0" anchor="ctr"/>
          <a:lstStyle/>
          <a:p>
            <a:pPr indent="0" marL="0">
              <a:buNone/>
            </a:pPr>
            <a:r>
              <a:rPr lang="en-US" sz="1300" b="1" dirty="0">
                <a:solidFill>
                  <a:srgbClr val="FFFFFF"/>
                </a:solidFill>
              </a:rPr>
              <a:t>AI Analyses</a:t>
            </a:r>
            <a:endParaRPr lang="en-US" sz="1300" dirty="0"/>
          </a:p>
          <a:p>
            <a:pPr indent="0" marL="0">
              <a:buNone/>
            </a:pPr>
            <a:r>
              <a:rPr lang="en-US" sz="1000" dirty="0">
                <a:solidFill>
                  <a:srgbClr val="FFFFFF"/>
                </a:solidFill>
              </a:rPr>
              <a:t>model version, label</a:t>
            </a:r>
            <a:endParaRPr lang="en-US" sz="1300" dirty="0"/>
          </a:p>
        </p:txBody>
      </p:sp>
      <p:sp>
        <p:nvSpPr>
          <p:cNvPr id="24" name="Shape 20"/>
          <p:cNvSpPr/>
          <p:nvPr/>
        </p:nvSpPr>
        <p:spPr>
          <a:xfrm>
            <a:off x="3355848" y="3337560"/>
            <a:ext cx="2560320" cy="731520"/>
          </a:xfrm>
          <a:prstGeom prst="roundRect">
            <a:avLst>
              <a:gd name="adj" fmla="val 7500"/>
            </a:avLst>
          </a:prstGeom>
          <a:solidFill>
            <a:srgbClr val="12305A"/>
          </a:solidFill>
          <a:ln w="19050">
            <a:solidFill>
              <a:srgbClr val="0F766E"/>
            </a:solidFill>
            <a:prstDash val="solid"/>
          </a:ln>
        </p:spPr>
      </p:sp>
      <p:sp>
        <p:nvSpPr>
          <p:cNvPr id="25" name="Text 21"/>
          <p:cNvSpPr txBox="1"/>
          <p:nvPr/>
        </p:nvSpPr>
        <p:spPr>
          <a:xfrm>
            <a:off x="3401568" y="3337560"/>
            <a:ext cx="2468880" cy="731520"/>
          </a:xfrm>
          <a:prstGeom prst="rect">
            <a:avLst/>
          </a:prstGeom>
          <a:noFill/>
          <a:ln/>
        </p:spPr>
        <p:txBody>
          <a:bodyPr wrap="square" lIns="25400" tIns="25400" rIns="25400" bIns="25400" rtlCol="0" anchor="ctr"/>
          <a:lstStyle/>
          <a:p>
            <a:pPr indent="0" marL="0">
              <a:buNone/>
            </a:pPr>
            <a:r>
              <a:rPr lang="en-US" sz="1300" b="1" dirty="0">
                <a:solidFill>
                  <a:srgbClr val="FFFFFF"/>
                </a:solidFill>
              </a:rPr>
              <a:t>Clinical Reviews</a:t>
            </a:r>
            <a:endParaRPr lang="en-US" sz="1300" dirty="0"/>
          </a:p>
          <a:p>
            <a:pPr indent="0" marL="0">
              <a:buNone/>
            </a:pPr>
            <a:r>
              <a:rPr lang="en-US" sz="1000" dirty="0">
                <a:solidFill>
                  <a:srgbClr val="FFFFFF"/>
                </a:solidFill>
              </a:rPr>
              <a:t>signed clinician finding</a:t>
            </a:r>
            <a:endParaRPr lang="en-US" sz="1300" dirty="0"/>
          </a:p>
        </p:txBody>
      </p:sp>
      <p:sp>
        <p:nvSpPr>
          <p:cNvPr id="26" name="Shape 22"/>
          <p:cNvSpPr/>
          <p:nvPr/>
        </p:nvSpPr>
        <p:spPr>
          <a:xfrm>
            <a:off x="6254496" y="3337560"/>
            <a:ext cx="2560320" cy="731520"/>
          </a:xfrm>
          <a:prstGeom prst="roundRect">
            <a:avLst>
              <a:gd name="adj" fmla="val 7500"/>
            </a:avLst>
          </a:prstGeom>
          <a:solidFill>
            <a:srgbClr val="EEF5F3"/>
          </a:solidFill>
          <a:ln w="19050">
            <a:solidFill>
              <a:srgbClr val="0F766E"/>
            </a:solidFill>
            <a:prstDash val="solid"/>
          </a:ln>
        </p:spPr>
      </p:sp>
      <p:sp>
        <p:nvSpPr>
          <p:cNvPr id="27" name="Text 23"/>
          <p:cNvSpPr txBox="1"/>
          <p:nvPr/>
        </p:nvSpPr>
        <p:spPr>
          <a:xfrm>
            <a:off x="6300216" y="3337560"/>
            <a:ext cx="2468880" cy="731520"/>
          </a:xfrm>
          <a:prstGeom prst="rect">
            <a:avLst/>
          </a:prstGeom>
          <a:noFill/>
          <a:ln/>
        </p:spPr>
        <p:txBody>
          <a:bodyPr wrap="square" lIns="25400" tIns="25400" rIns="25400" bIns="25400" rtlCol="0" anchor="ctr"/>
          <a:lstStyle/>
          <a:p>
            <a:pPr indent="0" marL="0">
              <a:buNone/>
            </a:pPr>
            <a:r>
              <a:rPr lang="en-US" sz="1300" b="1" dirty="0">
                <a:solidFill>
                  <a:srgbClr val="0F766E"/>
                </a:solidFill>
              </a:rPr>
              <a:t>Referrals</a:t>
            </a:r>
            <a:endParaRPr lang="en-US" sz="1300" dirty="0"/>
          </a:p>
          <a:p>
            <a:pPr indent="0" marL="0">
              <a:buNone/>
            </a:pPr>
            <a:r>
              <a:rPr lang="en-US" sz="1000" dirty="0">
                <a:solidFill>
                  <a:srgbClr val="1F2937"/>
                </a:solidFill>
              </a:rPr>
              <a:t>specialty, priority</a:t>
            </a:r>
            <a:endParaRPr lang="en-US" sz="1300" dirty="0"/>
          </a:p>
        </p:txBody>
      </p:sp>
      <p:sp>
        <p:nvSpPr>
          <p:cNvPr id="28" name="Shape 24"/>
          <p:cNvSpPr/>
          <p:nvPr/>
        </p:nvSpPr>
        <p:spPr>
          <a:xfrm>
            <a:off x="3355848" y="4434840"/>
            <a:ext cx="2560320" cy="731520"/>
          </a:xfrm>
          <a:prstGeom prst="roundRect">
            <a:avLst>
              <a:gd name="adj" fmla="val 7500"/>
            </a:avLst>
          </a:prstGeom>
          <a:solidFill>
            <a:srgbClr val="EEF5F3"/>
          </a:solidFill>
          <a:ln w="19050">
            <a:solidFill>
              <a:srgbClr val="0F766E"/>
            </a:solidFill>
            <a:prstDash val="solid"/>
          </a:ln>
        </p:spPr>
      </p:sp>
      <p:sp>
        <p:nvSpPr>
          <p:cNvPr id="29" name="Text 25"/>
          <p:cNvSpPr txBox="1"/>
          <p:nvPr/>
        </p:nvSpPr>
        <p:spPr>
          <a:xfrm>
            <a:off x="3401568" y="4434840"/>
            <a:ext cx="2468880" cy="731520"/>
          </a:xfrm>
          <a:prstGeom prst="rect">
            <a:avLst/>
          </a:prstGeom>
          <a:noFill/>
          <a:ln/>
        </p:spPr>
        <p:txBody>
          <a:bodyPr wrap="square" lIns="25400" tIns="25400" rIns="25400" bIns="25400" rtlCol="0" anchor="ctr"/>
          <a:lstStyle/>
          <a:p>
            <a:pPr indent="0" marL="0">
              <a:buNone/>
            </a:pPr>
            <a:r>
              <a:rPr lang="en-US" sz="1300" b="1" dirty="0">
                <a:solidFill>
                  <a:srgbClr val="0F766E"/>
                </a:solidFill>
              </a:rPr>
              <a:t>Investigations</a:t>
            </a:r>
            <a:endParaRPr lang="en-US" sz="1300" dirty="0"/>
          </a:p>
          <a:p>
            <a:pPr indent="0" marL="0">
              <a:buNone/>
            </a:pPr>
            <a:r>
              <a:rPr lang="en-US" sz="1000" dirty="0">
                <a:solidFill>
                  <a:srgbClr val="1F2937"/>
                </a:solidFill>
              </a:rPr>
              <a:t>biopsy/pathology</a:t>
            </a:r>
            <a:endParaRPr lang="en-US" sz="1300" dirty="0"/>
          </a:p>
        </p:txBody>
      </p:sp>
      <p:sp>
        <p:nvSpPr>
          <p:cNvPr id="30" name="Shape 26"/>
          <p:cNvSpPr/>
          <p:nvPr/>
        </p:nvSpPr>
        <p:spPr>
          <a:xfrm>
            <a:off x="6254496" y="4434840"/>
            <a:ext cx="2560320" cy="731520"/>
          </a:xfrm>
          <a:prstGeom prst="roundRect">
            <a:avLst>
              <a:gd name="adj" fmla="val 7500"/>
            </a:avLst>
          </a:prstGeom>
          <a:solidFill>
            <a:srgbClr val="EEF5F3"/>
          </a:solidFill>
          <a:ln w="19050">
            <a:solidFill>
              <a:srgbClr val="0F766E"/>
            </a:solidFill>
            <a:prstDash val="solid"/>
          </a:ln>
        </p:spPr>
      </p:sp>
      <p:sp>
        <p:nvSpPr>
          <p:cNvPr id="31" name="Text 27"/>
          <p:cNvSpPr txBox="1"/>
          <p:nvPr/>
        </p:nvSpPr>
        <p:spPr>
          <a:xfrm>
            <a:off x="6300216" y="4434840"/>
            <a:ext cx="2468880" cy="731520"/>
          </a:xfrm>
          <a:prstGeom prst="rect">
            <a:avLst/>
          </a:prstGeom>
          <a:noFill/>
          <a:ln/>
        </p:spPr>
        <p:txBody>
          <a:bodyPr wrap="square" lIns="25400" tIns="25400" rIns="25400" bIns="25400" rtlCol="0" anchor="ctr"/>
          <a:lstStyle/>
          <a:p>
            <a:pPr indent="0" marL="0">
              <a:buNone/>
            </a:pPr>
            <a:r>
              <a:rPr lang="en-US" sz="1300" b="1" dirty="0">
                <a:solidFill>
                  <a:srgbClr val="0F766E"/>
                </a:solidFill>
              </a:rPr>
              <a:t>Appointments</a:t>
            </a:r>
            <a:endParaRPr lang="en-US" sz="1300" dirty="0"/>
          </a:p>
          <a:p>
            <a:pPr indent="0" marL="0">
              <a:buNone/>
            </a:pPr>
            <a:r>
              <a:rPr lang="en-US" sz="1000" dirty="0">
                <a:solidFill>
                  <a:srgbClr val="1F2937"/>
                </a:solidFill>
              </a:rPr>
              <a:t>slot, status, video</a:t>
            </a:r>
            <a:endParaRPr lang="en-US" sz="1300" dirty="0"/>
          </a:p>
        </p:txBody>
      </p:sp>
      <p:sp>
        <p:nvSpPr>
          <p:cNvPr id="32" name="Shape 28"/>
          <p:cNvSpPr/>
          <p:nvPr/>
        </p:nvSpPr>
        <p:spPr>
          <a:xfrm>
            <a:off x="9153144" y="4434840"/>
            <a:ext cx="2560320" cy="731520"/>
          </a:xfrm>
          <a:prstGeom prst="roundRect">
            <a:avLst>
              <a:gd name="adj" fmla="val 7500"/>
            </a:avLst>
          </a:prstGeom>
          <a:solidFill>
            <a:srgbClr val="EEF5F3"/>
          </a:solidFill>
          <a:ln w="19050">
            <a:solidFill>
              <a:srgbClr val="0F766E"/>
            </a:solidFill>
            <a:prstDash val="solid"/>
          </a:ln>
        </p:spPr>
      </p:sp>
      <p:sp>
        <p:nvSpPr>
          <p:cNvPr id="33" name="Text 29"/>
          <p:cNvSpPr txBox="1"/>
          <p:nvPr/>
        </p:nvSpPr>
        <p:spPr>
          <a:xfrm>
            <a:off x="9198864" y="4434840"/>
            <a:ext cx="2468880" cy="731520"/>
          </a:xfrm>
          <a:prstGeom prst="rect">
            <a:avLst/>
          </a:prstGeom>
          <a:noFill/>
          <a:ln/>
        </p:spPr>
        <p:txBody>
          <a:bodyPr wrap="square" lIns="25400" tIns="25400" rIns="25400" bIns="25400" rtlCol="0" anchor="ctr"/>
          <a:lstStyle/>
          <a:p>
            <a:pPr indent="0" marL="0">
              <a:buNone/>
            </a:pPr>
            <a:r>
              <a:rPr lang="en-US" sz="1300" b="1" dirty="0">
                <a:solidFill>
                  <a:srgbClr val="0F766E"/>
                </a:solidFill>
              </a:rPr>
              <a:t>Navigation Tasks</a:t>
            </a:r>
            <a:endParaRPr lang="en-US" sz="1300" dirty="0"/>
          </a:p>
          <a:p>
            <a:pPr indent="0" marL="0">
              <a:buNone/>
            </a:pPr>
            <a:r>
              <a:rPr lang="en-US" sz="1000" dirty="0">
                <a:solidFill>
                  <a:srgbClr val="1F2937"/>
                </a:solidFill>
              </a:rPr>
              <a:t>owner, due, status</a:t>
            </a:r>
            <a:endParaRPr lang="en-US" sz="1300" dirty="0"/>
          </a:p>
        </p:txBody>
      </p:sp>
      <p:sp>
        <p:nvSpPr>
          <p:cNvPr id="34" name="Shape 30"/>
          <p:cNvSpPr/>
          <p:nvPr/>
        </p:nvSpPr>
        <p:spPr>
          <a:xfrm>
            <a:off x="5916168" y="1508760"/>
            <a:ext cx="338328" cy="0"/>
          </a:xfrm>
          <a:prstGeom prst="line">
            <a:avLst/>
          </a:prstGeom>
          <a:noFill/>
          <a:ln w="25400">
            <a:solidFill>
              <a:srgbClr val="12305A"/>
            </a:solidFill>
            <a:prstDash val="solid"/>
            <a:tailEnd type="triangle"/>
          </a:ln>
        </p:spPr>
      </p:sp>
      <p:sp>
        <p:nvSpPr>
          <p:cNvPr id="35" name="Shape 31"/>
          <p:cNvSpPr/>
          <p:nvPr/>
        </p:nvSpPr>
        <p:spPr>
          <a:xfrm>
            <a:off x="4636008" y="1874520"/>
            <a:ext cx="0" cy="365760"/>
          </a:xfrm>
          <a:prstGeom prst="line">
            <a:avLst/>
          </a:prstGeom>
          <a:noFill/>
          <a:ln w="25400">
            <a:solidFill>
              <a:srgbClr val="12305A"/>
            </a:solidFill>
            <a:prstDash val="solid"/>
            <a:tailEnd type="triangle"/>
          </a:ln>
        </p:spPr>
      </p:sp>
      <p:sp>
        <p:nvSpPr>
          <p:cNvPr id="36" name="Shape 32"/>
          <p:cNvSpPr/>
          <p:nvPr/>
        </p:nvSpPr>
        <p:spPr>
          <a:xfrm>
            <a:off x="5916168" y="2606040"/>
            <a:ext cx="338328" cy="0"/>
          </a:xfrm>
          <a:prstGeom prst="line">
            <a:avLst/>
          </a:prstGeom>
          <a:noFill/>
          <a:ln w="25400">
            <a:solidFill>
              <a:srgbClr val="12305A"/>
            </a:solidFill>
            <a:prstDash val="solid"/>
            <a:tailEnd type="triangle"/>
          </a:ln>
        </p:spPr>
      </p:sp>
      <p:sp>
        <p:nvSpPr>
          <p:cNvPr id="37" name="Shape 33"/>
          <p:cNvSpPr/>
          <p:nvPr/>
        </p:nvSpPr>
        <p:spPr>
          <a:xfrm>
            <a:off x="8814816" y="2606040"/>
            <a:ext cx="338328" cy="0"/>
          </a:xfrm>
          <a:prstGeom prst="line">
            <a:avLst/>
          </a:prstGeom>
          <a:noFill/>
          <a:ln w="25400">
            <a:solidFill>
              <a:srgbClr val="12305A"/>
            </a:solidFill>
            <a:prstDash val="solid"/>
            <a:tailEnd type="triangle"/>
          </a:ln>
        </p:spPr>
      </p:sp>
      <p:sp>
        <p:nvSpPr>
          <p:cNvPr id="38" name="Shape 34"/>
          <p:cNvSpPr/>
          <p:nvPr/>
        </p:nvSpPr>
        <p:spPr>
          <a:xfrm>
            <a:off x="4636008" y="2971800"/>
            <a:ext cx="0" cy="365760"/>
          </a:xfrm>
          <a:prstGeom prst="line">
            <a:avLst/>
          </a:prstGeom>
          <a:noFill/>
          <a:ln w="25400">
            <a:solidFill>
              <a:srgbClr val="12305A"/>
            </a:solidFill>
            <a:prstDash val="solid"/>
            <a:tailEnd type="triangle"/>
          </a:ln>
        </p:spPr>
      </p:sp>
      <p:sp>
        <p:nvSpPr>
          <p:cNvPr id="39" name="Shape 35"/>
          <p:cNvSpPr/>
          <p:nvPr/>
        </p:nvSpPr>
        <p:spPr>
          <a:xfrm>
            <a:off x="5916168" y="3703320"/>
            <a:ext cx="338328" cy="0"/>
          </a:xfrm>
          <a:prstGeom prst="line">
            <a:avLst/>
          </a:prstGeom>
          <a:noFill/>
          <a:ln w="25400">
            <a:solidFill>
              <a:srgbClr val="12305A"/>
            </a:solidFill>
            <a:prstDash val="solid"/>
            <a:tailEnd type="triangle"/>
          </a:ln>
        </p:spPr>
      </p:sp>
      <p:sp>
        <p:nvSpPr>
          <p:cNvPr id="40" name="Shape 36"/>
          <p:cNvSpPr/>
          <p:nvPr/>
        </p:nvSpPr>
        <p:spPr>
          <a:xfrm>
            <a:off x="7534656" y="3703320"/>
            <a:ext cx="0" cy="274320"/>
          </a:xfrm>
          <a:prstGeom prst="line">
            <a:avLst/>
          </a:prstGeom>
          <a:noFill/>
          <a:ln w="25400">
            <a:solidFill>
              <a:srgbClr val="12305A"/>
            </a:solidFill>
            <a:prstDash val="solid"/>
          </a:ln>
        </p:spPr>
      </p:sp>
      <p:sp>
        <p:nvSpPr>
          <p:cNvPr id="41" name="Shape 37"/>
          <p:cNvSpPr/>
          <p:nvPr/>
        </p:nvSpPr>
        <p:spPr>
          <a:xfrm>
            <a:off x="4636008" y="3977640"/>
            <a:ext cx="5797296" cy="0"/>
          </a:xfrm>
          <a:prstGeom prst="line">
            <a:avLst/>
          </a:prstGeom>
          <a:noFill/>
          <a:ln w="25400">
            <a:solidFill>
              <a:srgbClr val="12305A"/>
            </a:solidFill>
            <a:prstDash val="solid"/>
          </a:ln>
        </p:spPr>
      </p:sp>
      <p:sp>
        <p:nvSpPr>
          <p:cNvPr id="42" name="Shape 38"/>
          <p:cNvSpPr/>
          <p:nvPr/>
        </p:nvSpPr>
        <p:spPr>
          <a:xfrm>
            <a:off x="4636008" y="3977640"/>
            <a:ext cx="0" cy="274320"/>
          </a:xfrm>
          <a:prstGeom prst="line">
            <a:avLst/>
          </a:prstGeom>
          <a:noFill/>
          <a:ln w="25400">
            <a:solidFill>
              <a:srgbClr val="12305A"/>
            </a:solidFill>
            <a:prstDash val="solid"/>
            <a:tailEnd type="triangle"/>
          </a:ln>
        </p:spPr>
      </p:sp>
      <p:sp>
        <p:nvSpPr>
          <p:cNvPr id="43" name="Shape 39"/>
          <p:cNvSpPr/>
          <p:nvPr/>
        </p:nvSpPr>
        <p:spPr>
          <a:xfrm>
            <a:off x="7534656" y="3977640"/>
            <a:ext cx="0" cy="274320"/>
          </a:xfrm>
          <a:prstGeom prst="line">
            <a:avLst/>
          </a:prstGeom>
          <a:noFill/>
          <a:ln w="25400">
            <a:solidFill>
              <a:srgbClr val="12305A"/>
            </a:solidFill>
            <a:prstDash val="solid"/>
            <a:tailEnd type="triangle"/>
          </a:ln>
        </p:spPr>
      </p:sp>
      <p:sp>
        <p:nvSpPr>
          <p:cNvPr id="44" name="Shape 40"/>
          <p:cNvSpPr/>
          <p:nvPr/>
        </p:nvSpPr>
        <p:spPr>
          <a:xfrm>
            <a:off x="10433304" y="3977640"/>
            <a:ext cx="0" cy="274320"/>
          </a:xfrm>
          <a:prstGeom prst="line">
            <a:avLst/>
          </a:prstGeom>
          <a:noFill/>
          <a:ln w="25400">
            <a:solidFill>
              <a:srgbClr val="12305A"/>
            </a:solidFill>
            <a:prstDash val="solid"/>
            <a:tailEnd type="triangle"/>
          </a:ln>
        </p:spPr>
      </p:sp>
      <p:sp>
        <p:nvSpPr>
          <p:cNvPr id="45" name="Text 41"/>
          <p:cNvSpPr txBox="1"/>
          <p:nvPr/>
        </p:nvSpPr>
        <p:spPr>
          <a:xfrm>
            <a:off x="457200" y="5303520"/>
            <a:ext cx="11247120" cy="365760"/>
          </a:xfrm>
          <a:prstGeom prst="rect">
            <a:avLst/>
          </a:prstGeom>
          <a:noFill/>
          <a:ln/>
        </p:spPr>
        <p:txBody>
          <a:bodyPr wrap="square" lIns="25400" tIns="25400" rIns="25400" bIns="25400" rtlCol="0" anchor="t"/>
          <a:lstStyle/>
          <a:p>
            <a:pPr indent="0" marL="0">
              <a:buNone/>
            </a:pPr>
            <a:r>
              <a:rPr lang="en-US" sz="1200" i="1" dirty="0">
                <a:solidFill>
                  <a:srgbClr val="1F2937"/>
                </a:solidFill>
              </a:rPr>
              <a:t>Users act as examiner / doctor / actor. Audit Events log actions on every table.</a:t>
            </a:r>
            <a:endParaRPr lang="en-US" sz="1200" dirty="0"/>
          </a:p>
        </p:txBody>
      </p:sp>
      <p:sp>
        <p:nvSpPr>
          <p:cNvPr id="46" name="Shape 42"/>
          <p:cNvSpPr/>
          <p:nvPr/>
        </p:nvSpPr>
        <p:spPr>
          <a:xfrm>
            <a:off x="457200" y="5806440"/>
            <a:ext cx="11274552" cy="457200"/>
          </a:xfrm>
          <a:prstGeom prst="rect">
            <a:avLst/>
          </a:prstGeom>
          <a:solidFill>
            <a:srgbClr val="EA580C"/>
          </a:solidFill>
          <a:ln/>
        </p:spPr>
      </p:sp>
      <p:sp>
        <p:nvSpPr>
          <p:cNvPr id="47" name="Text 43"/>
          <p:cNvSpPr txBox="1"/>
          <p:nvPr/>
        </p:nvSpPr>
        <p:spPr>
          <a:xfrm>
            <a:off x="457200" y="5806440"/>
            <a:ext cx="11274552" cy="457200"/>
          </a:xfrm>
          <a:prstGeom prst="rect">
            <a:avLst/>
          </a:prstGeom>
          <a:noFill/>
          <a:ln/>
        </p:spPr>
        <p:txBody>
          <a:bodyPr wrap="square" lIns="25400" tIns="25400" rIns="25400" bIns="25400" rtlCol="0" anchor="ctr"/>
          <a:lstStyle/>
          <a:p>
            <a:pPr algn="ctr" indent="0" marL="0">
              <a:buNone/>
            </a:pPr>
            <a:r>
              <a:rPr lang="en-US" sz="1400" b="1" dirty="0">
                <a:solidFill>
                  <a:srgbClr val="FFFFFF"/>
                </a:solidFill>
              </a:rPr>
              <a:t>AI results (orange) are separate from signed clinician decisions (navy): traceability, no AI overwrite, auditability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F766E"/>
          </a:solidFill>
          <a:ln/>
        </p:spPr>
      </p:sp>
      <p:sp>
        <p:nvSpPr>
          <p:cNvPr id="3" name="Text 1"/>
          <p:cNvSpPr txBox="1"/>
          <p:nvPr/>
        </p:nvSpPr>
        <p:spPr>
          <a:xfrm>
            <a:off x="457200" y="228600"/>
            <a:ext cx="10424160" cy="640080"/>
          </a:xfrm>
          <a:prstGeom prst="rect">
            <a:avLst/>
          </a:prstGeom>
          <a:noFill/>
          <a:ln/>
        </p:spPr>
        <p:txBody>
          <a:bodyPr wrap="square" lIns="0" tIns="0" rIns="0" bIns="0" rtlCol="0" anchor="ctr"/>
          <a:lstStyle/>
          <a:p>
            <a:pPr indent="0" marL="0">
              <a:buNone/>
            </a:pPr>
            <a:r>
              <a:rPr lang="en-US" sz="3000" b="1" dirty="0">
                <a:solidFill>
                  <a:srgbClr val="12305A"/>
                </a:solidFill>
              </a:rPr>
              <a:t>API and Backend Architecture</a:t>
            </a:r>
            <a:endParaRPr lang="en-US" sz="3000" dirty="0"/>
          </a:p>
        </p:txBody>
      </p:sp>
      <p:sp>
        <p:nvSpPr>
          <p:cNvPr id="4" name="Shape 2"/>
          <p:cNvSpPr/>
          <p:nvPr/>
        </p:nvSpPr>
        <p:spPr>
          <a:xfrm>
            <a:off x="11064240" y="201168"/>
            <a:ext cx="658368" cy="658368"/>
          </a:xfrm>
          <a:prstGeom prst="ellipse">
            <a:avLst/>
          </a:prstGeom>
          <a:solidFill>
            <a:srgbClr val="0F766E"/>
          </a:solidFill>
          <a:ln/>
        </p:spPr>
      </p:sp>
      <p:pic>
        <p:nvPicPr>
          <p:cNvPr id="5" name="Image 0" descr="preencoded.png">    </p:cNvPr>
          <p:cNvPicPr>
            <a:picLocks noChangeAspect="1"/>
          </p:cNvPicPr>
          <p:nvPr/>
        </p:nvPicPr>
        <p:blipFill>
          <a:blip r:embed="rId1"/>
          <a:stretch>
            <a:fillRect/>
          </a:stretch>
        </p:blipFill>
        <p:spPr>
          <a:xfrm>
            <a:off x="11210544" y="347472"/>
            <a:ext cx="365760" cy="365760"/>
          </a:xfrm>
          <a:prstGeom prst="rect">
            <a:avLst/>
          </a:prstGeom>
        </p:spPr>
      </p:pic>
      <p:sp>
        <p:nvSpPr>
          <p:cNvPr id="6" name="Shape 3"/>
          <p:cNvSpPr/>
          <p:nvPr/>
        </p:nvSpPr>
        <p:spPr>
          <a:xfrm>
            <a:off x="457200" y="896112"/>
            <a:ext cx="1097280" cy="45720"/>
          </a:xfrm>
          <a:prstGeom prst="rect">
            <a:avLst/>
          </a:prstGeom>
          <a:solidFill>
            <a:srgbClr val="EA580C"/>
          </a:solidFill>
          <a:ln/>
        </p:spPr>
      </p:sp>
      <p:sp>
        <p:nvSpPr>
          <p:cNvPr id="7" name="Text 4"/>
          <p:cNvSpPr txBox="1"/>
          <p:nvPr/>
        </p:nvSpPr>
        <p:spPr>
          <a:xfrm>
            <a:off x="457200" y="6473952"/>
            <a:ext cx="10058400" cy="274320"/>
          </a:xfrm>
          <a:prstGeom prst="rect">
            <a:avLst/>
          </a:prstGeom>
          <a:noFill/>
          <a:ln/>
        </p:spPr>
        <p:txBody>
          <a:bodyPr wrap="square" lIns="0" tIns="0" rIns="0" bIns="0" rtlCol="0" anchor="ctr"/>
          <a:lstStyle/>
          <a:p>
            <a:pPr indent="0" marL="0">
              <a:buNone/>
            </a:pPr>
            <a:r>
              <a:rPr lang="en-US" sz="1000" dirty="0">
                <a:solidFill>
                  <a:srgbClr val="6B7280"/>
                </a:solidFill>
              </a:rPr>
              <a:t>Hackathon demonstration only — NOT FOR CLINICAL USE  |  AAROGYA DRISHTI · AAROHAN 2026</a:t>
            </a:r>
            <a:endParaRPr lang="en-US" sz="1000" dirty="0"/>
          </a:p>
        </p:txBody>
      </p:sp>
      <p:sp>
        <p:nvSpPr>
          <p:cNvPr id="8" name="Text 5"/>
          <p:cNvSpPr txBox="1"/>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rPr>
              <a:t>12</a:t>
            </a:r>
            <a:endParaRPr lang="en-US" sz="1000" dirty="0"/>
          </a:p>
        </p:txBody>
      </p:sp>
      <p:sp>
        <p:nvSpPr>
          <p:cNvPr id="10" name="Shape 6"/>
          <p:cNvSpPr/>
          <p:nvPr/>
        </p:nvSpPr>
        <p:spPr>
          <a:xfrm>
            <a:off x="457200" y="1188720"/>
            <a:ext cx="2377440" cy="1463040"/>
          </a:xfrm>
          <a:prstGeom prst="roundRect">
            <a:avLst>
              <a:gd name="adj" fmla="val 5000"/>
            </a:avLst>
          </a:prstGeom>
          <a:solidFill>
            <a:srgbClr val="0F766E"/>
          </a:solidFill>
          <a:ln/>
        </p:spPr>
      </p:sp>
      <p:sp>
        <p:nvSpPr>
          <p:cNvPr id="11" name="Text 7"/>
          <p:cNvSpPr txBox="1"/>
          <p:nvPr/>
        </p:nvSpPr>
        <p:spPr>
          <a:xfrm>
            <a:off x="457200" y="1188720"/>
            <a:ext cx="2377440" cy="1463040"/>
          </a:xfrm>
          <a:prstGeom prst="rect">
            <a:avLst/>
          </a:prstGeom>
          <a:noFill/>
          <a:ln/>
        </p:spPr>
        <p:txBody>
          <a:bodyPr wrap="square" lIns="25400" tIns="25400" rIns="25400" bIns="25400" rtlCol="0" anchor="ctr"/>
          <a:lstStyle/>
          <a:p>
            <a:pPr algn="ctr" indent="0" marL="0">
              <a:buNone/>
            </a:pPr>
            <a:r>
              <a:rPr lang="en-US" sz="1400" b="1" dirty="0">
                <a:solidFill>
                  <a:srgbClr val="FFFFFF"/>
                </a:solidFill>
              </a:rPr>
              <a:t>Frontend</a:t>
            </a:r>
            <a:endParaRPr lang="en-US" sz="1400" dirty="0"/>
          </a:p>
          <a:p>
            <a:pPr algn="ctr" indent="0" marL="0">
              <a:buNone/>
            </a:pPr>
            <a:r>
              <a:rPr lang="en-US" sz="1400" b="1" dirty="0">
                <a:solidFill>
                  <a:srgbClr val="FFFFFF"/>
                </a:solidFill>
              </a:rPr>
              <a:t>PWA + portals</a:t>
            </a:r>
            <a:endParaRPr lang="en-US" sz="1400" dirty="0"/>
          </a:p>
          <a:p>
            <a:pPr algn="ctr" indent="0" marL="0">
              <a:buNone/>
            </a:pPr>
            <a:r>
              <a:rPr lang="en-US" sz="1400" b="1" dirty="0">
                <a:solidFill>
                  <a:srgbClr val="FFFFFF"/>
                </a:solidFill>
              </a:rPr>
              <a:t>(HTTPS)</a:t>
            </a:r>
            <a:endParaRPr lang="en-US" sz="1400" dirty="0"/>
          </a:p>
        </p:txBody>
      </p:sp>
      <p:sp>
        <p:nvSpPr>
          <p:cNvPr id="12" name="Shape 8"/>
          <p:cNvSpPr/>
          <p:nvPr/>
        </p:nvSpPr>
        <p:spPr>
          <a:xfrm>
            <a:off x="3840480" y="1097280"/>
            <a:ext cx="3474720" cy="2651760"/>
          </a:xfrm>
          <a:prstGeom prst="roundRect">
            <a:avLst>
              <a:gd name="adj" fmla="val 2759"/>
            </a:avLst>
          </a:prstGeom>
          <a:solidFill>
            <a:srgbClr val="12305A"/>
          </a:solidFill>
          <a:ln/>
        </p:spPr>
      </p:sp>
      <p:sp>
        <p:nvSpPr>
          <p:cNvPr id="13" name="Text 9"/>
          <p:cNvSpPr txBox="1"/>
          <p:nvPr/>
        </p:nvSpPr>
        <p:spPr>
          <a:xfrm>
            <a:off x="3931920" y="1188720"/>
            <a:ext cx="3291840" cy="2468880"/>
          </a:xfrm>
          <a:prstGeom prst="rect">
            <a:avLst/>
          </a:prstGeom>
          <a:noFill/>
          <a:ln/>
        </p:spPr>
        <p:txBody>
          <a:bodyPr wrap="square" lIns="25400" tIns="25400" rIns="25400" bIns="25400" rtlCol="0" anchor="ctr"/>
          <a:lstStyle/>
          <a:p>
            <a:pPr indent="0" marL="0">
              <a:buNone/>
            </a:pPr>
            <a:r>
              <a:rPr lang="en-US" sz="1600" b="1" dirty="0">
                <a:solidFill>
                  <a:srgbClr val="FFFFFF"/>
                </a:solidFill>
              </a:rPr>
              <a:t>FastAPI</a:t>
            </a:r>
            <a:endParaRPr lang="en-US" sz="1300" dirty="0"/>
          </a:p>
          <a:p>
            <a:pPr indent="0" marL="0">
              <a:buNone/>
            </a:pPr>
            <a:r>
              <a:rPr lang="en-US" sz="1200" dirty="0">
                <a:solidFill>
                  <a:srgbClr val="FFFFFF"/>
                </a:solidFill>
              </a:rPr>
              <a:t>1 Authenticate (session/token)</a:t>
            </a:r>
            <a:endParaRPr lang="en-US" sz="1300" dirty="0"/>
          </a:p>
          <a:p>
            <a:pPr indent="0" marL="0">
              <a:buNone/>
            </a:pPr>
            <a:r>
              <a:rPr lang="en-US" sz="1200" dirty="0">
                <a:solidFill>
                  <a:srgbClr val="FFFFFF"/>
                </a:solidFill>
              </a:rPr>
              <a:t>2 Authorize role + patient/facility</a:t>
            </a:r>
            <a:endParaRPr lang="en-US" sz="1300" dirty="0"/>
          </a:p>
          <a:p>
            <a:pPr indent="0" marL="0">
              <a:buNone/>
            </a:pPr>
            <a:r>
              <a:rPr lang="en-US" sz="1200" dirty="0">
                <a:solidFill>
                  <a:srgbClr val="FFFFFF"/>
                </a:solidFill>
              </a:rPr>
              <a:t>3 Validate request</a:t>
            </a:r>
            <a:endParaRPr lang="en-US" sz="1300" dirty="0"/>
          </a:p>
          <a:p>
            <a:pPr indent="0" marL="0">
              <a:buNone/>
            </a:pPr>
            <a:r>
              <a:rPr lang="en-US" sz="1200" dirty="0">
                <a:solidFill>
                  <a:srgbClr val="FFFFFF"/>
                </a:solidFill>
              </a:rPr>
              <a:t>4 Idempotency key</a:t>
            </a:r>
            <a:endParaRPr lang="en-US" sz="1300" dirty="0"/>
          </a:p>
          <a:p>
            <a:pPr indent="0" marL="0">
              <a:buNone/>
            </a:pPr>
            <a:r>
              <a:rPr lang="en-US" sz="1200" dirty="0">
                <a:solidFill>
                  <a:srgbClr val="FFFFFF"/>
                </a:solidFill>
              </a:rPr>
              <a:t>5 Error codes</a:t>
            </a:r>
            <a:endParaRPr lang="en-US" sz="1300" dirty="0"/>
          </a:p>
        </p:txBody>
      </p:sp>
      <p:sp>
        <p:nvSpPr>
          <p:cNvPr id="14" name="Shape 10"/>
          <p:cNvSpPr/>
          <p:nvPr/>
        </p:nvSpPr>
        <p:spPr>
          <a:xfrm>
            <a:off x="8503920" y="1188720"/>
            <a:ext cx="3200400" cy="731520"/>
          </a:xfrm>
          <a:prstGeom prst="roundRect">
            <a:avLst>
              <a:gd name="adj" fmla="val 7500"/>
            </a:avLst>
          </a:prstGeom>
          <a:solidFill>
            <a:srgbClr val="0F766E"/>
          </a:solidFill>
          <a:ln w="12700">
            <a:solidFill>
              <a:srgbClr val="FFFFFF"/>
            </a:solidFill>
            <a:prstDash val="solid"/>
          </a:ln>
        </p:spPr>
      </p:sp>
      <p:sp>
        <p:nvSpPr>
          <p:cNvPr id="15" name="Text 11"/>
          <p:cNvSpPr txBox="1"/>
          <p:nvPr/>
        </p:nvSpPr>
        <p:spPr>
          <a:xfrm>
            <a:off x="8503920" y="1188720"/>
            <a:ext cx="3200400" cy="731520"/>
          </a:xfrm>
          <a:prstGeom prst="rect">
            <a:avLst/>
          </a:prstGeom>
          <a:noFill/>
          <a:ln/>
        </p:spPr>
        <p:txBody>
          <a:bodyPr wrap="square" lIns="25400" tIns="25400" rIns="25400" bIns="25400" rtlCol="0" anchor="ctr"/>
          <a:lstStyle/>
          <a:p>
            <a:pPr algn="ctr" indent="0" marL="0">
              <a:buNone/>
            </a:pPr>
            <a:r>
              <a:rPr lang="en-US" sz="1300" b="1" dirty="0">
                <a:solidFill>
                  <a:srgbClr val="FFFFFF"/>
                </a:solidFill>
              </a:rPr>
              <a:t>PostgreSQL</a:t>
            </a:r>
            <a:endParaRPr lang="en-US" sz="1300" dirty="0"/>
          </a:p>
        </p:txBody>
      </p:sp>
      <p:sp>
        <p:nvSpPr>
          <p:cNvPr id="16" name="Shape 12"/>
          <p:cNvSpPr/>
          <p:nvPr/>
        </p:nvSpPr>
        <p:spPr>
          <a:xfrm>
            <a:off x="7315200" y="1554480"/>
            <a:ext cx="1188720" cy="0"/>
          </a:xfrm>
          <a:prstGeom prst="line">
            <a:avLst/>
          </a:prstGeom>
          <a:noFill/>
          <a:ln w="25400">
            <a:solidFill>
              <a:srgbClr val="12305A"/>
            </a:solidFill>
            <a:prstDash val="solid"/>
            <a:tailEnd type="triangle"/>
          </a:ln>
        </p:spPr>
      </p:sp>
      <p:sp>
        <p:nvSpPr>
          <p:cNvPr id="17" name="Shape 13"/>
          <p:cNvSpPr/>
          <p:nvPr/>
        </p:nvSpPr>
        <p:spPr>
          <a:xfrm>
            <a:off x="8503920" y="2194560"/>
            <a:ext cx="3200400" cy="731520"/>
          </a:xfrm>
          <a:prstGeom prst="roundRect">
            <a:avLst>
              <a:gd name="adj" fmla="val 7500"/>
            </a:avLst>
          </a:prstGeom>
          <a:solidFill>
            <a:srgbClr val="0F766E"/>
          </a:solidFill>
          <a:ln w="12700">
            <a:solidFill>
              <a:srgbClr val="FFFFFF"/>
            </a:solidFill>
            <a:prstDash val="solid"/>
          </a:ln>
        </p:spPr>
      </p:sp>
      <p:sp>
        <p:nvSpPr>
          <p:cNvPr id="18" name="Text 14"/>
          <p:cNvSpPr txBox="1"/>
          <p:nvPr/>
        </p:nvSpPr>
        <p:spPr>
          <a:xfrm>
            <a:off x="8503920" y="2194560"/>
            <a:ext cx="3200400" cy="731520"/>
          </a:xfrm>
          <a:prstGeom prst="rect">
            <a:avLst/>
          </a:prstGeom>
          <a:noFill/>
          <a:ln/>
        </p:spPr>
        <p:txBody>
          <a:bodyPr wrap="square" lIns="25400" tIns="25400" rIns="25400" bIns="25400" rtlCol="0" anchor="ctr"/>
          <a:lstStyle/>
          <a:p>
            <a:pPr algn="ctr" indent="0" marL="0">
              <a:buNone/>
            </a:pPr>
            <a:r>
              <a:rPr lang="en-US" sz="1300" b="1" dirty="0">
                <a:solidFill>
                  <a:srgbClr val="FFFFFF"/>
                </a:solidFill>
              </a:rPr>
              <a:t>Private object storage</a:t>
            </a:r>
            <a:endParaRPr lang="en-US" sz="1300" dirty="0"/>
          </a:p>
        </p:txBody>
      </p:sp>
      <p:sp>
        <p:nvSpPr>
          <p:cNvPr id="19" name="Shape 15"/>
          <p:cNvSpPr/>
          <p:nvPr/>
        </p:nvSpPr>
        <p:spPr>
          <a:xfrm>
            <a:off x="7315200" y="2560320"/>
            <a:ext cx="1188720" cy="0"/>
          </a:xfrm>
          <a:prstGeom prst="line">
            <a:avLst/>
          </a:prstGeom>
          <a:noFill/>
          <a:ln w="25400">
            <a:solidFill>
              <a:srgbClr val="12305A"/>
            </a:solidFill>
            <a:prstDash val="solid"/>
            <a:tailEnd type="triangle"/>
          </a:ln>
        </p:spPr>
      </p:sp>
      <p:sp>
        <p:nvSpPr>
          <p:cNvPr id="20" name="Shape 16"/>
          <p:cNvSpPr/>
          <p:nvPr/>
        </p:nvSpPr>
        <p:spPr>
          <a:xfrm>
            <a:off x="8503920" y="3200400"/>
            <a:ext cx="3200400" cy="731520"/>
          </a:xfrm>
          <a:prstGeom prst="roundRect">
            <a:avLst>
              <a:gd name="adj" fmla="val 7500"/>
            </a:avLst>
          </a:prstGeom>
          <a:solidFill>
            <a:srgbClr val="EA580C"/>
          </a:solidFill>
          <a:ln w="12700">
            <a:solidFill>
              <a:srgbClr val="FFFFFF"/>
            </a:solidFill>
            <a:prstDash val="dash"/>
          </a:ln>
        </p:spPr>
      </p:sp>
      <p:sp>
        <p:nvSpPr>
          <p:cNvPr id="21" name="Text 17"/>
          <p:cNvSpPr txBox="1"/>
          <p:nvPr/>
        </p:nvSpPr>
        <p:spPr>
          <a:xfrm>
            <a:off x="8503920" y="3200400"/>
            <a:ext cx="3200400" cy="731520"/>
          </a:xfrm>
          <a:prstGeom prst="rect">
            <a:avLst/>
          </a:prstGeom>
          <a:noFill/>
          <a:ln/>
        </p:spPr>
        <p:txBody>
          <a:bodyPr wrap="square" lIns="25400" tIns="25400" rIns="25400" bIns="25400" rtlCol="0" anchor="ctr"/>
          <a:lstStyle/>
          <a:p>
            <a:pPr algn="ctr" indent="0" marL="0">
              <a:buNone/>
            </a:pPr>
            <a:r>
              <a:rPr lang="en-US" sz="1300" b="1" dirty="0">
                <a:solidFill>
                  <a:srgbClr val="FFFFFF"/>
                </a:solidFill>
              </a:rPr>
              <a:t>AI adapter (optional)</a:t>
            </a:r>
            <a:endParaRPr lang="en-US" sz="1300" dirty="0"/>
          </a:p>
        </p:txBody>
      </p:sp>
      <p:sp>
        <p:nvSpPr>
          <p:cNvPr id="22" name="Shape 18"/>
          <p:cNvSpPr/>
          <p:nvPr/>
        </p:nvSpPr>
        <p:spPr>
          <a:xfrm>
            <a:off x="7315200" y="3566160"/>
            <a:ext cx="1188720" cy="0"/>
          </a:xfrm>
          <a:prstGeom prst="line">
            <a:avLst/>
          </a:prstGeom>
          <a:noFill/>
          <a:ln w="25400">
            <a:solidFill>
              <a:srgbClr val="12305A"/>
            </a:solidFill>
            <a:prstDash val="solid"/>
            <a:tailEnd type="triangle"/>
          </a:ln>
        </p:spPr>
      </p:sp>
      <p:sp>
        <p:nvSpPr>
          <p:cNvPr id="23" name="Shape 19"/>
          <p:cNvSpPr/>
          <p:nvPr/>
        </p:nvSpPr>
        <p:spPr>
          <a:xfrm>
            <a:off x="2834640" y="1920240"/>
            <a:ext cx="1005840" cy="0"/>
          </a:xfrm>
          <a:prstGeom prst="line">
            <a:avLst/>
          </a:prstGeom>
          <a:noFill/>
          <a:ln w="25400">
            <a:solidFill>
              <a:srgbClr val="12305A"/>
            </a:solidFill>
            <a:prstDash val="solid"/>
            <a:tailEnd type="triangle"/>
          </a:ln>
        </p:spPr>
      </p:sp>
      <p:sp>
        <p:nvSpPr>
          <p:cNvPr id="24" name="Text 20"/>
          <p:cNvSpPr txBox="1"/>
          <p:nvPr/>
        </p:nvSpPr>
        <p:spPr>
          <a:xfrm>
            <a:off x="457200" y="4023360"/>
            <a:ext cx="11247120" cy="1463040"/>
          </a:xfrm>
          <a:prstGeom prst="rect">
            <a:avLst/>
          </a:prstGeom>
          <a:noFill/>
          <a:ln/>
        </p:spPr>
        <p:txBody>
          <a:bodyPr wrap="square" lIns="25400" tIns="25400" rIns="25400" bIns="25400" rtlCol="0" anchor="t"/>
          <a:lstStyle/>
          <a:p>
            <a:pPr indent="0" marL="0">
              <a:buNone/>
            </a:pPr>
            <a:r>
              <a:rPr lang="en-US" sz="1500" dirty="0">
                <a:solidFill>
                  <a:srgbClr val="1F2937"/>
                </a:solidFill>
              </a:rPr>
              <a:t>Reference endpoints (PLANNED):</a:t>
            </a:r>
            <a:endParaRPr lang="en-US" sz="1500" dirty="0"/>
          </a:p>
          <a:p>
            <a:pPr indent="0" marL="0">
              <a:buNone/>
            </a:pPr>
            <a:r>
              <a:rPr lang="en-US" sz="1500" dirty="0">
                <a:solidFill>
                  <a:srgbClr val="1F2937"/>
                </a:solidFill>
              </a:rPr>
              <a:t>POST /auth/login · /patients · /patients/{id}/consents · /screenings · /screenings/{id}/images · /ai/analyze</a:t>
            </a:r>
            <a:endParaRPr lang="en-US" sz="1500" dirty="0"/>
          </a:p>
          <a:p>
            <a:pPr indent="0" marL="0">
              <a:buNone/>
            </a:pPr>
            <a:r>
              <a:rPr lang="en-US" sz="1500" dirty="0">
                <a:solidFill>
                  <a:srgbClr val="1F2937"/>
                </a:solidFill>
              </a:rPr>
              <a:t>POST /reviews · /referrals · /appointments · /investigations   PATCH /navigation/{id}   GET /dashboard/summary</a:t>
            </a:r>
            <a:endParaRPr lang="en-US" sz="1500" dirty="0"/>
          </a:p>
        </p:txBody>
      </p:sp>
      <p:sp>
        <p:nvSpPr>
          <p:cNvPr id="25" name="Shape 21"/>
          <p:cNvSpPr/>
          <p:nvPr/>
        </p:nvSpPr>
        <p:spPr>
          <a:xfrm>
            <a:off x="457200" y="5577840"/>
            <a:ext cx="11274552" cy="457200"/>
          </a:xfrm>
          <a:prstGeom prst="rect">
            <a:avLst/>
          </a:prstGeom>
          <a:solidFill>
            <a:srgbClr val="EA580C"/>
          </a:solidFill>
          <a:ln/>
        </p:spPr>
      </p:sp>
      <p:sp>
        <p:nvSpPr>
          <p:cNvPr id="26" name="Text 22"/>
          <p:cNvSpPr txBox="1"/>
          <p:nvPr/>
        </p:nvSpPr>
        <p:spPr>
          <a:xfrm>
            <a:off x="457200" y="5577840"/>
            <a:ext cx="11274552" cy="457200"/>
          </a:xfrm>
          <a:prstGeom prst="rect">
            <a:avLst/>
          </a:prstGeom>
          <a:noFill/>
          <a:ln/>
        </p:spPr>
        <p:txBody>
          <a:bodyPr wrap="square" lIns="25400" tIns="25400" rIns="25400" bIns="25400" rtlCol="0" anchor="ctr"/>
          <a:lstStyle/>
          <a:p>
            <a:pPr algn="ctr" indent="0" marL="0">
              <a:buNone/>
            </a:pPr>
            <a:r>
              <a:rPr lang="en-US" sz="1400" b="1" dirty="0">
                <a:solidFill>
                  <a:srgbClr val="FFFFFF"/>
                </a:solidFill>
              </a:rPr>
              <a:t>Planned/reference APIs: not yet verified implementation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F766E"/>
          </a:solidFill>
          <a:ln/>
        </p:spPr>
      </p:sp>
      <p:sp>
        <p:nvSpPr>
          <p:cNvPr id="3" name="Text 1"/>
          <p:cNvSpPr txBox="1"/>
          <p:nvPr/>
        </p:nvSpPr>
        <p:spPr>
          <a:xfrm>
            <a:off x="457200" y="228600"/>
            <a:ext cx="10424160" cy="640080"/>
          </a:xfrm>
          <a:prstGeom prst="rect">
            <a:avLst/>
          </a:prstGeom>
          <a:noFill/>
          <a:ln/>
        </p:spPr>
        <p:txBody>
          <a:bodyPr wrap="square" lIns="0" tIns="0" rIns="0" bIns="0" rtlCol="0" anchor="ctr"/>
          <a:lstStyle/>
          <a:p>
            <a:pPr indent="0" marL="0">
              <a:buNone/>
            </a:pPr>
            <a:r>
              <a:rPr lang="en-US" sz="3000" b="1" dirty="0">
                <a:solidFill>
                  <a:srgbClr val="12305A"/>
                </a:solidFill>
              </a:rPr>
              <a:t>Application UI Mockups (Proposed Designs)</a:t>
            </a:r>
            <a:endParaRPr lang="en-US" sz="3000" dirty="0"/>
          </a:p>
        </p:txBody>
      </p:sp>
      <p:sp>
        <p:nvSpPr>
          <p:cNvPr id="4" name="Shape 2"/>
          <p:cNvSpPr/>
          <p:nvPr/>
        </p:nvSpPr>
        <p:spPr>
          <a:xfrm>
            <a:off x="11064240" y="201168"/>
            <a:ext cx="658368" cy="658368"/>
          </a:xfrm>
          <a:prstGeom prst="ellipse">
            <a:avLst/>
          </a:prstGeom>
          <a:solidFill>
            <a:srgbClr val="0F766E"/>
          </a:solidFill>
          <a:ln/>
        </p:spPr>
      </p:sp>
      <p:pic>
        <p:nvPicPr>
          <p:cNvPr id="5" name="Image 0" descr="preencoded.png">    </p:cNvPr>
          <p:cNvPicPr>
            <a:picLocks noChangeAspect="1"/>
          </p:cNvPicPr>
          <p:nvPr/>
        </p:nvPicPr>
        <p:blipFill>
          <a:blip r:embed="rId1"/>
          <a:stretch>
            <a:fillRect/>
          </a:stretch>
        </p:blipFill>
        <p:spPr>
          <a:xfrm>
            <a:off x="11210544" y="347472"/>
            <a:ext cx="365760" cy="365760"/>
          </a:xfrm>
          <a:prstGeom prst="rect">
            <a:avLst/>
          </a:prstGeom>
        </p:spPr>
      </p:pic>
      <p:sp>
        <p:nvSpPr>
          <p:cNvPr id="6" name="Shape 3"/>
          <p:cNvSpPr/>
          <p:nvPr/>
        </p:nvSpPr>
        <p:spPr>
          <a:xfrm>
            <a:off x="457200" y="896112"/>
            <a:ext cx="1097280" cy="45720"/>
          </a:xfrm>
          <a:prstGeom prst="rect">
            <a:avLst/>
          </a:prstGeom>
          <a:solidFill>
            <a:srgbClr val="EA580C"/>
          </a:solidFill>
          <a:ln/>
        </p:spPr>
      </p:sp>
      <p:sp>
        <p:nvSpPr>
          <p:cNvPr id="7" name="Text 4"/>
          <p:cNvSpPr txBox="1"/>
          <p:nvPr/>
        </p:nvSpPr>
        <p:spPr>
          <a:xfrm>
            <a:off x="457200" y="6473952"/>
            <a:ext cx="10058400" cy="274320"/>
          </a:xfrm>
          <a:prstGeom prst="rect">
            <a:avLst/>
          </a:prstGeom>
          <a:noFill/>
          <a:ln/>
        </p:spPr>
        <p:txBody>
          <a:bodyPr wrap="square" lIns="0" tIns="0" rIns="0" bIns="0" rtlCol="0" anchor="ctr"/>
          <a:lstStyle/>
          <a:p>
            <a:pPr indent="0" marL="0">
              <a:buNone/>
            </a:pPr>
            <a:r>
              <a:rPr lang="en-US" sz="1000" dirty="0">
                <a:solidFill>
                  <a:srgbClr val="6B7280"/>
                </a:solidFill>
              </a:rPr>
              <a:t>Hackathon demonstration only — NOT FOR CLINICAL USE  |  AAROGYA DRISHTI · AAROHAN 2026</a:t>
            </a:r>
            <a:endParaRPr lang="en-US" sz="1000" dirty="0"/>
          </a:p>
        </p:txBody>
      </p:sp>
      <p:sp>
        <p:nvSpPr>
          <p:cNvPr id="8" name="Text 5"/>
          <p:cNvSpPr txBox="1"/>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rPr>
              <a:t>13</a:t>
            </a:r>
            <a:endParaRPr lang="en-US" sz="1000" dirty="0"/>
          </a:p>
        </p:txBody>
      </p:sp>
      <p:sp>
        <p:nvSpPr>
          <p:cNvPr id="10" name="Shape 6"/>
          <p:cNvSpPr/>
          <p:nvPr/>
        </p:nvSpPr>
        <p:spPr>
          <a:xfrm>
            <a:off x="457200" y="1097280"/>
            <a:ext cx="2377440" cy="4754880"/>
          </a:xfrm>
          <a:prstGeom prst="roundRect">
            <a:avLst>
              <a:gd name="adj" fmla="val 3077"/>
            </a:avLst>
          </a:prstGeom>
          <a:solidFill>
            <a:srgbClr val="FFFFFF"/>
          </a:solidFill>
          <a:ln w="25400">
            <a:solidFill>
              <a:srgbClr val="12305A"/>
            </a:solidFill>
            <a:prstDash val="solid"/>
          </a:ln>
        </p:spPr>
      </p:sp>
      <p:sp>
        <p:nvSpPr>
          <p:cNvPr id="11" name="Shape 7"/>
          <p:cNvSpPr/>
          <p:nvPr/>
        </p:nvSpPr>
        <p:spPr>
          <a:xfrm>
            <a:off x="502920" y="1143000"/>
            <a:ext cx="2286000" cy="411480"/>
          </a:xfrm>
          <a:prstGeom prst="rect">
            <a:avLst/>
          </a:prstGeom>
          <a:solidFill>
            <a:srgbClr val="0F766E"/>
          </a:solidFill>
          <a:ln/>
        </p:spPr>
      </p:sp>
      <p:sp>
        <p:nvSpPr>
          <p:cNvPr id="12" name="Text 8"/>
          <p:cNvSpPr txBox="1"/>
          <p:nvPr/>
        </p:nvSpPr>
        <p:spPr>
          <a:xfrm>
            <a:off x="548640" y="1143000"/>
            <a:ext cx="2194560" cy="411480"/>
          </a:xfrm>
          <a:prstGeom prst="rect">
            <a:avLst/>
          </a:prstGeom>
          <a:noFill/>
          <a:ln/>
        </p:spPr>
        <p:txBody>
          <a:bodyPr wrap="square" lIns="25400" tIns="25400" rIns="25400" bIns="25400" rtlCol="0" anchor="ctr"/>
          <a:lstStyle/>
          <a:p>
            <a:pPr indent="0" marL="0">
              <a:buNone/>
            </a:pPr>
            <a:r>
              <a:rPr lang="en-US" sz="1200" b="1" dirty="0">
                <a:solidFill>
                  <a:srgbClr val="FFFFFF"/>
                </a:solidFill>
              </a:rPr>
              <a:t>Register / నమోదు</a:t>
            </a:r>
            <a:endParaRPr lang="en-US" sz="1200" dirty="0"/>
          </a:p>
        </p:txBody>
      </p:sp>
      <p:sp>
        <p:nvSpPr>
          <p:cNvPr id="13" name="Shape 9"/>
          <p:cNvSpPr/>
          <p:nvPr/>
        </p:nvSpPr>
        <p:spPr>
          <a:xfrm>
            <a:off x="594360" y="1645920"/>
            <a:ext cx="2103120" cy="411480"/>
          </a:xfrm>
          <a:prstGeom prst="rect">
            <a:avLst/>
          </a:prstGeom>
          <a:solidFill>
            <a:srgbClr val="EEF5F3"/>
          </a:solidFill>
          <a:ln w="12700">
            <a:solidFill>
              <a:srgbClr val="C7D2D0"/>
            </a:solidFill>
            <a:prstDash val="solid"/>
          </a:ln>
        </p:spPr>
      </p:sp>
      <p:sp>
        <p:nvSpPr>
          <p:cNvPr id="14" name="Text 10"/>
          <p:cNvSpPr txBox="1"/>
          <p:nvPr/>
        </p:nvSpPr>
        <p:spPr>
          <a:xfrm>
            <a:off x="640080" y="1645920"/>
            <a:ext cx="2011680" cy="411480"/>
          </a:xfrm>
          <a:prstGeom prst="rect">
            <a:avLst/>
          </a:prstGeom>
          <a:noFill/>
          <a:ln/>
        </p:spPr>
        <p:txBody>
          <a:bodyPr wrap="square" lIns="25400" tIns="25400" rIns="25400" bIns="25400" rtlCol="0" anchor="ctr"/>
          <a:lstStyle/>
          <a:p>
            <a:pPr indent="0" marL="0">
              <a:buNone/>
            </a:pPr>
            <a:r>
              <a:rPr lang="en-US" sz="1000" dirty="0">
                <a:solidFill>
                  <a:srgbClr val="1F2937"/>
                </a:solidFill>
              </a:rPr>
              <a:t>Name: Synthetic Patient A</a:t>
            </a:r>
            <a:endParaRPr lang="en-US" sz="1000" dirty="0"/>
          </a:p>
        </p:txBody>
      </p:sp>
      <p:sp>
        <p:nvSpPr>
          <p:cNvPr id="15" name="Shape 11"/>
          <p:cNvSpPr/>
          <p:nvPr/>
        </p:nvSpPr>
        <p:spPr>
          <a:xfrm>
            <a:off x="594360" y="2194560"/>
            <a:ext cx="2103120" cy="411480"/>
          </a:xfrm>
          <a:prstGeom prst="rect">
            <a:avLst/>
          </a:prstGeom>
          <a:solidFill>
            <a:srgbClr val="EEF5F3"/>
          </a:solidFill>
          <a:ln w="12700">
            <a:solidFill>
              <a:srgbClr val="C7D2D0"/>
            </a:solidFill>
            <a:prstDash val="solid"/>
          </a:ln>
        </p:spPr>
      </p:sp>
      <p:sp>
        <p:nvSpPr>
          <p:cNvPr id="16" name="Text 12"/>
          <p:cNvSpPr txBox="1"/>
          <p:nvPr/>
        </p:nvSpPr>
        <p:spPr>
          <a:xfrm>
            <a:off x="640080" y="2194560"/>
            <a:ext cx="2011680" cy="411480"/>
          </a:xfrm>
          <a:prstGeom prst="rect">
            <a:avLst/>
          </a:prstGeom>
          <a:noFill/>
          <a:ln/>
        </p:spPr>
        <p:txBody>
          <a:bodyPr wrap="square" lIns="25400" tIns="25400" rIns="25400" bIns="25400" rtlCol="0" anchor="ctr"/>
          <a:lstStyle/>
          <a:p>
            <a:pPr indent="0" marL="0">
              <a:buNone/>
            </a:pPr>
            <a:r>
              <a:rPr lang="en-US" sz="1000" dirty="0">
                <a:solidFill>
                  <a:srgbClr val="1F2937"/>
                </a:solidFill>
              </a:rPr>
              <a:t>Age 46 · G. Madugula</a:t>
            </a:r>
            <a:endParaRPr lang="en-US" sz="1000" dirty="0"/>
          </a:p>
        </p:txBody>
      </p:sp>
      <p:sp>
        <p:nvSpPr>
          <p:cNvPr id="17" name="Shape 13"/>
          <p:cNvSpPr/>
          <p:nvPr/>
        </p:nvSpPr>
        <p:spPr>
          <a:xfrm>
            <a:off x="594360" y="2743200"/>
            <a:ext cx="2103120" cy="411480"/>
          </a:xfrm>
          <a:prstGeom prst="rect">
            <a:avLst/>
          </a:prstGeom>
          <a:solidFill>
            <a:srgbClr val="EEF5F3"/>
          </a:solidFill>
          <a:ln w="12700">
            <a:solidFill>
              <a:srgbClr val="C7D2D0"/>
            </a:solidFill>
            <a:prstDash val="solid"/>
          </a:ln>
        </p:spPr>
      </p:sp>
      <p:sp>
        <p:nvSpPr>
          <p:cNvPr id="18" name="Text 14"/>
          <p:cNvSpPr txBox="1"/>
          <p:nvPr/>
        </p:nvSpPr>
        <p:spPr>
          <a:xfrm>
            <a:off x="640080" y="2743200"/>
            <a:ext cx="2011680" cy="411480"/>
          </a:xfrm>
          <a:prstGeom prst="rect">
            <a:avLst/>
          </a:prstGeom>
          <a:noFill/>
          <a:ln/>
        </p:spPr>
        <p:txBody>
          <a:bodyPr wrap="square" lIns="25400" tIns="25400" rIns="25400" bIns="25400" rtlCol="0" anchor="ctr"/>
          <a:lstStyle/>
          <a:p>
            <a:pPr indent="0" marL="0">
              <a:buNone/>
            </a:pPr>
            <a:r>
              <a:rPr lang="en-US" sz="1000" dirty="0">
                <a:solidFill>
                  <a:srgbClr val="1F2937"/>
                </a:solidFill>
              </a:rPr>
              <a:t>Tobacco chewing: Yes</a:t>
            </a:r>
            <a:endParaRPr lang="en-US" sz="1000" dirty="0"/>
          </a:p>
        </p:txBody>
      </p:sp>
      <p:sp>
        <p:nvSpPr>
          <p:cNvPr id="19" name="Text 15"/>
          <p:cNvSpPr txBox="1"/>
          <p:nvPr/>
        </p:nvSpPr>
        <p:spPr>
          <a:xfrm>
            <a:off x="594360" y="3383280"/>
            <a:ext cx="2103120" cy="365760"/>
          </a:xfrm>
          <a:prstGeom prst="rect">
            <a:avLst/>
          </a:prstGeom>
          <a:noFill/>
          <a:ln/>
        </p:spPr>
        <p:txBody>
          <a:bodyPr wrap="square" lIns="25400" tIns="25400" rIns="25400" bIns="25400" rtlCol="0" anchor="t"/>
          <a:lstStyle/>
          <a:p>
            <a:pPr indent="0" marL="0">
              <a:buNone/>
            </a:pPr>
            <a:r>
              <a:rPr lang="en-US" sz="1100" dirty="0">
                <a:solidFill>
                  <a:srgbClr val="1F2937"/>
                </a:solidFill>
              </a:rPr>
              <a:t>☑ Consent recorded</a:t>
            </a:r>
            <a:endParaRPr lang="en-US" sz="1100" dirty="0"/>
          </a:p>
        </p:txBody>
      </p:sp>
      <p:sp>
        <p:nvSpPr>
          <p:cNvPr id="20" name="Shape 16"/>
          <p:cNvSpPr/>
          <p:nvPr/>
        </p:nvSpPr>
        <p:spPr>
          <a:xfrm>
            <a:off x="594360" y="3840480"/>
            <a:ext cx="2103120" cy="548640"/>
          </a:xfrm>
          <a:prstGeom prst="roundRect">
            <a:avLst>
              <a:gd name="adj" fmla="val 16667"/>
            </a:avLst>
          </a:prstGeom>
          <a:solidFill>
            <a:srgbClr val="EA580C"/>
          </a:solidFill>
          <a:ln/>
        </p:spPr>
      </p:sp>
      <p:sp>
        <p:nvSpPr>
          <p:cNvPr id="21" name="Text 17"/>
          <p:cNvSpPr txBox="1"/>
          <p:nvPr/>
        </p:nvSpPr>
        <p:spPr>
          <a:xfrm>
            <a:off x="594360" y="3840480"/>
            <a:ext cx="2103120" cy="548640"/>
          </a:xfrm>
          <a:prstGeom prst="rect">
            <a:avLst/>
          </a:prstGeom>
          <a:noFill/>
          <a:ln/>
        </p:spPr>
        <p:txBody>
          <a:bodyPr wrap="square" lIns="25400" tIns="25400" rIns="25400" bIns="25400" rtlCol="0" anchor="ctr"/>
          <a:lstStyle/>
          <a:p>
            <a:pPr algn="ctr" indent="0" marL="0">
              <a:buNone/>
            </a:pPr>
            <a:r>
              <a:rPr lang="en-US" sz="1300" b="1" dirty="0">
                <a:solidFill>
                  <a:srgbClr val="FFFFFF"/>
                </a:solidFill>
              </a:rPr>
              <a:t>Take oral photo</a:t>
            </a:r>
            <a:endParaRPr lang="en-US" sz="1300" dirty="0"/>
          </a:p>
        </p:txBody>
      </p:sp>
      <p:sp>
        <p:nvSpPr>
          <p:cNvPr id="22" name="Text 18"/>
          <p:cNvSpPr txBox="1"/>
          <p:nvPr/>
        </p:nvSpPr>
        <p:spPr>
          <a:xfrm>
            <a:off x="594360" y="4572000"/>
            <a:ext cx="2103120" cy="365760"/>
          </a:xfrm>
          <a:prstGeom prst="rect">
            <a:avLst/>
          </a:prstGeom>
          <a:noFill/>
          <a:ln/>
        </p:spPr>
        <p:txBody>
          <a:bodyPr wrap="square" lIns="25400" tIns="25400" rIns="25400" bIns="25400" rtlCol="0" anchor="t"/>
          <a:lstStyle/>
          <a:p>
            <a:pPr indent="0" marL="0">
              <a:buNone/>
            </a:pPr>
            <a:r>
              <a:rPr lang="en-US" sz="1100" b="1" dirty="0">
                <a:solidFill>
                  <a:srgbClr val="EA580C"/>
                </a:solidFill>
              </a:rPr>
              <a:t>● Draft saved: pending sync</a:t>
            </a:r>
            <a:endParaRPr lang="en-US" sz="1100" dirty="0"/>
          </a:p>
        </p:txBody>
      </p:sp>
      <p:sp>
        <p:nvSpPr>
          <p:cNvPr id="23" name="Text 19"/>
          <p:cNvSpPr txBox="1"/>
          <p:nvPr/>
        </p:nvSpPr>
        <p:spPr>
          <a:xfrm>
            <a:off x="594360" y="5120640"/>
            <a:ext cx="2103120" cy="365760"/>
          </a:xfrm>
          <a:prstGeom prst="rect">
            <a:avLst/>
          </a:prstGeom>
          <a:noFill/>
          <a:ln/>
        </p:spPr>
        <p:txBody>
          <a:bodyPr wrap="square" lIns="25400" tIns="25400" rIns="25400" bIns="25400" rtlCol="0" anchor="t"/>
          <a:lstStyle/>
          <a:p>
            <a:pPr algn="ctr" indent="0" marL="0">
              <a:buNone/>
            </a:pPr>
            <a:r>
              <a:rPr lang="en-US" sz="1100" b="1" dirty="0">
                <a:solidFill>
                  <a:srgbClr val="0F766E"/>
                </a:solidFill>
              </a:rPr>
              <a:t>తెలుగు | English</a:t>
            </a:r>
            <a:endParaRPr lang="en-US" sz="1100" dirty="0"/>
          </a:p>
        </p:txBody>
      </p:sp>
      <p:sp>
        <p:nvSpPr>
          <p:cNvPr id="24" name="Shape 20"/>
          <p:cNvSpPr/>
          <p:nvPr/>
        </p:nvSpPr>
        <p:spPr>
          <a:xfrm>
            <a:off x="3017520" y="1097280"/>
            <a:ext cx="4480560" cy="2743200"/>
          </a:xfrm>
          <a:prstGeom prst="roundRect">
            <a:avLst>
              <a:gd name="adj" fmla="val 2667"/>
            </a:avLst>
          </a:prstGeom>
          <a:solidFill>
            <a:srgbClr val="FFFFFF"/>
          </a:solidFill>
          <a:ln w="25400">
            <a:solidFill>
              <a:srgbClr val="12305A"/>
            </a:solidFill>
            <a:prstDash val="solid"/>
          </a:ln>
        </p:spPr>
      </p:sp>
      <p:sp>
        <p:nvSpPr>
          <p:cNvPr id="25" name="Shape 21"/>
          <p:cNvSpPr/>
          <p:nvPr/>
        </p:nvSpPr>
        <p:spPr>
          <a:xfrm>
            <a:off x="3063240" y="1143000"/>
            <a:ext cx="4389120" cy="411480"/>
          </a:xfrm>
          <a:prstGeom prst="rect">
            <a:avLst/>
          </a:prstGeom>
          <a:solidFill>
            <a:srgbClr val="0F766E"/>
          </a:solidFill>
          <a:ln/>
        </p:spPr>
      </p:sp>
      <p:sp>
        <p:nvSpPr>
          <p:cNvPr id="26" name="Text 22"/>
          <p:cNvSpPr txBox="1"/>
          <p:nvPr/>
        </p:nvSpPr>
        <p:spPr>
          <a:xfrm>
            <a:off x="3108960" y="1143000"/>
            <a:ext cx="4297680" cy="411480"/>
          </a:xfrm>
          <a:prstGeom prst="rect">
            <a:avLst/>
          </a:prstGeom>
          <a:noFill/>
          <a:ln/>
        </p:spPr>
        <p:txBody>
          <a:bodyPr wrap="square" lIns="25400" tIns="25400" rIns="25400" bIns="25400" rtlCol="0" anchor="ctr"/>
          <a:lstStyle/>
          <a:p>
            <a:pPr indent="0" marL="0">
              <a:buNone/>
            </a:pPr>
            <a:r>
              <a:rPr lang="en-US" sz="1200" b="1" dirty="0">
                <a:solidFill>
                  <a:srgbClr val="FFFFFF"/>
                </a:solidFill>
              </a:rPr>
              <a:t>Medical Officer: Case Queue</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200400" y="1645920"/>
          <a:ext cx="4023360" cy="914400"/>
        </p:xfrm>
        <a:graphic>
          <a:graphicData uri="http://schemas.openxmlformats.org/drawingml/2006/table">
            <a:tbl>
              <a:tblPr/>
              <a:tblGrid>
                <a:gridCol w="1371600"/>
                <a:gridCol w="1280160"/>
                <a:gridCol w="1371600"/>
              </a:tblGrid>
              <a:tr h="365760">
                <a:tc>
                  <a:txBody>
                    <a:bodyPr/>
                    <a:lstStyle/>
                    <a:p>
                      <a:pPr indent="0" marL="0">
                        <a:buNone/>
                      </a:pPr>
                      <a:r>
                        <a:rPr lang="en-US" sz="1100" b="1" dirty="0">
                          <a:solidFill>
                            <a:srgbClr val="FFFFFF"/>
                          </a:solidFill>
                        </a:rPr>
                        <a:t>Case</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12305A"/>
                    </a:solidFill>
                  </a:tcPr>
                </a:tc>
                <a:tc>
                  <a:txBody>
                    <a:bodyPr/>
                    <a:lstStyle/>
                    <a:p>
                      <a:pPr indent="0" marL="0">
                        <a:buNone/>
                      </a:pPr>
                      <a:r>
                        <a:rPr lang="en-US" sz="1100" b="1" dirty="0">
                          <a:solidFill>
                            <a:srgbClr val="FFFFFF"/>
                          </a:solidFill>
                        </a:rPr>
                        <a:t>Status</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12305A"/>
                    </a:solidFill>
                  </a:tcPr>
                </a:tc>
                <a:tc>
                  <a:txBody>
                    <a:bodyPr/>
                    <a:lstStyle/>
                    <a:p>
                      <a:pPr indent="0" marL="0">
                        <a:buNone/>
                      </a:pPr>
                      <a:r>
                        <a:rPr lang="en-US" sz="1100" b="1" dirty="0">
                          <a:solidFill>
                            <a:srgbClr val="FFFFFF"/>
                          </a:solidFill>
                        </a:rPr>
                        <a:t>AI (advisory)</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12305A"/>
                    </a:solidFill>
                  </a:tcPr>
                </a:tc>
              </a:tr>
              <a:tr h="365760">
                <a:tc>
                  <a:txBody>
                    <a:bodyPr/>
                    <a:lstStyle/>
                    <a:p>
                      <a:pPr indent="0" marL="0">
                        <a:buNone/>
                      </a:pPr>
                      <a:r>
                        <a:rPr lang="en-US" sz="1100" dirty="0">
                          <a:solidFill>
                            <a:srgbClr val="1F2937"/>
                          </a:solidFill>
                        </a:rPr>
                        <a:t>DEMO-CASE-001</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Awaiting review</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suspicious_example</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F2937"/>
                          </a:solidFill>
                        </a:rPr>
                        <a:t>DEMO-CASE-002</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100" dirty="0">
                          <a:solidFill>
                            <a:srgbClr val="1F2937"/>
                          </a:solidFill>
                        </a:rPr>
                        <a:t>Reviewed</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100" dirty="0">
                          <a:solidFill>
                            <a:srgbClr val="1F2937"/>
                          </a:solidFill>
                        </a:rPr>
                        <a:t>image insufficient</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r>
            </a:tbl>
          </a:graphicData>
        </a:graphic>
      </p:graphicFrame>
      <p:sp>
        <p:nvSpPr>
          <p:cNvPr id="28" name="Shape 23"/>
          <p:cNvSpPr/>
          <p:nvPr/>
        </p:nvSpPr>
        <p:spPr>
          <a:xfrm>
            <a:off x="3200400" y="3200400"/>
            <a:ext cx="1188720" cy="411480"/>
          </a:xfrm>
          <a:prstGeom prst="roundRect">
            <a:avLst>
              <a:gd name="adj" fmla="val 17778"/>
            </a:avLst>
          </a:prstGeom>
          <a:solidFill>
            <a:srgbClr val="16A34A"/>
          </a:solidFill>
          <a:ln/>
        </p:spPr>
      </p:sp>
      <p:sp>
        <p:nvSpPr>
          <p:cNvPr id="29" name="Text 24"/>
          <p:cNvSpPr txBox="1"/>
          <p:nvPr/>
        </p:nvSpPr>
        <p:spPr>
          <a:xfrm>
            <a:off x="3200400" y="3200400"/>
            <a:ext cx="1188720" cy="411480"/>
          </a:xfrm>
          <a:prstGeom prst="rect">
            <a:avLst/>
          </a:prstGeom>
          <a:noFill/>
          <a:ln/>
        </p:spPr>
        <p:txBody>
          <a:bodyPr wrap="square" lIns="25400" tIns="25400" rIns="25400" bIns="25400" rtlCol="0" anchor="ctr"/>
          <a:lstStyle/>
          <a:p>
            <a:pPr algn="ctr" indent="0" marL="0">
              <a:buNone/>
            </a:pPr>
            <a:r>
              <a:rPr lang="en-US" sz="1100" b="1" dirty="0">
                <a:solidFill>
                  <a:srgbClr val="FFFFFF"/>
                </a:solidFill>
              </a:rPr>
              <a:t>Agree</a:t>
            </a:r>
            <a:endParaRPr lang="en-US" sz="1100" dirty="0"/>
          </a:p>
        </p:txBody>
      </p:sp>
      <p:sp>
        <p:nvSpPr>
          <p:cNvPr id="30" name="Shape 25"/>
          <p:cNvSpPr/>
          <p:nvPr/>
        </p:nvSpPr>
        <p:spPr>
          <a:xfrm>
            <a:off x="4572000" y="3200400"/>
            <a:ext cx="1188720" cy="411480"/>
          </a:xfrm>
          <a:prstGeom prst="roundRect">
            <a:avLst>
              <a:gd name="adj" fmla="val 17778"/>
            </a:avLst>
          </a:prstGeom>
          <a:solidFill>
            <a:srgbClr val="EA580C"/>
          </a:solidFill>
          <a:ln/>
        </p:spPr>
      </p:sp>
      <p:sp>
        <p:nvSpPr>
          <p:cNvPr id="31" name="Text 26"/>
          <p:cNvSpPr txBox="1"/>
          <p:nvPr/>
        </p:nvSpPr>
        <p:spPr>
          <a:xfrm>
            <a:off x="4572000" y="3200400"/>
            <a:ext cx="1188720" cy="411480"/>
          </a:xfrm>
          <a:prstGeom prst="rect">
            <a:avLst/>
          </a:prstGeom>
          <a:noFill/>
          <a:ln/>
        </p:spPr>
        <p:txBody>
          <a:bodyPr wrap="square" lIns="25400" tIns="25400" rIns="25400" bIns="25400" rtlCol="0" anchor="ctr"/>
          <a:lstStyle/>
          <a:p>
            <a:pPr algn="ctr" indent="0" marL="0">
              <a:buNone/>
            </a:pPr>
            <a:r>
              <a:rPr lang="en-US" sz="1100" b="1" dirty="0">
                <a:solidFill>
                  <a:srgbClr val="FFFFFF"/>
                </a:solidFill>
              </a:rPr>
              <a:t>Disagree</a:t>
            </a:r>
            <a:endParaRPr lang="en-US" sz="1100" dirty="0"/>
          </a:p>
        </p:txBody>
      </p:sp>
      <p:sp>
        <p:nvSpPr>
          <p:cNvPr id="32" name="Shape 27"/>
          <p:cNvSpPr/>
          <p:nvPr/>
        </p:nvSpPr>
        <p:spPr>
          <a:xfrm>
            <a:off x="5943600" y="3200400"/>
            <a:ext cx="1188720" cy="411480"/>
          </a:xfrm>
          <a:prstGeom prst="roundRect">
            <a:avLst>
              <a:gd name="adj" fmla="val 17778"/>
            </a:avLst>
          </a:prstGeom>
          <a:solidFill>
            <a:srgbClr val="16A34A"/>
          </a:solidFill>
          <a:ln/>
        </p:spPr>
      </p:sp>
      <p:sp>
        <p:nvSpPr>
          <p:cNvPr id="33" name="Text 28"/>
          <p:cNvSpPr txBox="1"/>
          <p:nvPr/>
        </p:nvSpPr>
        <p:spPr>
          <a:xfrm>
            <a:off x="5943600" y="3200400"/>
            <a:ext cx="1188720" cy="411480"/>
          </a:xfrm>
          <a:prstGeom prst="rect">
            <a:avLst/>
          </a:prstGeom>
          <a:noFill/>
          <a:ln/>
        </p:spPr>
        <p:txBody>
          <a:bodyPr wrap="square" lIns="25400" tIns="25400" rIns="25400" bIns="25400" rtlCol="0" anchor="ctr"/>
          <a:lstStyle/>
          <a:p>
            <a:pPr algn="ctr" indent="0" marL="0">
              <a:buNone/>
            </a:pPr>
            <a:r>
              <a:rPr lang="en-US" sz="1100" b="1" dirty="0">
                <a:solidFill>
                  <a:srgbClr val="FFFFFF"/>
                </a:solidFill>
              </a:rPr>
              <a:t>Defer</a:t>
            </a:r>
            <a:endParaRPr lang="en-US" sz="1100" dirty="0"/>
          </a:p>
        </p:txBody>
      </p:sp>
      <p:sp>
        <p:nvSpPr>
          <p:cNvPr id="34" name="Shape 29"/>
          <p:cNvSpPr/>
          <p:nvPr/>
        </p:nvSpPr>
        <p:spPr>
          <a:xfrm>
            <a:off x="7680960" y="1097280"/>
            <a:ext cx="4050792" cy="2743200"/>
          </a:xfrm>
          <a:prstGeom prst="roundRect">
            <a:avLst>
              <a:gd name="adj" fmla="val 2667"/>
            </a:avLst>
          </a:prstGeom>
          <a:solidFill>
            <a:srgbClr val="FFFFFF"/>
          </a:solidFill>
          <a:ln w="25400">
            <a:solidFill>
              <a:srgbClr val="12305A"/>
            </a:solidFill>
            <a:prstDash val="solid"/>
          </a:ln>
        </p:spPr>
      </p:sp>
      <p:sp>
        <p:nvSpPr>
          <p:cNvPr id="35" name="Shape 30"/>
          <p:cNvSpPr/>
          <p:nvPr/>
        </p:nvSpPr>
        <p:spPr>
          <a:xfrm>
            <a:off x="7726680" y="1143000"/>
            <a:ext cx="3959352" cy="411480"/>
          </a:xfrm>
          <a:prstGeom prst="rect">
            <a:avLst/>
          </a:prstGeom>
          <a:solidFill>
            <a:srgbClr val="0F766E"/>
          </a:solidFill>
          <a:ln/>
        </p:spPr>
      </p:sp>
      <p:sp>
        <p:nvSpPr>
          <p:cNvPr id="36" name="Text 31"/>
          <p:cNvSpPr txBox="1"/>
          <p:nvPr/>
        </p:nvSpPr>
        <p:spPr>
          <a:xfrm>
            <a:off x="7772400" y="1143000"/>
            <a:ext cx="3867912" cy="411480"/>
          </a:xfrm>
          <a:prstGeom prst="rect">
            <a:avLst/>
          </a:prstGeom>
          <a:noFill/>
          <a:ln/>
        </p:spPr>
        <p:txBody>
          <a:bodyPr wrap="square" lIns="25400" tIns="25400" rIns="25400" bIns="25400" rtlCol="0" anchor="ctr"/>
          <a:lstStyle/>
          <a:p>
            <a:pPr indent="0" marL="0">
              <a:buNone/>
            </a:pPr>
            <a:r>
              <a:rPr lang="en-US" sz="1200" b="1" dirty="0">
                <a:solidFill>
                  <a:srgbClr val="FFFFFF"/>
                </a:solidFill>
              </a:rPr>
              <a:t>Specialist: Appointments</a:t>
            </a:r>
            <a:endParaRPr lang="en-US" sz="120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7863840" y="1645920"/>
          <a:ext cx="3657600" cy="914400"/>
        </p:xfrm>
        <a:graphic>
          <a:graphicData uri="http://schemas.openxmlformats.org/drawingml/2006/table">
            <a:tbl>
              <a:tblPr/>
              <a:tblGrid>
                <a:gridCol w="1828800"/>
                <a:gridCol w="1828800"/>
              </a:tblGrid>
              <a:tr h="365760">
                <a:tc>
                  <a:txBody>
                    <a:bodyPr/>
                    <a:lstStyle/>
                    <a:p>
                      <a:pPr indent="0" marL="0">
                        <a:buNone/>
                      </a:pPr>
                      <a:r>
                        <a:rPr lang="en-US" sz="1100" b="1" dirty="0">
                          <a:solidFill>
                            <a:srgbClr val="FFFFFF"/>
                          </a:solidFill>
                        </a:rPr>
                        <a:t>Slot</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12305A"/>
                    </a:solidFill>
                  </a:tcPr>
                </a:tc>
                <a:tc>
                  <a:txBody>
                    <a:bodyPr/>
                    <a:lstStyle/>
                    <a:p>
                      <a:pPr indent="0" marL="0">
                        <a:buNone/>
                      </a:pPr>
                      <a:r>
                        <a:rPr lang="en-US" sz="1100" b="1" dirty="0">
                          <a:solidFill>
                            <a:srgbClr val="FFFFFF"/>
                          </a:solidFill>
                        </a:rPr>
                        <a:t>Status</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12305A"/>
                    </a:solidFill>
                  </a:tcPr>
                </a:tc>
              </a:tr>
              <a:tr h="365760">
                <a:tc>
                  <a:txBody>
                    <a:bodyPr/>
                    <a:lstStyle/>
                    <a:p>
                      <a:pPr indent="0" marL="0">
                        <a:buNone/>
                      </a:pPr>
                      <a:r>
                        <a:rPr lang="en-US" sz="1100" dirty="0">
                          <a:solidFill>
                            <a:srgbClr val="1F2937"/>
                          </a:solidFill>
                        </a:rPr>
                        <a:t>10:00 video</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Confirmed</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F2937"/>
                          </a:solidFill>
                        </a:rPr>
                        <a:t>11:30 hospital</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100" dirty="0">
                          <a:solidFill>
                            <a:srgbClr val="1F2937"/>
                          </a:solidFill>
                        </a:rPr>
                        <a:t>Requested</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r>
            </a:tbl>
          </a:graphicData>
        </a:graphic>
      </p:graphicFrame>
      <p:sp>
        <p:nvSpPr>
          <p:cNvPr id="38" name="Shape 32"/>
          <p:cNvSpPr/>
          <p:nvPr/>
        </p:nvSpPr>
        <p:spPr>
          <a:xfrm>
            <a:off x="7863840" y="3200400"/>
            <a:ext cx="1828800" cy="411480"/>
          </a:xfrm>
          <a:prstGeom prst="roundRect">
            <a:avLst>
              <a:gd name="adj" fmla="val 17778"/>
            </a:avLst>
          </a:prstGeom>
          <a:solidFill>
            <a:srgbClr val="0F766E"/>
          </a:solidFill>
          <a:ln/>
        </p:spPr>
      </p:sp>
      <p:sp>
        <p:nvSpPr>
          <p:cNvPr id="39" name="Text 33"/>
          <p:cNvSpPr txBox="1"/>
          <p:nvPr/>
        </p:nvSpPr>
        <p:spPr>
          <a:xfrm>
            <a:off x="7863840" y="3200400"/>
            <a:ext cx="1828800" cy="411480"/>
          </a:xfrm>
          <a:prstGeom prst="rect">
            <a:avLst/>
          </a:prstGeom>
          <a:noFill/>
          <a:ln/>
        </p:spPr>
        <p:txBody>
          <a:bodyPr wrap="square" lIns="25400" tIns="25400" rIns="25400" bIns="25400" rtlCol="0" anchor="ctr"/>
          <a:lstStyle/>
          <a:p>
            <a:pPr algn="ctr" indent="0" marL="0">
              <a:buNone/>
            </a:pPr>
            <a:r>
              <a:rPr lang="en-US" sz="1100" b="1" dirty="0">
                <a:solidFill>
                  <a:srgbClr val="FFFFFF"/>
                </a:solidFill>
              </a:rPr>
              <a:t>Join video</a:t>
            </a:r>
            <a:endParaRPr lang="en-US" sz="1100" dirty="0"/>
          </a:p>
        </p:txBody>
      </p:sp>
      <p:sp>
        <p:nvSpPr>
          <p:cNvPr id="40" name="Shape 34"/>
          <p:cNvSpPr/>
          <p:nvPr/>
        </p:nvSpPr>
        <p:spPr>
          <a:xfrm>
            <a:off x="3017520" y="4023360"/>
            <a:ext cx="8714232" cy="1828800"/>
          </a:xfrm>
          <a:prstGeom prst="roundRect">
            <a:avLst>
              <a:gd name="adj" fmla="val 4000"/>
            </a:avLst>
          </a:prstGeom>
          <a:solidFill>
            <a:srgbClr val="FFFFFF"/>
          </a:solidFill>
          <a:ln w="25400">
            <a:solidFill>
              <a:srgbClr val="12305A"/>
            </a:solidFill>
            <a:prstDash val="solid"/>
          </a:ln>
        </p:spPr>
      </p:sp>
      <p:sp>
        <p:nvSpPr>
          <p:cNvPr id="41" name="Shape 35"/>
          <p:cNvSpPr/>
          <p:nvPr/>
        </p:nvSpPr>
        <p:spPr>
          <a:xfrm>
            <a:off x="3063240" y="4069080"/>
            <a:ext cx="8622792" cy="411480"/>
          </a:xfrm>
          <a:prstGeom prst="rect">
            <a:avLst/>
          </a:prstGeom>
          <a:solidFill>
            <a:srgbClr val="0F766E"/>
          </a:solidFill>
          <a:ln/>
        </p:spPr>
      </p:sp>
      <p:sp>
        <p:nvSpPr>
          <p:cNvPr id="42" name="Text 36"/>
          <p:cNvSpPr txBox="1"/>
          <p:nvPr/>
        </p:nvSpPr>
        <p:spPr>
          <a:xfrm>
            <a:off x="3108960" y="4069080"/>
            <a:ext cx="8531352" cy="411480"/>
          </a:xfrm>
          <a:prstGeom prst="rect">
            <a:avLst/>
          </a:prstGeom>
          <a:noFill/>
          <a:ln/>
        </p:spPr>
        <p:txBody>
          <a:bodyPr wrap="square" lIns="25400" tIns="25400" rIns="25400" bIns="25400" rtlCol="0" anchor="ctr"/>
          <a:lstStyle/>
          <a:p>
            <a:pPr indent="0" marL="0">
              <a:buNone/>
            </a:pPr>
            <a:r>
              <a:rPr lang="en-US" sz="1200" b="1" dirty="0">
                <a:solidFill>
                  <a:srgbClr val="FFFFFF"/>
                </a:solidFill>
              </a:rPr>
              <a:t>District Dashboard: aggregate only (sample)</a:t>
            </a:r>
            <a:endParaRPr lang="en-US" sz="1200" dirty="0"/>
          </a:p>
        </p:txBody>
      </p:sp>
      <p:sp>
        <p:nvSpPr>
          <p:cNvPr id="43" name="Shape 37"/>
          <p:cNvSpPr/>
          <p:nvPr/>
        </p:nvSpPr>
        <p:spPr>
          <a:xfrm>
            <a:off x="3200400" y="4572000"/>
            <a:ext cx="1965960" cy="1097280"/>
          </a:xfrm>
          <a:prstGeom prst="roundRect">
            <a:avLst>
              <a:gd name="adj" fmla="val 5000"/>
            </a:avLst>
          </a:prstGeom>
          <a:solidFill>
            <a:srgbClr val="EEF5F3"/>
          </a:solidFill>
          <a:ln w="12700">
            <a:solidFill>
              <a:srgbClr val="0F766E"/>
            </a:solidFill>
            <a:prstDash val="solid"/>
          </a:ln>
        </p:spPr>
      </p:sp>
      <p:sp>
        <p:nvSpPr>
          <p:cNvPr id="44" name="Text 38"/>
          <p:cNvSpPr txBox="1"/>
          <p:nvPr/>
        </p:nvSpPr>
        <p:spPr>
          <a:xfrm>
            <a:off x="3200400" y="4572000"/>
            <a:ext cx="1965960" cy="1097280"/>
          </a:xfrm>
          <a:prstGeom prst="rect">
            <a:avLst/>
          </a:prstGeom>
          <a:noFill/>
          <a:ln/>
        </p:spPr>
        <p:txBody>
          <a:bodyPr wrap="square" lIns="25400" tIns="25400" rIns="25400" bIns="25400" rtlCol="0" anchor="ctr"/>
          <a:lstStyle/>
          <a:p>
            <a:pPr algn="ctr" indent="0" marL="0">
              <a:buNone/>
            </a:pPr>
            <a:r>
              <a:rPr lang="en-US" sz="2800" b="1" dirty="0">
                <a:solidFill>
                  <a:srgbClr val="12305A"/>
                </a:solidFill>
              </a:rPr>
              <a:t>12</a:t>
            </a:r>
            <a:endParaRPr lang="en-US" sz="1300" dirty="0"/>
          </a:p>
          <a:p>
            <a:pPr algn="ctr" indent="0" marL="0">
              <a:buNone/>
            </a:pPr>
            <a:r>
              <a:rPr lang="en-US" sz="1100" dirty="0">
                <a:solidFill>
                  <a:srgbClr val="1F2937"/>
                </a:solidFill>
              </a:rPr>
              <a:t>Screened</a:t>
            </a:r>
            <a:endParaRPr lang="en-US" sz="1300" dirty="0"/>
          </a:p>
        </p:txBody>
      </p:sp>
      <p:sp>
        <p:nvSpPr>
          <p:cNvPr id="45" name="Shape 39"/>
          <p:cNvSpPr/>
          <p:nvPr/>
        </p:nvSpPr>
        <p:spPr>
          <a:xfrm>
            <a:off x="5349240" y="4572000"/>
            <a:ext cx="1965960" cy="1097280"/>
          </a:xfrm>
          <a:prstGeom prst="roundRect">
            <a:avLst>
              <a:gd name="adj" fmla="val 5000"/>
            </a:avLst>
          </a:prstGeom>
          <a:solidFill>
            <a:srgbClr val="EEF5F3"/>
          </a:solidFill>
          <a:ln w="12700">
            <a:solidFill>
              <a:srgbClr val="0F766E"/>
            </a:solidFill>
            <a:prstDash val="solid"/>
          </a:ln>
        </p:spPr>
      </p:sp>
      <p:sp>
        <p:nvSpPr>
          <p:cNvPr id="46" name="Text 40"/>
          <p:cNvSpPr txBox="1"/>
          <p:nvPr/>
        </p:nvSpPr>
        <p:spPr>
          <a:xfrm>
            <a:off x="5349240" y="4572000"/>
            <a:ext cx="1965960" cy="1097280"/>
          </a:xfrm>
          <a:prstGeom prst="rect">
            <a:avLst/>
          </a:prstGeom>
          <a:noFill/>
          <a:ln/>
        </p:spPr>
        <p:txBody>
          <a:bodyPr wrap="square" lIns="25400" tIns="25400" rIns="25400" bIns="25400" rtlCol="0" anchor="ctr"/>
          <a:lstStyle/>
          <a:p>
            <a:pPr algn="ctr" indent="0" marL="0">
              <a:buNone/>
            </a:pPr>
            <a:r>
              <a:rPr lang="en-US" sz="2800" b="1" dirty="0">
                <a:solidFill>
                  <a:srgbClr val="12305A"/>
                </a:solidFill>
              </a:rPr>
              <a:t>4</a:t>
            </a:r>
            <a:endParaRPr lang="en-US" sz="1300" dirty="0"/>
          </a:p>
          <a:p>
            <a:pPr algn="ctr" indent="0" marL="0">
              <a:buNone/>
            </a:pPr>
            <a:r>
              <a:rPr lang="en-US" sz="1100" dirty="0">
                <a:solidFill>
                  <a:srgbClr val="1F2937"/>
                </a:solidFill>
              </a:rPr>
              <a:t>Referred</a:t>
            </a:r>
            <a:endParaRPr lang="en-US" sz="1300" dirty="0"/>
          </a:p>
        </p:txBody>
      </p:sp>
      <p:sp>
        <p:nvSpPr>
          <p:cNvPr id="47" name="Shape 41"/>
          <p:cNvSpPr/>
          <p:nvPr/>
        </p:nvSpPr>
        <p:spPr>
          <a:xfrm>
            <a:off x="7498080" y="4572000"/>
            <a:ext cx="1965960" cy="1097280"/>
          </a:xfrm>
          <a:prstGeom prst="roundRect">
            <a:avLst>
              <a:gd name="adj" fmla="val 5000"/>
            </a:avLst>
          </a:prstGeom>
          <a:solidFill>
            <a:srgbClr val="EEF5F3"/>
          </a:solidFill>
          <a:ln w="12700">
            <a:solidFill>
              <a:srgbClr val="0F766E"/>
            </a:solidFill>
            <a:prstDash val="solid"/>
          </a:ln>
        </p:spPr>
      </p:sp>
      <p:sp>
        <p:nvSpPr>
          <p:cNvPr id="48" name="Text 42"/>
          <p:cNvSpPr txBox="1"/>
          <p:nvPr/>
        </p:nvSpPr>
        <p:spPr>
          <a:xfrm>
            <a:off x="7498080" y="4572000"/>
            <a:ext cx="1965960" cy="1097280"/>
          </a:xfrm>
          <a:prstGeom prst="rect">
            <a:avLst/>
          </a:prstGeom>
          <a:noFill/>
          <a:ln/>
        </p:spPr>
        <p:txBody>
          <a:bodyPr wrap="square" lIns="25400" tIns="25400" rIns="25400" bIns="25400" rtlCol="0" anchor="ctr"/>
          <a:lstStyle/>
          <a:p>
            <a:pPr algn="ctr" indent="0" marL="0">
              <a:buNone/>
            </a:pPr>
            <a:r>
              <a:rPr lang="en-US" sz="2800" b="1" dirty="0">
                <a:solidFill>
                  <a:srgbClr val="12305A"/>
                </a:solidFill>
              </a:rPr>
              <a:t>1</a:t>
            </a:r>
            <a:endParaRPr lang="en-US" sz="1300" dirty="0"/>
          </a:p>
          <a:p>
            <a:pPr algn="ctr" indent="0" marL="0">
              <a:buNone/>
            </a:pPr>
            <a:r>
              <a:rPr lang="en-US" sz="1100" dirty="0">
                <a:solidFill>
                  <a:srgbClr val="1F2937"/>
                </a:solidFill>
              </a:rPr>
              <a:t>Overdue</a:t>
            </a:r>
            <a:endParaRPr lang="en-US" sz="1300" dirty="0"/>
          </a:p>
        </p:txBody>
      </p:sp>
      <p:sp>
        <p:nvSpPr>
          <p:cNvPr id="49" name="Shape 43"/>
          <p:cNvSpPr/>
          <p:nvPr/>
        </p:nvSpPr>
        <p:spPr>
          <a:xfrm>
            <a:off x="9646920" y="4572000"/>
            <a:ext cx="1965960" cy="1097280"/>
          </a:xfrm>
          <a:prstGeom prst="roundRect">
            <a:avLst>
              <a:gd name="adj" fmla="val 5000"/>
            </a:avLst>
          </a:prstGeom>
          <a:solidFill>
            <a:srgbClr val="EEF5F3"/>
          </a:solidFill>
          <a:ln w="12700">
            <a:solidFill>
              <a:srgbClr val="0F766E"/>
            </a:solidFill>
            <a:prstDash val="solid"/>
          </a:ln>
        </p:spPr>
      </p:sp>
      <p:sp>
        <p:nvSpPr>
          <p:cNvPr id="50" name="Text 44"/>
          <p:cNvSpPr txBox="1"/>
          <p:nvPr/>
        </p:nvSpPr>
        <p:spPr>
          <a:xfrm>
            <a:off x="9646920" y="4572000"/>
            <a:ext cx="1965960" cy="1097280"/>
          </a:xfrm>
          <a:prstGeom prst="rect">
            <a:avLst/>
          </a:prstGeom>
          <a:noFill/>
          <a:ln/>
        </p:spPr>
        <p:txBody>
          <a:bodyPr wrap="square" lIns="25400" tIns="25400" rIns="25400" bIns="25400" rtlCol="0" anchor="ctr"/>
          <a:lstStyle/>
          <a:p>
            <a:pPr algn="ctr" indent="0" marL="0">
              <a:buNone/>
            </a:pPr>
            <a:r>
              <a:rPr lang="en-US" sz="2800" b="1" dirty="0">
                <a:solidFill>
                  <a:srgbClr val="12305A"/>
                </a:solidFill>
              </a:rPr>
              <a:t>3</a:t>
            </a:r>
            <a:endParaRPr lang="en-US" sz="1300" dirty="0"/>
          </a:p>
          <a:p>
            <a:pPr algn="ctr" indent="0" marL="0">
              <a:buNone/>
            </a:pPr>
            <a:r>
              <a:rPr lang="en-US" sz="1100" dirty="0">
                <a:solidFill>
                  <a:srgbClr val="1F2937"/>
                </a:solidFill>
              </a:rPr>
              <a:t>Pending reports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F766E"/>
          </a:solidFill>
          <a:ln/>
        </p:spPr>
      </p:sp>
      <p:sp>
        <p:nvSpPr>
          <p:cNvPr id="3" name="Text 1"/>
          <p:cNvSpPr txBox="1"/>
          <p:nvPr/>
        </p:nvSpPr>
        <p:spPr>
          <a:xfrm>
            <a:off x="457200" y="228600"/>
            <a:ext cx="10424160" cy="640080"/>
          </a:xfrm>
          <a:prstGeom prst="rect">
            <a:avLst/>
          </a:prstGeom>
          <a:noFill/>
          <a:ln/>
        </p:spPr>
        <p:txBody>
          <a:bodyPr wrap="square" lIns="0" tIns="0" rIns="0" bIns="0" rtlCol="0" anchor="ctr"/>
          <a:lstStyle/>
          <a:p>
            <a:pPr indent="0" marL="0">
              <a:buNone/>
            </a:pPr>
            <a:r>
              <a:rPr lang="en-US" sz="3000" b="1" dirty="0">
                <a:solidFill>
                  <a:srgbClr val="12305A"/>
                </a:solidFill>
              </a:rPr>
              <a:t>Telugu, Accessibility and Offline Support</a:t>
            </a:r>
            <a:endParaRPr lang="en-US" sz="3000" dirty="0"/>
          </a:p>
        </p:txBody>
      </p:sp>
      <p:sp>
        <p:nvSpPr>
          <p:cNvPr id="4" name="Shape 2"/>
          <p:cNvSpPr/>
          <p:nvPr/>
        </p:nvSpPr>
        <p:spPr>
          <a:xfrm>
            <a:off x="11064240" y="201168"/>
            <a:ext cx="658368" cy="658368"/>
          </a:xfrm>
          <a:prstGeom prst="ellipse">
            <a:avLst/>
          </a:prstGeom>
          <a:solidFill>
            <a:srgbClr val="0F766E"/>
          </a:solidFill>
          <a:ln/>
        </p:spPr>
      </p:sp>
      <p:pic>
        <p:nvPicPr>
          <p:cNvPr id="5" name="Image 0" descr="preencoded.png">    </p:cNvPr>
          <p:cNvPicPr>
            <a:picLocks noChangeAspect="1"/>
          </p:cNvPicPr>
          <p:nvPr/>
        </p:nvPicPr>
        <p:blipFill>
          <a:blip r:embed="rId1"/>
          <a:stretch>
            <a:fillRect/>
          </a:stretch>
        </p:blipFill>
        <p:spPr>
          <a:xfrm>
            <a:off x="11210544" y="347472"/>
            <a:ext cx="365760" cy="365760"/>
          </a:xfrm>
          <a:prstGeom prst="rect">
            <a:avLst/>
          </a:prstGeom>
        </p:spPr>
      </p:pic>
      <p:sp>
        <p:nvSpPr>
          <p:cNvPr id="6" name="Shape 3"/>
          <p:cNvSpPr/>
          <p:nvPr/>
        </p:nvSpPr>
        <p:spPr>
          <a:xfrm>
            <a:off x="457200" y="896112"/>
            <a:ext cx="1097280" cy="45720"/>
          </a:xfrm>
          <a:prstGeom prst="rect">
            <a:avLst/>
          </a:prstGeom>
          <a:solidFill>
            <a:srgbClr val="EA580C"/>
          </a:solidFill>
          <a:ln/>
        </p:spPr>
      </p:sp>
      <p:sp>
        <p:nvSpPr>
          <p:cNvPr id="7" name="Text 4"/>
          <p:cNvSpPr txBox="1"/>
          <p:nvPr/>
        </p:nvSpPr>
        <p:spPr>
          <a:xfrm>
            <a:off x="457200" y="6473952"/>
            <a:ext cx="10058400" cy="274320"/>
          </a:xfrm>
          <a:prstGeom prst="rect">
            <a:avLst/>
          </a:prstGeom>
          <a:noFill/>
          <a:ln/>
        </p:spPr>
        <p:txBody>
          <a:bodyPr wrap="square" lIns="0" tIns="0" rIns="0" bIns="0" rtlCol="0" anchor="ctr"/>
          <a:lstStyle/>
          <a:p>
            <a:pPr indent="0" marL="0">
              <a:buNone/>
            </a:pPr>
            <a:r>
              <a:rPr lang="en-US" sz="1000" dirty="0">
                <a:solidFill>
                  <a:srgbClr val="6B7280"/>
                </a:solidFill>
              </a:rPr>
              <a:t>Hackathon demonstration only — NOT FOR CLINICAL USE  |  AAROGYA DRISHTI · AAROHAN 2026</a:t>
            </a:r>
            <a:endParaRPr lang="en-US" sz="1000" dirty="0"/>
          </a:p>
        </p:txBody>
      </p:sp>
      <p:sp>
        <p:nvSpPr>
          <p:cNvPr id="8" name="Text 5"/>
          <p:cNvSpPr txBox="1"/>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rPr>
              <a:t>14</a:t>
            </a:r>
            <a:endParaRPr lang="en-US" sz="1000" dirty="0"/>
          </a:p>
        </p:txBody>
      </p:sp>
      <p:sp>
        <p:nvSpPr>
          <p:cNvPr id="10" name="Shape 6"/>
          <p:cNvSpPr/>
          <p:nvPr/>
        </p:nvSpPr>
        <p:spPr>
          <a:xfrm>
            <a:off x="457200" y="1188720"/>
            <a:ext cx="2035454" cy="914400"/>
          </a:xfrm>
          <a:prstGeom prst="roundRect">
            <a:avLst>
              <a:gd name="adj" fmla="val 8000"/>
            </a:avLst>
          </a:prstGeom>
          <a:solidFill>
            <a:srgbClr val="0F766E"/>
          </a:solidFill>
          <a:ln/>
        </p:spPr>
      </p:sp>
      <p:sp>
        <p:nvSpPr>
          <p:cNvPr id="11" name="Text 7"/>
          <p:cNvSpPr txBox="1"/>
          <p:nvPr/>
        </p:nvSpPr>
        <p:spPr>
          <a:xfrm>
            <a:off x="457200" y="1188720"/>
            <a:ext cx="2035454" cy="91440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Offline: save draft</a:t>
            </a:r>
            <a:endParaRPr lang="en-US" sz="1400" dirty="0"/>
          </a:p>
        </p:txBody>
      </p:sp>
      <p:sp>
        <p:nvSpPr>
          <p:cNvPr id="12" name="Text 8"/>
          <p:cNvSpPr txBox="1"/>
          <p:nvPr/>
        </p:nvSpPr>
        <p:spPr>
          <a:xfrm>
            <a:off x="2492654" y="1188720"/>
            <a:ext cx="274320" cy="914400"/>
          </a:xfrm>
          <a:prstGeom prst="rect">
            <a:avLst/>
          </a:prstGeom>
          <a:noFill/>
          <a:ln/>
        </p:spPr>
        <p:txBody>
          <a:bodyPr wrap="square" lIns="0" tIns="0" rIns="0" bIns="0" rtlCol="0" anchor="ctr"/>
          <a:lstStyle/>
          <a:p>
            <a:pPr algn="ctr" indent="0" marL="0">
              <a:buNone/>
            </a:pPr>
            <a:r>
              <a:rPr lang="en-US" sz="2000" b="1" dirty="0">
                <a:solidFill>
                  <a:srgbClr val="EA580C"/>
                </a:solidFill>
              </a:rPr>
              <a:t>›</a:t>
            </a:r>
            <a:endParaRPr lang="en-US" sz="2000" dirty="0"/>
          </a:p>
        </p:txBody>
      </p:sp>
      <p:sp>
        <p:nvSpPr>
          <p:cNvPr id="13" name="Shape 9"/>
          <p:cNvSpPr/>
          <p:nvPr/>
        </p:nvSpPr>
        <p:spPr>
          <a:xfrm>
            <a:off x="2766974" y="1188720"/>
            <a:ext cx="2035454" cy="914400"/>
          </a:xfrm>
          <a:prstGeom prst="roundRect">
            <a:avLst>
              <a:gd name="adj" fmla="val 8000"/>
            </a:avLst>
          </a:prstGeom>
          <a:solidFill>
            <a:srgbClr val="0F766E"/>
          </a:solidFill>
          <a:ln/>
        </p:spPr>
      </p:sp>
      <p:sp>
        <p:nvSpPr>
          <p:cNvPr id="14" name="Text 10"/>
          <p:cNvSpPr txBox="1"/>
          <p:nvPr/>
        </p:nvSpPr>
        <p:spPr>
          <a:xfrm>
            <a:off x="2766974" y="1188720"/>
            <a:ext cx="2035454" cy="91440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Queue (pending)</a:t>
            </a:r>
            <a:endParaRPr lang="en-US" sz="1400" dirty="0"/>
          </a:p>
        </p:txBody>
      </p:sp>
      <p:sp>
        <p:nvSpPr>
          <p:cNvPr id="15" name="Text 11"/>
          <p:cNvSpPr txBox="1"/>
          <p:nvPr/>
        </p:nvSpPr>
        <p:spPr>
          <a:xfrm>
            <a:off x="4802429" y="1188720"/>
            <a:ext cx="274320" cy="914400"/>
          </a:xfrm>
          <a:prstGeom prst="rect">
            <a:avLst/>
          </a:prstGeom>
          <a:noFill/>
          <a:ln/>
        </p:spPr>
        <p:txBody>
          <a:bodyPr wrap="square" lIns="0" tIns="0" rIns="0" bIns="0" rtlCol="0" anchor="ctr"/>
          <a:lstStyle/>
          <a:p>
            <a:pPr algn="ctr" indent="0" marL="0">
              <a:buNone/>
            </a:pPr>
            <a:r>
              <a:rPr lang="en-US" sz="2000" b="1" dirty="0">
                <a:solidFill>
                  <a:srgbClr val="EA580C"/>
                </a:solidFill>
              </a:rPr>
              <a:t>›</a:t>
            </a:r>
            <a:endParaRPr lang="en-US" sz="2000" dirty="0"/>
          </a:p>
        </p:txBody>
      </p:sp>
      <p:sp>
        <p:nvSpPr>
          <p:cNvPr id="16" name="Shape 12"/>
          <p:cNvSpPr/>
          <p:nvPr/>
        </p:nvSpPr>
        <p:spPr>
          <a:xfrm>
            <a:off x="5076749" y="1188720"/>
            <a:ext cx="2035454" cy="914400"/>
          </a:xfrm>
          <a:prstGeom prst="roundRect">
            <a:avLst>
              <a:gd name="adj" fmla="val 8000"/>
            </a:avLst>
          </a:prstGeom>
          <a:solidFill>
            <a:srgbClr val="0F766E"/>
          </a:solidFill>
          <a:ln/>
        </p:spPr>
      </p:sp>
      <p:sp>
        <p:nvSpPr>
          <p:cNvPr id="17" name="Text 13"/>
          <p:cNvSpPr txBox="1"/>
          <p:nvPr/>
        </p:nvSpPr>
        <p:spPr>
          <a:xfrm>
            <a:off x="5076749" y="1188720"/>
            <a:ext cx="2035454" cy="91440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Reconnect: uploading</a:t>
            </a:r>
            <a:endParaRPr lang="en-US" sz="1400" dirty="0"/>
          </a:p>
        </p:txBody>
      </p:sp>
      <p:sp>
        <p:nvSpPr>
          <p:cNvPr id="18" name="Text 14"/>
          <p:cNvSpPr txBox="1"/>
          <p:nvPr/>
        </p:nvSpPr>
        <p:spPr>
          <a:xfrm>
            <a:off x="7112203" y="1188720"/>
            <a:ext cx="274320" cy="914400"/>
          </a:xfrm>
          <a:prstGeom prst="rect">
            <a:avLst/>
          </a:prstGeom>
          <a:noFill/>
          <a:ln/>
        </p:spPr>
        <p:txBody>
          <a:bodyPr wrap="square" lIns="0" tIns="0" rIns="0" bIns="0" rtlCol="0" anchor="ctr"/>
          <a:lstStyle/>
          <a:p>
            <a:pPr algn="ctr" indent="0" marL="0">
              <a:buNone/>
            </a:pPr>
            <a:r>
              <a:rPr lang="en-US" sz="2000" b="1" dirty="0">
                <a:solidFill>
                  <a:srgbClr val="EA580C"/>
                </a:solidFill>
              </a:rPr>
              <a:t>›</a:t>
            </a:r>
            <a:endParaRPr lang="en-US" sz="2000" dirty="0"/>
          </a:p>
        </p:txBody>
      </p:sp>
      <p:sp>
        <p:nvSpPr>
          <p:cNvPr id="19" name="Shape 15"/>
          <p:cNvSpPr/>
          <p:nvPr/>
        </p:nvSpPr>
        <p:spPr>
          <a:xfrm>
            <a:off x="7386523" y="1188720"/>
            <a:ext cx="2035454" cy="914400"/>
          </a:xfrm>
          <a:prstGeom prst="roundRect">
            <a:avLst>
              <a:gd name="adj" fmla="val 8000"/>
            </a:avLst>
          </a:prstGeom>
          <a:solidFill>
            <a:srgbClr val="0F766E"/>
          </a:solidFill>
          <a:ln/>
        </p:spPr>
      </p:sp>
      <p:sp>
        <p:nvSpPr>
          <p:cNvPr id="20" name="Text 16"/>
          <p:cNvSpPr txBox="1"/>
          <p:nvPr/>
        </p:nvSpPr>
        <p:spPr>
          <a:xfrm>
            <a:off x="7386523" y="1188720"/>
            <a:ext cx="2035454" cy="91440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Server acknowledges → confirmed</a:t>
            </a:r>
            <a:endParaRPr lang="en-US" sz="1400" dirty="0"/>
          </a:p>
        </p:txBody>
      </p:sp>
      <p:sp>
        <p:nvSpPr>
          <p:cNvPr id="21" name="Text 17"/>
          <p:cNvSpPr txBox="1"/>
          <p:nvPr/>
        </p:nvSpPr>
        <p:spPr>
          <a:xfrm>
            <a:off x="9421978" y="1188720"/>
            <a:ext cx="274320" cy="914400"/>
          </a:xfrm>
          <a:prstGeom prst="rect">
            <a:avLst/>
          </a:prstGeom>
          <a:noFill/>
          <a:ln/>
        </p:spPr>
        <p:txBody>
          <a:bodyPr wrap="square" lIns="0" tIns="0" rIns="0" bIns="0" rtlCol="0" anchor="ctr"/>
          <a:lstStyle/>
          <a:p>
            <a:pPr algn="ctr" indent="0" marL="0">
              <a:buNone/>
            </a:pPr>
            <a:r>
              <a:rPr lang="en-US" sz="2000" b="1" dirty="0">
                <a:solidFill>
                  <a:srgbClr val="EA580C"/>
                </a:solidFill>
              </a:rPr>
              <a:t>›</a:t>
            </a:r>
            <a:endParaRPr lang="en-US" sz="2000" dirty="0"/>
          </a:p>
        </p:txBody>
      </p:sp>
      <p:sp>
        <p:nvSpPr>
          <p:cNvPr id="22" name="Shape 18"/>
          <p:cNvSpPr/>
          <p:nvPr/>
        </p:nvSpPr>
        <p:spPr>
          <a:xfrm>
            <a:off x="9696298" y="1188720"/>
            <a:ext cx="2035454" cy="914400"/>
          </a:xfrm>
          <a:prstGeom prst="roundRect">
            <a:avLst>
              <a:gd name="adj" fmla="val 8000"/>
            </a:avLst>
          </a:prstGeom>
          <a:solidFill>
            <a:srgbClr val="0F766E"/>
          </a:solidFill>
          <a:ln/>
        </p:spPr>
      </p:sp>
      <p:sp>
        <p:nvSpPr>
          <p:cNvPr id="23" name="Text 19"/>
          <p:cNvSpPr txBox="1"/>
          <p:nvPr/>
        </p:nvSpPr>
        <p:spPr>
          <a:xfrm>
            <a:off x="9696298" y="1188720"/>
            <a:ext cx="2035454" cy="91440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On error → failed → retry</a:t>
            </a:r>
            <a:endParaRPr lang="en-US" sz="1400" dirty="0"/>
          </a:p>
        </p:txBody>
      </p:sp>
      <p:sp>
        <p:nvSpPr>
          <p:cNvPr id="24" name="Shape 20"/>
          <p:cNvSpPr/>
          <p:nvPr/>
        </p:nvSpPr>
        <p:spPr>
          <a:xfrm>
            <a:off x="457200" y="2926080"/>
            <a:ext cx="2681478" cy="1463040"/>
          </a:xfrm>
          <a:prstGeom prst="roundRect">
            <a:avLst>
              <a:gd name="adj" fmla="val 3750"/>
            </a:avLst>
          </a:prstGeom>
          <a:solidFill>
            <a:srgbClr val="EEF5F3"/>
          </a:solidFill>
          <a:ln w="12700">
            <a:solidFill>
              <a:srgbClr val="0F766E"/>
            </a:solidFill>
            <a:prstDash val="solid"/>
          </a:ln>
        </p:spPr>
      </p:sp>
      <p:sp>
        <p:nvSpPr>
          <p:cNvPr id="25" name="Text 21"/>
          <p:cNvSpPr txBox="1"/>
          <p:nvPr/>
        </p:nvSpPr>
        <p:spPr>
          <a:xfrm>
            <a:off x="530352" y="2971800"/>
            <a:ext cx="2535174" cy="1371600"/>
          </a:xfrm>
          <a:prstGeom prst="rect">
            <a:avLst/>
          </a:prstGeom>
          <a:noFill/>
          <a:ln/>
        </p:spPr>
        <p:txBody>
          <a:bodyPr wrap="square" lIns="25400" tIns="25400" rIns="25400" bIns="25400" rtlCol="0" anchor="t"/>
          <a:lstStyle/>
          <a:p>
            <a:pPr indent="0" marL="0">
              <a:buNone/>
            </a:pPr>
            <a:r>
              <a:rPr lang="en-US" sz="1500" b="1" dirty="0">
                <a:solidFill>
                  <a:srgbClr val="0F766E"/>
                </a:solidFill>
              </a:rPr>
              <a:t>Language</a:t>
            </a:r>
            <a:endParaRPr lang="en-US" sz="1500" dirty="0"/>
          </a:p>
          <a:p>
            <a:pPr indent="0" marL="0">
              <a:buNone/>
            </a:pPr>
            <a:r>
              <a:rPr lang="en-US" sz="1300" dirty="0">
                <a:solidFill>
                  <a:srgbClr val="1F2937"/>
                </a:solidFill>
              </a:rPr>
              <a:t>Telugu/English switch; translation dictionary.</a:t>
            </a:r>
            <a:endParaRPr lang="en-US" sz="1500" dirty="0"/>
          </a:p>
        </p:txBody>
      </p:sp>
      <p:sp>
        <p:nvSpPr>
          <p:cNvPr id="26" name="Shape 22"/>
          <p:cNvSpPr/>
          <p:nvPr/>
        </p:nvSpPr>
        <p:spPr>
          <a:xfrm>
            <a:off x="3321558" y="2926080"/>
            <a:ext cx="2681478" cy="1463040"/>
          </a:xfrm>
          <a:prstGeom prst="roundRect">
            <a:avLst>
              <a:gd name="adj" fmla="val 3750"/>
            </a:avLst>
          </a:prstGeom>
          <a:solidFill>
            <a:srgbClr val="EEF5F3"/>
          </a:solidFill>
          <a:ln w="12700">
            <a:solidFill>
              <a:srgbClr val="0F766E"/>
            </a:solidFill>
            <a:prstDash val="solid"/>
          </a:ln>
        </p:spPr>
      </p:sp>
      <p:sp>
        <p:nvSpPr>
          <p:cNvPr id="27" name="Text 23"/>
          <p:cNvSpPr txBox="1"/>
          <p:nvPr/>
        </p:nvSpPr>
        <p:spPr>
          <a:xfrm>
            <a:off x="3394710" y="2971800"/>
            <a:ext cx="2535174" cy="1371600"/>
          </a:xfrm>
          <a:prstGeom prst="rect">
            <a:avLst/>
          </a:prstGeom>
          <a:noFill/>
          <a:ln/>
        </p:spPr>
        <p:txBody>
          <a:bodyPr wrap="square" lIns="25400" tIns="25400" rIns="25400" bIns="25400" rtlCol="0" anchor="t"/>
          <a:lstStyle/>
          <a:p>
            <a:pPr indent="0" marL="0">
              <a:buNone/>
            </a:pPr>
            <a:r>
              <a:rPr lang="en-US" sz="1500" b="1" dirty="0">
                <a:solidFill>
                  <a:srgbClr val="0F766E"/>
                </a:solidFill>
              </a:rPr>
              <a:t>Usability</a:t>
            </a:r>
            <a:endParaRPr lang="en-US" sz="1500" dirty="0"/>
          </a:p>
          <a:p>
            <a:pPr indent="0" marL="0">
              <a:buNone/>
            </a:pPr>
            <a:r>
              <a:rPr lang="en-US" sz="1300" dirty="0">
                <a:solidFill>
                  <a:srgbClr val="1F2937"/>
                </a:solidFill>
              </a:rPr>
              <a:t>Simple labels, 44px+ targets, minimal typing.</a:t>
            </a:r>
            <a:endParaRPr lang="en-US" sz="1500" dirty="0"/>
          </a:p>
        </p:txBody>
      </p:sp>
      <p:sp>
        <p:nvSpPr>
          <p:cNvPr id="28" name="Shape 24"/>
          <p:cNvSpPr/>
          <p:nvPr/>
        </p:nvSpPr>
        <p:spPr>
          <a:xfrm>
            <a:off x="6185916" y="2926080"/>
            <a:ext cx="2681478" cy="1463040"/>
          </a:xfrm>
          <a:prstGeom prst="roundRect">
            <a:avLst>
              <a:gd name="adj" fmla="val 3750"/>
            </a:avLst>
          </a:prstGeom>
          <a:solidFill>
            <a:srgbClr val="EEF5F3"/>
          </a:solidFill>
          <a:ln w="12700">
            <a:solidFill>
              <a:srgbClr val="0F766E"/>
            </a:solidFill>
            <a:prstDash val="solid"/>
          </a:ln>
        </p:spPr>
      </p:sp>
      <p:sp>
        <p:nvSpPr>
          <p:cNvPr id="29" name="Text 25"/>
          <p:cNvSpPr txBox="1"/>
          <p:nvPr/>
        </p:nvSpPr>
        <p:spPr>
          <a:xfrm>
            <a:off x="6259068" y="2971800"/>
            <a:ext cx="2535174" cy="1371600"/>
          </a:xfrm>
          <a:prstGeom prst="rect">
            <a:avLst/>
          </a:prstGeom>
          <a:noFill/>
          <a:ln/>
        </p:spPr>
        <p:txBody>
          <a:bodyPr wrap="square" lIns="25400" tIns="25400" rIns="25400" bIns="25400" rtlCol="0" anchor="t"/>
          <a:lstStyle/>
          <a:p>
            <a:pPr indent="0" marL="0">
              <a:buNone/>
            </a:pPr>
            <a:r>
              <a:rPr lang="en-US" sz="1500" b="1" dirty="0">
                <a:solidFill>
                  <a:srgbClr val="0F766E"/>
                </a:solidFill>
              </a:rPr>
              <a:t>Safe sync</a:t>
            </a:r>
            <a:endParaRPr lang="en-US" sz="1500" dirty="0"/>
          </a:p>
          <a:p>
            <a:pPr indent="0" marL="0">
              <a:buNone/>
            </a:pPr>
            <a:r>
              <a:rPr lang="en-US" sz="1300" dirty="0">
                <a:solidFill>
                  <a:srgbClr val="1F2937"/>
                </a:solidFill>
              </a:rPr>
              <a:t>Idempotency keys; duplicate prevention.</a:t>
            </a:r>
            <a:endParaRPr lang="en-US" sz="1500" dirty="0"/>
          </a:p>
        </p:txBody>
      </p:sp>
      <p:sp>
        <p:nvSpPr>
          <p:cNvPr id="30" name="Shape 26"/>
          <p:cNvSpPr/>
          <p:nvPr/>
        </p:nvSpPr>
        <p:spPr>
          <a:xfrm>
            <a:off x="9050274" y="2926080"/>
            <a:ext cx="2681478" cy="1463040"/>
          </a:xfrm>
          <a:prstGeom prst="roundRect">
            <a:avLst>
              <a:gd name="adj" fmla="val 3750"/>
            </a:avLst>
          </a:prstGeom>
          <a:solidFill>
            <a:srgbClr val="EEF5F3"/>
          </a:solidFill>
          <a:ln w="12700">
            <a:solidFill>
              <a:srgbClr val="0F766E"/>
            </a:solidFill>
            <a:prstDash val="solid"/>
          </a:ln>
        </p:spPr>
      </p:sp>
      <p:sp>
        <p:nvSpPr>
          <p:cNvPr id="31" name="Text 27"/>
          <p:cNvSpPr txBox="1"/>
          <p:nvPr/>
        </p:nvSpPr>
        <p:spPr>
          <a:xfrm>
            <a:off x="9123426" y="2971800"/>
            <a:ext cx="2535174" cy="1371600"/>
          </a:xfrm>
          <a:prstGeom prst="rect">
            <a:avLst/>
          </a:prstGeom>
          <a:noFill/>
          <a:ln/>
        </p:spPr>
        <p:txBody>
          <a:bodyPr wrap="square" lIns="25400" tIns="25400" rIns="25400" bIns="25400" rtlCol="0" anchor="t"/>
          <a:lstStyle/>
          <a:p>
            <a:pPr indent="0" marL="0">
              <a:buNone/>
            </a:pPr>
            <a:r>
              <a:rPr lang="en-US" sz="1500" b="1" dirty="0">
                <a:solidFill>
                  <a:srgbClr val="0F766E"/>
                </a:solidFill>
              </a:rPr>
              <a:t>Conflicts</a:t>
            </a:r>
            <a:endParaRPr lang="en-US" sz="1500" dirty="0"/>
          </a:p>
          <a:p>
            <a:pPr indent="0" marL="0">
              <a:buNone/>
            </a:pPr>
            <a:r>
              <a:rPr lang="en-US" sz="1300" dirty="0">
                <a:solidFill>
                  <a:srgbClr val="1F2937"/>
                </a:solidFill>
              </a:rPr>
              <a:t>Visible resolution state; clinician notes never lost.</a:t>
            </a:r>
            <a:endParaRPr lang="en-US" sz="1500" dirty="0"/>
          </a:p>
        </p:txBody>
      </p:sp>
      <p:sp>
        <p:nvSpPr>
          <p:cNvPr id="32" name="Shape 28"/>
          <p:cNvSpPr/>
          <p:nvPr/>
        </p:nvSpPr>
        <p:spPr>
          <a:xfrm>
            <a:off x="457200" y="4754880"/>
            <a:ext cx="11274552" cy="457200"/>
          </a:xfrm>
          <a:prstGeom prst="rect">
            <a:avLst/>
          </a:prstGeom>
          <a:solidFill>
            <a:srgbClr val="EA580C"/>
          </a:solidFill>
          <a:ln/>
        </p:spPr>
      </p:sp>
      <p:sp>
        <p:nvSpPr>
          <p:cNvPr id="33" name="Text 29"/>
          <p:cNvSpPr txBox="1"/>
          <p:nvPr/>
        </p:nvSpPr>
        <p:spPr>
          <a:xfrm>
            <a:off x="457200" y="4754880"/>
            <a:ext cx="11274552" cy="457200"/>
          </a:xfrm>
          <a:prstGeom prst="rect">
            <a:avLst/>
          </a:prstGeom>
          <a:noFill/>
          <a:ln/>
        </p:spPr>
        <p:txBody>
          <a:bodyPr wrap="square" lIns="25400" tIns="25400" rIns="25400" bIns="25400" rtlCol="0" anchor="ctr"/>
          <a:lstStyle/>
          <a:p>
            <a:pPr algn="ctr" indent="0" marL="0">
              <a:buNone/>
            </a:pPr>
            <a:r>
              <a:rPr lang="en-US" sz="1400" b="1" dirty="0">
                <a:solidFill>
                  <a:srgbClr val="FFFFFF"/>
                </a:solidFill>
              </a:rPr>
              <a:t>Offline support: PLANNED — verify on a real Android device before claiming</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F766E"/>
          </a:solidFill>
          <a:ln/>
        </p:spPr>
      </p:sp>
      <p:sp>
        <p:nvSpPr>
          <p:cNvPr id="3" name="Text 1"/>
          <p:cNvSpPr txBox="1"/>
          <p:nvPr/>
        </p:nvSpPr>
        <p:spPr>
          <a:xfrm>
            <a:off x="457200" y="228600"/>
            <a:ext cx="10424160" cy="640080"/>
          </a:xfrm>
          <a:prstGeom prst="rect">
            <a:avLst/>
          </a:prstGeom>
          <a:noFill/>
          <a:ln/>
        </p:spPr>
        <p:txBody>
          <a:bodyPr wrap="square" lIns="0" tIns="0" rIns="0" bIns="0" rtlCol="0" anchor="ctr"/>
          <a:lstStyle/>
          <a:p>
            <a:pPr indent="0" marL="0">
              <a:buNone/>
            </a:pPr>
            <a:r>
              <a:rPr lang="en-US" sz="3000" b="1" dirty="0">
                <a:solidFill>
                  <a:srgbClr val="12305A"/>
                </a:solidFill>
              </a:rPr>
              <a:t>Security and Responsible AI</a:t>
            </a:r>
            <a:endParaRPr lang="en-US" sz="3000" dirty="0"/>
          </a:p>
        </p:txBody>
      </p:sp>
      <p:sp>
        <p:nvSpPr>
          <p:cNvPr id="4" name="Shape 2"/>
          <p:cNvSpPr/>
          <p:nvPr/>
        </p:nvSpPr>
        <p:spPr>
          <a:xfrm>
            <a:off x="11064240" y="201168"/>
            <a:ext cx="658368" cy="658368"/>
          </a:xfrm>
          <a:prstGeom prst="ellipse">
            <a:avLst/>
          </a:prstGeom>
          <a:solidFill>
            <a:srgbClr val="0F766E"/>
          </a:solidFill>
          <a:ln/>
        </p:spPr>
      </p:sp>
      <p:pic>
        <p:nvPicPr>
          <p:cNvPr id="5" name="Image 0" descr="preencoded.png">    </p:cNvPr>
          <p:cNvPicPr>
            <a:picLocks noChangeAspect="1"/>
          </p:cNvPicPr>
          <p:nvPr/>
        </p:nvPicPr>
        <p:blipFill>
          <a:blip r:embed="rId1"/>
          <a:stretch>
            <a:fillRect/>
          </a:stretch>
        </p:blipFill>
        <p:spPr>
          <a:xfrm>
            <a:off x="11210544" y="347472"/>
            <a:ext cx="365760" cy="365760"/>
          </a:xfrm>
          <a:prstGeom prst="rect">
            <a:avLst/>
          </a:prstGeom>
        </p:spPr>
      </p:pic>
      <p:sp>
        <p:nvSpPr>
          <p:cNvPr id="6" name="Shape 3"/>
          <p:cNvSpPr/>
          <p:nvPr/>
        </p:nvSpPr>
        <p:spPr>
          <a:xfrm>
            <a:off x="457200" y="896112"/>
            <a:ext cx="1097280" cy="45720"/>
          </a:xfrm>
          <a:prstGeom prst="rect">
            <a:avLst/>
          </a:prstGeom>
          <a:solidFill>
            <a:srgbClr val="EA580C"/>
          </a:solidFill>
          <a:ln/>
        </p:spPr>
      </p:sp>
      <p:sp>
        <p:nvSpPr>
          <p:cNvPr id="7" name="Text 4"/>
          <p:cNvSpPr txBox="1"/>
          <p:nvPr/>
        </p:nvSpPr>
        <p:spPr>
          <a:xfrm>
            <a:off x="457200" y="6473952"/>
            <a:ext cx="10058400" cy="274320"/>
          </a:xfrm>
          <a:prstGeom prst="rect">
            <a:avLst/>
          </a:prstGeom>
          <a:noFill/>
          <a:ln/>
        </p:spPr>
        <p:txBody>
          <a:bodyPr wrap="square" lIns="0" tIns="0" rIns="0" bIns="0" rtlCol="0" anchor="ctr"/>
          <a:lstStyle/>
          <a:p>
            <a:pPr indent="0" marL="0">
              <a:buNone/>
            </a:pPr>
            <a:r>
              <a:rPr lang="en-US" sz="1000" dirty="0">
                <a:solidFill>
                  <a:srgbClr val="6B7280"/>
                </a:solidFill>
              </a:rPr>
              <a:t>Hackathon demonstration only — NOT FOR CLINICAL USE  |  AAROGYA DRISHTI · AAROHAN 2026</a:t>
            </a:r>
            <a:endParaRPr lang="en-US" sz="1000" dirty="0"/>
          </a:p>
        </p:txBody>
      </p:sp>
      <p:sp>
        <p:nvSpPr>
          <p:cNvPr id="8" name="Text 5"/>
          <p:cNvSpPr txBox="1"/>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rPr>
              <a:t>15</a:t>
            </a:r>
            <a:endParaRPr lang="en-US" sz="1000" dirty="0"/>
          </a:p>
        </p:txBody>
      </p:sp>
      <p:sp>
        <p:nvSpPr>
          <p:cNvPr id="10" name="Shape 6"/>
          <p:cNvSpPr/>
          <p:nvPr/>
        </p:nvSpPr>
        <p:spPr>
          <a:xfrm>
            <a:off x="457200" y="1143000"/>
            <a:ext cx="6035040" cy="4206240"/>
          </a:xfrm>
          <a:prstGeom prst="rect">
            <a:avLst/>
          </a:prstGeom>
          <a:solidFill>
            <a:srgbClr val="EEF5F3"/>
          </a:solidFill>
          <a:ln w="19050">
            <a:solidFill>
              <a:srgbClr val="0F766E"/>
            </a:solidFill>
            <a:prstDash val="solid"/>
          </a:ln>
        </p:spPr>
      </p:sp>
      <p:sp>
        <p:nvSpPr>
          <p:cNvPr id="11" name="Text 7"/>
          <p:cNvSpPr txBox="1"/>
          <p:nvPr/>
        </p:nvSpPr>
        <p:spPr>
          <a:xfrm>
            <a:off x="548640" y="1170432"/>
            <a:ext cx="5852160" cy="365760"/>
          </a:xfrm>
          <a:prstGeom prst="rect">
            <a:avLst/>
          </a:prstGeom>
          <a:noFill/>
          <a:ln/>
        </p:spPr>
        <p:txBody>
          <a:bodyPr wrap="square" lIns="25400" tIns="25400" rIns="25400" bIns="25400" rtlCol="0" anchor="t"/>
          <a:lstStyle/>
          <a:p>
            <a:pPr algn="ctr" indent="0" marL="0">
              <a:buNone/>
            </a:pPr>
            <a:r>
              <a:rPr lang="en-US" sz="1100" b="1" dirty="0">
                <a:solidFill>
                  <a:srgbClr val="12305A"/>
                </a:solidFill>
              </a:rPr>
              <a:t>Governance: synthetic data, consent, audit trail</a:t>
            </a:r>
            <a:endParaRPr lang="en-US" sz="1100" dirty="0"/>
          </a:p>
        </p:txBody>
      </p:sp>
      <p:sp>
        <p:nvSpPr>
          <p:cNvPr id="12" name="Shape 8"/>
          <p:cNvSpPr/>
          <p:nvPr/>
        </p:nvSpPr>
        <p:spPr>
          <a:xfrm>
            <a:off x="868680" y="1554480"/>
            <a:ext cx="5212080" cy="3383280"/>
          </a:xfrm>
          <a:prstGeom prst="rect">
            <a:avLst/>
          </a:prstGeom>
          <a:solidFill>
            <a:srgbClr val="DCEFEA"/>
          </a:solidFill>
          <a:ln w="19050">
            <a:solidFill>
              <a:srgbClr val="0F766E"/>
            </a:solidFill>
            <a:prstDash val="solid"/>
          </a:ln>
        </p:spPr>
      </p:sp>
      <p:sp>
        <p:nvSpPr>
          <p:cNvPr id="13" name="Text 9"/>
          <p:cNvSpPr txBox="1"/>
          <p:nvPr/>
        </p:nvSpPr>
        <p:spPr>
          <a:xfrm>
            <a:off x="960120" y="1581912"/>
            <a:ext cx="5029200" cy="365760"/>
          </a:xfrm>
          <a:prstGeom prst="rect">
            <a:avLst/>
          </a:prstGeom>
          <a:noFill/>
          <a:ln/>
        </p:spPr>
        <p:txBody>
          <a:bodyPr wrap="square" lIns="25400" tIns="25400" rIns="25400" bIns="25400" rtlCol="0" anchor="t"/>
          <a:lstStyle/>
          <a:p>
            <a:pPr algn="ctr" indent="0" marL="0">
              <a:buNone/>
            </a:pPr>
            <a:r>
              <a:rPr lang="en-US" sz="1100" b="1" dirty="0">
                <a:solidFill>
                  <a:srgbClr val="12305A"/>
                </a:solidFill>
              </a:rPr>
              <a:t>HTTPS, sessions, MFA, no hardcoded secrets</a:t>
            </a:r>
            <a:endParaRPr lang="en-US" sz="1100" dirty="0"/>
          </a:p>
        </p:txBody>
      </p:sp>
      <p:sp>
        <p:nvSpPr>
          <p:cNvPr id="14" name="Shape 10"/>
          <p:cNvSpPr/>
          <p:nvPr/>
        </p:nvSpPr>
        <p:spPr>
          <a:xfrm>
            <a:off x="1280160" y="1965960"/>
            <a:ext cx="4389120" cy="2560320"/>
          </a:xfrm>
          <a:prstGeom prst="rect">
            <a:avLst/>
          </a:prstGeom>
          <a:solidFill>
            <a:srgbClr val="C2E2D9"/>
          </a:solidFill>
          <a:ln w="19050">
            <a:solidFill>
              <a:srgbClr val="0F766E"/>
            </a:solidFill>
            <a:prstDash val="solid"/>
          </a:ln>
        </p:spPr>
      </p:sp>
      <p:sp>
        <p:nvSpPr>
          <p:cNvPr id="15" name="Text 11"/>
          <p:cNvSpPr txBox="1"/>
          <p:nvPr/>
        </p:nvSpPr>
        <p:spPr>
          <a:xfrm>
            <a:off x="1371600" y="1993392"/>
            <a:ext cx="4206240" cy="365760"/>
          </a:xfrm>
          <a:prstGeom prst="rect">
            <a:avLst/>
          </a:prstGeom>
          <a:noFill/>
          <a:ln/>
        </p:spPr>
        <p:txBody>
          <a:bodyPr wrap="square" lIns="25400" tIns="25400" rIns="25400" bIns="25400" rtlCol="0" anchor="t"/>
          <a:lstStyle/>
          <a:p>
            <a:pPr algn="ctr" indent="0" marL="0">
              <a:buNone/>
            </a:pPr>
            <a:r>
              <a:rPr lang="en-US" sz="1100" b="1" dirty="0">
                <a:solidFill>
                  <a:srgbClr val="12305A"/>
                </a:solidFill>
              </a:rPr>
              <a:t>Role + patient-level authorization (deny by default)</a:t>
            </a:r>
            <a:endParaRPr lang="en-US" sz="1100" dirty="0"/>
          </a:p>
        </p:txBody>
      </p:sp>
      <p:sp>
        <p:nvSpPr>
          <p:cNvPr id="16" name="Shape 12"/>
          <p:cNvSpPr/>
          <p:nvPr/>
        </p:nvSpPr>
        <p:spPr>
          <a:xfrm>
            <a:off x="1691640" y="2377440"/>
            <a:ext cx="3566160" cy="1737360"/>
          </a:xfrm>
          <a:prstGeom prst="rect">
            <a:avLst/>
          </a:prstGeom>
          <a:solidFill>
            <a:srgbClr val="A6D6C9"/>
          </a:solidFill>
          <a:ln w="19050">
            <a:solidFill>
              <a:srgbClr val="0F766E"/>
            </a:solidFill>
            <a:prstDash val="solid"/>
          </a:ln>
        </p:spPr>
      </p:sp>
      <p:sp>
        <p:nvSpPr>
          <p:cNvPr id="17" name="Text 13"/>
          <p:cNvSpPr txBox="1"/>
          <p:nvPr/>
        </p:nvSpPr>
        <p:spPr>
          <a:xfrm>
            <a:off x="1783080" y="2404872"/>
            <a:ext cx="3383280" cy="365760"/>
          </a:xfrm>
          <a:prstGeom prst="rect">
            <a:avLst/>
          </a:prstGeom>
          <a:noFill/>
          <a:ln/>
        </p:spPr>
        <p:txBody>
          <a:bodyPr wrap="square" lIns="25400" tIns="25400" rIns="25400" bIns="25400" rtlCol="0" anchor="t"/>
          <a:lstStyle/>
          <a:p>
            <a:pPr algn="ctr" indent="0" marL="0">
              <a:buNone/>
            </a:pPr>
            <a:r>
              <a:rPr lang="en-US" sz="1100" b="1" dirty="0">
                <a:solidFill>
                  <a:srgbClr val="12305A"/>
                </a:solidFill>
              </a:rPr>
              <a:t>Private storage, validated uploads</a:t>
            </a:r>
            <a:endParaRPr lang="en-US" sz="1100" dirty="0"/>
          </a:p>
        </p:txBody>
      </p:sp>
      <p:sp>
        <p:nvSpPr>
          <p:cNvPr id="18" name="Shape 14"/>
          <p:cNvSpPr/>
          <p:nvPr/>
        </p:nvSpPr>
        <p:spPr>
          <a:xfrm>
            <a:off x="2468880" y="3017520"/>
            <a:ext cx="2011680" cy="914400"/>
          </a:xfrm>
          <a:prstGeom prst="roundRect">
            <a:avLst>
              <a:gd name="adj" fmla="val 8000"/>
            </a:avLst>
          </a:prstGeom>
          <a:solidFill>
            <a:srgbClr val="12305A"/>
          </a:solidFill>
          <a:ln/>
        </p:spPr>
      </p:sp>
      <p:sp>
        <p:nvSpPr>
          <p:cNvPr id="19" name="Text 15"/>
          <p:cNvSpPr txBox="1"/>
          <p:nvPr/>
        </p:nvSpPr>
        <p:spPr>
          <a:xfrm>
            <a:off x="2468880" y="3017520"/>
            <a:ext cx="2011680" cy="914400"/>
          </a:xfrm>
          <a:prstGeom prst="rect">
            <a:avLst/>
          </a:prstGeom>
          <a:noFill/>
          <a:ln/>
        </p:spPr>
        <p:txBody>
          <a:bodyPr wrap="square" lIns="25400" tIns="25400" rIns="25400" bIns="25400" rtlCol="0" anchor="ctr"/>
          <a:lstStyle/>
          <a:p>
            <a:pPr algn="ctr" indent="0" marL="0">
              <a:buNone/>
            </a:pPr>
            <a:r>
              <a:rPr lang="en-US" sz="1300" b="1" dirty="0">
                <a:solidFill>
                  <a:srgbClr val="FFFFFF"/>
                </a:solidFill>
              </a:rPr>
              <a:t>Patient record</a:t>
            </a:r>
            <a:endParaRPr lang="en-US" sz="1300" dirty="0"/>
          </a:p>
          <a:p>
            <a:pPr algn="ctr" indent="0" marL="0">
              <a:buNone/>
            </a:pPr>
            <a:r>
              <a:rPr lang="en-US" sz="1300" b="1" dirty="0">
                <a:solidFill>
                  <a:srgbClr val="FFFFFF"/>
                </a:solidFill>
              </a:rPr>
              <a:t>(synthetic)</a:t>
            </a:r>
            <a:endParaRPr lang="en-US" sz="1300" dirty="0"/>
          </a:p>
        </p:txBody>
      </p:sp>
      <p:sp>
        <p:nvSpPr>
          <p:cNvPr id="20" name="Shape 16"/>
          <p:cNvSpPr/>
          <p:nvPr/>
        </p:nvSpPr>
        <p:spPr>
          <a:xfrm>
            <a:off x="6858000" y="1143000"/>
            <a:ext cx="4873752" cy="1280160"/>
          </a:xfrm>
          <a:prstGeom prst="roundRect">
            <a:avLst>
              <a:gd name="adj" fmla="val 4286"/>
            </a:avLst>
          </a:prstGeom>
          <a:solidFill>
            <a:srgbClr val="EEF5F3"/>
          </a:solidFill>
          <a:ln w="19050">
            <a:solidFill>
              <a:srgbClr val="0F766E"/>
            </a:solidFill>
            <a:prstDash val="solid"/>
          </a:ln>
        </p:spPr>
      </p:sp>
      <p:sp>
        <p:nvSpPr>
          <p:cNvPr id="21" name="Text 17"/>
          <p:cNvSpPr txBox="1"/>
          <p:nvPr/>
        </p:nvSpPr>
        <p:spPr>
          <a:xfrm>
            <a:off x="6949440" y="1188720"/>
            <a:ext cx="4663440" cy="1188720"/>
          </a:xfrm>
          <a:prstGeom prst="rect">
            <a:avLst/>
          </a:prstGeom>
          <a:noFill/>
          <a:ln/>
        </p:spPr>
        <p:txBody>
          <a:bodyPr wrap="square" lIns="25400" tIns="25400" rIns="25400" bIns="25400" rtlCol="0" anchor="t"/>
          <a:lstStyle/>
          <a:p>
            <a:pPr indent="0" marL="0">
              <a:buNone/>
            </a:pPr>
            <a:r>
              <a:rPr lang="en-US" sz="1600" b="1" dirty="0">
                <a:solidFill>
                  <a:srgbClr val="0F766E"/>
                </a:solidFill>
              </a:rPr>
              <a:t>Clinician authority</a:t>
            </a:r>
            <a:endParaRPr lang="en-US" sz="1300" dirty="0"/>
          </a:p>
          <a:p>
            <a:pPr indent="0" marL="0">
              <a:buNone/>
            </a:pPr>
            <a:r>
              <a:rPr lang="en-US" sz="1400" dirty="0">
                <a:solidFill>
                  <a:srgbClr val="1F2937"/>
                </a:solidFill>
              </a:rPr>
              <a:t>AI observation ≠ signed decision. Doctor may agree, disagree or defer.</a:t>
            </a:r>
            <a:endParaRPr lang="en-US" sz="1300" dirty="0"/>
          </a:p>
        </p:txBody>
      </p:sp>
      <p:sp>
        <p:nvSpPr>
          <p:cNvPr id="22" name="Shape 18"/>
          <p:cNvSpPr/>
          <p:nvPr/>
        </p:nvSpPr>
        <p:spPr>
          <a:xfrm>
            <a:off x="6858000" y="2560320"/>
            <a:ext cx="4873752" cy="1280160"/>
          </a:xfrm>
          <a:prstGeom prst="roundRect">
            <a:avLst>
              <a:gd name="adj" fmla="val 4286"/>
            </a:avLst>
          </a:prstGeom>
          <a:solidFill>
            <a:srgbClr val="EEF5F3"/>
          </a:solidFill>
          <a:ln w="19050">
            <a:solidFill>
              <a:srgbClr val="0F766E"/>
            </a:solidFill>
            <a:prstDash val="solid"/>
          </a:ln>
        </p:spPr>
      </p:sp>
      <p:sp>
        <p:nvSpPr>
          <p:cNvPr id="23" name="Text 19"/>
          <p:cNvSpPr txBox="1"/>
          <p:nvPr/>
        </p:nvSpPr>
        <p:spPr>
          <a:xfrm>
            <a:off x="6949440" y="2606040"/>
            <a:ext cx="4663440" cy="1188720"/>
          </a:xfrm>
          <a:prstGeom prst="rect">
            <a:avLst/>
          </a:prstGeom>
          <a:noFill/>
          <a:ln/>
        </p:spPr>
        <p:txBody>
          <a:bodyPr wrap="square" lIns="25400" tIns="25400" rIns="25400" bIns="25400" rtlCol="0" anchor="t"/>
          <a:lstStyle/>
          <a:p>
            <a:pPr indent="0" marL="0">
              <a:buNone/>
            </a:pPr>
            <a:r>
              <a:rPr lang="en-US" sz="1600" b="1" dirty="0">
                <a:solidFill>
                  <a:srgbClr val="0F766E"/>
                </a:solidFill>
              </a:rPr>
              <a:t>No automated diagnosis</a:t>
            </a:r>
            <a:endParaRPr lang="en-US" sz="1300" dirty="0"/>
          </a:p>
          <a:p>
            <a:pPr indent="0" marL="0">
              <a:buNone/>
            </a:pPr>
            <a:r>
              <a:rPr lang="en-US" sz="1400" dirty="0">
                <a:solidFill>
                  <a:srgbClr val="1F2937"/>
                </a:solidFill>
              </a:rPr>
              <a:t>No cancer confirmation, staging or reassurance by AI.</a:t>
            </a:r>
            <a:endParaRPr lang="en-US" sz="1300" dirty="0"/>
          </a:p>
        </p:txBody>
      </p:sp>
      <p:sp>
        <p:nvSpPr>
          <p:cNvPr id="24" name="Shape 20"/>
          <p:cNvSpPr/>
          <p:nvPr/>
        </p:nvSpPr>
        <p:spPr>
          <a:xfrm>
            <a:off x="6858000" y="3977640"/>
            <a:ext cx="4873752" cy="1280160"/>
          </a:xfrm>
          <a:prstGeom prst="roundRect">
            <a:avLst>
              <a:gd name="adj" fmla="val 4286"/>
            </a:avLst>
          </a:prstGeom>
          <a:solidFill>
            <a:srgbClr val="EEF5F3"/>
          </a:solidFill>
          <a:ln w="19050">
            <a:solidFill>
              <a:srgbClr val="0F766E"/>
            </a:solidFill>
            <a:prstDash val="solid"/>
          </a:ln>
        </p:spPr>
      </p:sp>
      <p:sp>
        <p:nvSpPr>
          <p:cNvPr id="25" name="Text 21"/>
          <p:cNvSpPr txBox="1"/>
          <p:nvPr/>
        </p:nvSpPr>
        <p:spPr>
          <a:xfrm>
            <a:off x="6949440" y="4023360"/>
            <a:ext cx="4663440" cy="1188720"/>
          </a:xfrm>
          <a:prstGeom prst="rect">
            <a:avLst/>
          </a:prstGeom>
          <a:noFill/>
          <a:ln/>
        </p:spPr>
        <p:txBody>
          <a:bodyPr wrap="square" lIns="25400" tIns="25400" rIns="25400" bIns="25400" rtlCol="0" anchor="t"/>
          <a:lstStyle/>
          <a:p>
            <a:pPr indent="0" marL="0">
              <a:buNone/>
            </a:pPr>
            <a:r>
              <a:rPr lang="en-US" sz="1600" b="1" dirty="0">
                <a:solidFill>
                  <a:srgbClr val="0F766E"/>
                </a:solidFill>
              </a:rPr>
              <a:t>Safe logging</a:t>
            </a:r>
            <a:endParaRPr lang="en-US" sz="1300" dirty="0"/>
          </a:p>
          <a:p>
            <a:pPr indent="0" marL="0">
              <a:buNone/>
            </a:pPr>
            <a:r>
              <a:rPr lang="en-US" sz="1400" dirty="0">
                <a:solidFill>
                  <a:srgbClr val="1F2937"/>
                </a:solidFill>
              </a:rPr>
              <a:t>Audit access, edits, exports; no PHI or secrets in logs.</a:t>
            </a:r>
            <a:endParaRPr lang="en-US" sz="1300" dirty="0"/>
          </a:p>
        </p:txBody>
      </p:sp>
      <p:sp>
        <p:nvSpPr>
          <p:cNvPr id="26" name="Shape 22"/>
          <p:cNvSpPr/>
          <p:nvPr/>
        </p:nvSpPr>
        <p:spPr>
          <a:xfrm>
            <a:off x="457200" y="5669280"/>
            <a:ext cx="11274552" cy="457200"/>
          </a:xfrm>
          <a:prstGeom prst="rect">
            <a:avLst/>
          </a:prstGeom>
          <a:solidFill>
            <a:srgbClr val="EA580C"/>
          </a:solidFill>
          <a:ln/>
        </p:spPr>
      </p:sp>
      <p:sp>
        <p:nvSpPr>
          <p:cNvPr id="27" name="Text 23"/>
          <p:cNvSpPr txBox="1"/>
          <p:nvPr/>
        </p:nvSpPr>
        <p:spPr>
          <a:xfrm>
            <a:off x="457200" y="5669280"/>
            <a:ext cx="11274552" cy="457200"/>
          </a:xfrm>
          <a:prstGeom prst="rect">
            <a:avLst/>
          </a:prstGeom>
          <a:noFill/>
          <a:ln/>
        </p:spPr>
        <p:txBody>
          <a:bodyPr wrap="square" lIns="25400" tIns="25400" rIns="25400" bIns="25400" rtlCol="0" anchor="ctr"/>
          <a:lstStyle/>
          <a:p>
            <a:pPr algn="ctr" indent="0" marL="0">
              <a:buNone/>
            </a:pPr>
            <a:r>
              <a:rPr lang="en-US" sz="1400" b="1" dirty="0">
                <a:solidFill>
                  <a:srgbClr val="FFFFFF"/>
                </a:solidFill>
              </a:rPr>
              <a:t>Hackathon demonstration only — NOT FOR CLINICAL USE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F766E"/>
          </a:solidFill>
          <a:ln/>
        </p:spPr>
      </p:sp>
      <p:sp>
        <p:nvSpPr>
          <p:cNvPr id="3" name="Text 1"/>
          <p:cNvSpPr txBox="1"/>
          <p:nvPr/>
        </p:nvSpPr>
        <p:spPr>
          <a:xfrm>
            <a:off x="457200" y="228600"/>
            <a:ext cx="10424160" cy="640080"/>
          </a:xfrm>
          <a:prstGeom prst="rect">
            <a:avLst/>
          </a:prstGeom>
          <a:noFill/>
          <a:ln/>
        </p:spPr>
        <p:txBody>
          <a:bodyPr wrap="square" lIns="0" tIns="0" rIns="0" bIns="0" rtlCol="0" anchor="ctr"/>
          <a:lstStyle/>
          <a:p>
            <a:pPr indent="0" marL="0">
              <a:buNone/>
            </a:pPr>
            <a:r>
              <a:rPr lang="en-US" sz="3000" b="1" dirty="0">
                <a:solidFill>
                  <a:srgbClr val="12305A"/>
                </a:solidFill>
              </a:rPr>
              <a:t>Testing and Validation Matrix</a:t>
            </a:r>
            <a:endParaRPr lang="en-US" sz="3000" dirty="0"/>
          </a:p>
        </p:txBody>
      </p:sp>
      <p:sp>
        <p:nvSpPr>
          <p:cNvPr id="4" name="Shape 2"/>
          <p:cNvSpPr/>
          <p:nvPr/>
        </p:nvSpPr>
        <p:spPr>
          <a:xfrm>
            <a:off x="11064240" y="201168"/>
            <a:ext cx="658368" cy="658368"/>
          </a:xfrm>
          <a:prstGeom prst="ellipse">
            <a:avLst/>
          </a:prstGeom>
          <a:solidFill>
            <a:srgbClr val="0F766E"/>
          </a:solidFill>
          <a:ln/>
        </p:spPr>
      </p:sp>
      <p:pic>
        <p:nvPicPr>
          <p:cNvPr id="5" name="Image 0" descr="preencoded.png">    </p:cNvPr>
          <p:cNvPicPr>
            <a:picLocks noChangeAspect="1"/>
          </p:cNvPicPr>
          <p:nvPr/>
        </p:nvPicPr>
        <p:blipFill>
          <a:blip r:embed="rId1"/>
          <a:stretch>
            <a:fillRect/>
          </a:stretch>
        </p:blipFill>
        <p:spPr>
          <a:xfrm>
            <a:off x="11210544" y="347472"/>
            <a:ext cx="365760" cy="365760"/>
          </a:xfrm>
          <a:prstGeom prst="rect">
            <a:avLst/>
          </a:prstGeom>
        </p:spPr>
      </p:pic>
      <p:sp>
        <p:nvSpPr>
          <p:cNvPr id="6" name="Shape 3"/>
          <p:cNvSpPr/>
          <p:nvPr/>
        </p:nvSpPr>
        <p:spPr>
          <a:xfrm>
            <a:off x="457200" y="896112"/>
            <a:ext cx="1097280" cy="45720"/>
          </a:xfrm>
          <a:prstGeom prst="rect">
            <a:avLst/>
          </a:prstGeom>
          <a:solidFill>
            <a:srgbClr val="EA580C"/>
          </a:solidFill>
          <a:ln/>
        </p:spPr>
      </p:sp>
      <p:sp>
        <p:nvSpPr>
          <p:cNvPr id="7" name="Text 4"/>
          <p:cNvSpPr txBox="1"/>
          <p:nvPr/>
        </p:nvSpPr>
        <p:spPr>
          <a:xfrm>
            <a:off x="457200" y="6473952"/>
            <a:ext cx="10058400" cy="274320"/>
          </a:xfrm>
          <a:prstGeom prst="rect">
            <a:avLst/>
          </a:prstGeom>
          <a:noFill/>
          <a:ln/>
        </p:spPr>
        <p:txBody>
          <a:bodyPr wrap="square" lIns="0" tIns="0" rIns="0" bIns="0" rtlCol="0" anchor="ctr"/>
          <a:lstStyle/>
          <a:p>
            <a:pPr indent="0" marL="0">
              <a:buNone/>
            </a:pPr>
            <a:r>
              <a:rPr lang="en-US" sz="1000" dirty="0">
                <a:solidFill>
                  <a:srgbClr val="6B7280"/>
                </a:solidFill>
              </a:rPr>
              <a:t>Hackathon demonstration only — NOT FOR CLINICAL USE  |  AAROGYA DRISHTI · AAROHAN 2026</a:t>
            </a:r>
            <a:endParaRPr lang="en-US" sz="1000" dirty="0"/>
          </a:p>
        </p:txBody>
      </p:sp>
      <p:sp>
        <p:nvSpPr>
          <p:cNvPr id="8" name="Text 5"/>
          <p:cNvSpPr txBox="1"/>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rPr>
              <a:t>16</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4552" cy="914400"/>
        </p:xfrm>
        <a:graphic>
          <a:graphicData uri="http://schemas.openxmlformats.org/drawingml/2006/table">
            <a:tbl>
              <a:tblPr/>
              <a:tblGrid>
                <a:gridCol w="3017520"/>
                <a:gridCol w="3383280"/>
                <a:gridCol w="3200400"/>
                <a:gridCol w="1673352"/>
              </a:tblGrid>
              <a:tr h="329184">
                <a:tc>
                  <a:txBody>
                    <a:bodyPr/>
                    <a:lstStyle/>
                    <a:p>
                      <a:pPr indent="0" marL="0">
                        <a:buNone/>
                      </a:pPr>
                      <a:r>
                        <a:rPr lang="en-US" sz="1100" b="1" dirty="0">
                          <a:solidFill>
                            <a:srgbClr val="FFFFFF"/>
                          </a:solidFill>
                        </a:rPr>
                        <a:t>Scenario</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12305A"/>
                    </a:solidFill>
                  </a:tcPr>
                </a:tc>
                <a:tc>
                  <a:txBody>
                    <a:bodyPr/>
                    <a:lstStyle/>
                    <a:p>
                      <a:pPr indent="0" marL="0">
                        <a:buNone/>
                      </a:pPr>
                      <a:r>
                        <a:rPr lang="en-US" sz="1100" b="1" dirty="0">
                          <a:solidFill>
                            <a:srgbClr val="FFFFFF"/>
                          </a:solidFill>
                        </a:rPr>
                        <a:t>Expected result</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12305A"/>
                    </a:solidFill>
                  </a:tcPr>
                </a:tc>
                <a:tc>
                  <a:txBody>
                    <a:bodyPr/>
                    <a:lstStyle/>
                    <a:p>
                      <a:pPr indent="0" marL="0">
                        <a:buNone/>
                      </a:pPr>
                      <a:r>
                        <a:rPr lang="en-US" sz="1100" b="1" dirty="0">
                          <a:solidFill>
                            <a:srgbClr val="FFFFFF"/>
                          </a:solidFill>
                        </a:rPr>
                        <a:t>Evidence</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12305A"/>
                    </a:solidFill>
                  </a:tcPr>
                </a:tc>
                <a:tc>
                  <a:txBody>
                    <a:bodyPr/>
                    <a:lstStyle/>
                    <a:p>
                      <a:pPr indent="0" marL="0">
                        <a:buNone/>
                      </a:pPr>
                      <a:r>
                        <a:rPr lang="en-US" sz="1100" b="1" dirty="0">
                          <a:solidFill>
                            <a:srgbClr val="FFFFFF"/>
                          </a:solidFill>
                        </a:rPr>
                        <a:t>Status</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12305A"/>
                    </a:solidFill>
                  </a:tcPr>
                </a:tc>
              </a:tr>
              <a:tr h="329184">
                <a:tc>
                  <a:txBody>
                    <a:bodyPr/>
                    <a:lstStyle/>
                    <a:p>
                      <a:pPr indent="0" marL="0">
                        <a:buNone/>
                      </a:pPr>
                      <a:r>
                        <a:rPr lang="en-US" sz="1100" dirty="0">
                          <a:solidFill>
                            <a:srgbClr val="1F2937"/>
                          </a:solidFill>
                        </a:rPr>
                        <a:t>End-to-end journey</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Single longitudinal record</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Video + records</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Planned</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F2937"/>
                          </a:solidFill>
                        </a:rPr>
                        <a:t>Poor image / recapture</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100" dirty="0">
                          <a:solidFill>
                            <a:srgbClr val="1F2937"/>
                          </a:solidFill>
                        </a:rPr>
                        <a:t>Recapture prompt</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100" dirty="0">
                          <a:solidFill>
                            <a:srgbClr val="1F2937"/>
                          </a:solidFill>
                        </a:rPr>
                        <a:t>Screenshot</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100" dirty="0">
                          <a:solidFill>
                            <a:srgbClr val="1F2937"/>
                          </a:solidFill>
                        </a:rPr>
                        <a:t>Planned</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r>
              <a:tr h="329184">
                <a:tc>
                  <a:txBody>
                    <a:bodyPr/>
                    <a:lstStyle/>
                    <a:p>
                      <a:pPr indent="0" marL="0">
                        <a:buNone/>
                      </a:pPr>
                      <a:r>
                        <a:rPr lang="en-US" sz="1100" dirty="0">
                          <a:solidFill>
                            <a:srgbClr val="1F2937"/>
                          </a:solidFill>
                        </a:rPr>
                        <a:t>Missing consent</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Upload rejected</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API test output</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Planned</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F2937"/>
                          </a:solidFill>
                        </a:rPr>
                        <a:t>Unauthorized record access</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100" dirty="0">
                          <a:solidFill>
                            <a:srgbClr val="1F2937"/>
                          </a:solidFill>
                        </a:rPr>
                        <a:t>403 denied</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100" dirty="0">
                          <a:solidFill>
                            <a:srgbClr val="1F2937"/>
                          </a:solidFill>
                        </a:rPr>
                        <a:t>Test log</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100" dirty="0">
                          <a:solidFill>
                            <a:srgbClr val="1F2937"/>
                          </a:solidFill>
                        </a:rPr>
                        <a:t>Planned</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r>
              <a:tr h="329184">
                <a:tc>
                  <a:txBody>
                    <a:bodyPr/>
                    <a:lstStyle/>
                    <a:p>
                      <a:pPr indent="0" marL="0">
                        <a:buNone/>
                      </a:pPr>
                      <a:r>
                        <a:rPr lang="en-US" sz="1100" dirty="0">
                          <a:solidFill>
                            <a:srgbClr val="1F2937"/>
                          </a:solidFill>
                        </a:rPr>
                        <a:t>AI service failure</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Case intact, manual review</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Stopped-container demo</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Planned</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F2937"/>
                          </a:solidFill>
                        </a:rPr>
                        <a:t>Network loss &amp; recovery</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100" dirty="0">
                          <a:solidFill>
                            <a:srgbClr val="1F2937"/>
                          </a:solidFill>
                        </a:rPr>
                        <a:t>Retry, no duplicates</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100" dirty="0">
                          <a:solidFill>
                            <a:srgbClr val="1F2937"/>
                          </a:solidFill>
                        </a:rPr>
                        <a:t>Airplane-mode video</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100" dirty="0">
                          <a:solidFill>
                            <a:srgbClr val="1F2937"/>
                          </a:solidFill>
                        </a:rPr>
                        <a:t>Planned</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r>
              <a:tr h="329184">
                <a:tc>
                  <a:txBody>
                    <a:bodyPr/>
                    <a:lstStyle/>
                    <a:p>
                      <a:pPr indent="0" marL="0">
                        <a:buNone/>
                      </a:pPr>
                      <a:r>
                        <a:rPr lang="en-US" sz="1100" dirty="0">
                          <a:solidFill>
                            <a:srgbClr val="1F2937"/>
                          </a:solidFill>
                        </a:rPr>
                        <a:t>Duplicate submission</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One durable record</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DB count</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Planned</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F2937"/>
                          </a:solidFill>
                        </a:rPr>
                        <a:t>Telugu switching</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100" dirty="0">
                          <a:solidFill>
                            <a:srgbClr val="1F2937"/>
                          </a:solidFill>
                        </a:rPr>
                        <a:t>No overflow</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100" dirty="0">
                          <a:solidFill>
                            <a:srgbClr val="1F2937"/>
                          </a:solidFill>
                        </a:rPr>
                        <a:t>Phone screenshots</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100" dirty="0">
                          <a:solidFill>
                            <a:srgbClr val="1F2937"/>
                          </a:solidFill>
                        </a:rPr>
                        <a:t>Planned</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r>
              <a:tr h="329184">
                <a:tc>
                  <a:txBody>
                    <a:bodyPr/>
                    <a:lstStyle/>
                    <a:p>
                      <a:pPr indent="0" marL="0">
                        <a:buNone/>
                      </a:pPr>
                      <a:r>
                        <a:rPr lang="en-US" sz="1100" dirty="0">
                          <a:solidFill>
                            <a:srgbClr val="1F2937"/>
                          </a:solidFill>
                        </a:rPr>
                        <a:t>Doctor overrides AI</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Discrepancy documented</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Review record</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Planned</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F2937"/>
                          </a:solidFill>
                        </a:rPr>
                        <a:t>Missed appointment</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100" dirty="0">
                          <a:solidFill>
                            <a:srgbClr val="1F2937"/>
                          </a:solidFill>
                        </a:rPr>
                        <a:t>Follow-up task created</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100" dirty="0">
                          <a:solidFill>
                            <a:srgbClr val="1F2937"/>
                          </a:solidFill>
                        </a:rPr>
                        <a:t>Task screenshot</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100" dirty="0">
                          <a:solidFill>
                            <a:srgbClr val="1F2937"/>
                          </a:solidFill>
                        </a:rPr>
                        <a:t>Planned</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r>
              <a:tr h="329184">
                <a:tc>
                  <a:txBody>
                    <a:bodyPr/>
                    <a:lstStyle/>
                    <a:p>
                      <a:pPr indent="0" marL="0">
                        <a:buNone/>
                      </a:pPr>
                      <a:r>
                        <a:rPr lang="en-US" sz="1100" dirty="0">
                          <a:solidFill>
                            <a:srgbClr val="1F2937"/>
                          </a:solidFill>
                        </a:rPr>
                        <a:t>Invalid/expired video link</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Join denied; reschedule</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Call log</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Planned</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F2937"/>
                          </a:solidFill>
                        </a:rPr>
                        <a:t>Dashboard accuracy</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100" dirty="0">
                          <a:solidFill>
                            <a:srgbClr val="1F2937"/>
                          </a:solidFill>
                        </a:rPr>
                        <a:t>Counts match seed data</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100" dirty="0">
                          <a:solidFill>
                            <a:srgbClr val="1F2937"/>
                          </a:solidFill>
                        </a:rPr>
                        <a:t>Seed vs dashboard</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100" dirty="0">
                          <a:solidFill>
                            <a:srgbClr val="1F2937"/>
                          </a:solidFill>
                        </a:rPr>
                        <a:t>Planned</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r>
              <a:tr h="329184">
                <a:tc>
                  <a:txBody>
                    <a:bodyPr/>
                    <a:lstStyle/>
                    <a:p>
                      <a:pPr indent="0" marL="0">
                        <a:buNone/>
                      </a:pPr>
                      <a:r>
                        <a:rPr lang="en-US" sz="1100" dirty="0">
                          <a:solidFill>
                            <a:srgbClr val="1F2937"/>
                          </a:solidFill>
                        </a:rPr>
                        <a:t>Audit trail</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Actor/time/action kept</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Audit export</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Planned</a:t>
                      </a:r>
                      <a:endParaRPr lang="en-US" sz="11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r>
            </a:tbl>
          </a:graphicData>
        </a:graphic>
      </p:graphicFrame>
      <p:sp>
        <p:nvSpPr>
          <p:cNvPr id="11" name="Text 6"/>
          <p:cNvSpPr txBox="1"/>
          <p:nvPr/>
        </p:nvSpPr>
        <p:spPr>
          <a:xfrm>
            <a:off x="457200" y="6053328"/>
            <a:ext cx="10972800" cy="274320"/>
          </a:xfrm>
          <a:prstGeom prst="rect">
            <a:avLst/>
          </a:prstGeom>
          <a:noFill/>
          <a:ln/>
        </p:spPr>
        <p:txBody>
          <a:bodyPr wrap="square" lIns="25400" tIns="25400" rIns="25400" bIns="25400" rtlCol="0" anchor="t"/>
          <a:lstStyle/>
          <a:p>
            <a:pPr indent="0" marL="0">
              <a:buNone/>
            </a:pPr>
            <a:r>
              <a:rPr lang="en-US" sz="1200" b="1" dirty="0">
                <a:solidFill>
                  <a:srgbClr val="EA580C"/>
                </a:solidFill>
              </a:rPr>
              <a:t>Executed / Passed: none yet — update only with evidence.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F766E"/>
          </a:solidFill>
          <a:ln/>
        </p:spPr>
      </p:sp>
      <p:sp>
        <p:nvSpPr>
          <p:cNvPr id="3" name="Text 1"/>
          <p:cNvSpPr txBox="1"/>
          <p:nvPr/>
        </p:nvSpPr>
        <p:spPr>
          <a:xfrm>
            <a:off x="457200" y="228600"/>
            <a:ext cx="10424160" cy="640080"/>
          </a:xfrm>
          <a:prstGeom prst="rect">
            <a:avLst/>
          </a:prstGeom>
          <a:noFill/>
          <a:ln/>
        </p:spPr>
        <p:txBody>
          <a:bodyPr wrap="square" lIns="0" tIns="0" rIns="0" bIns="0" rtlCol="0" anchor="ctr"/>
          <a:lstStyle/>
          <a:p>
            <a:pPr indent="0" marL="0">
              <a:buNone/>
            </a:pPr>
            <a:r>
              <a:rPr lang="en-US" sz="3000" b="1" dirty="0">
                <a:solidFill>
                  <a:srgbClr val="12305A"/>
                </a:solidFill>
              </a:rPr>
              <a:t>Nine-Day Roadmap</a:t>
            </a:r>
            <a:endParaRPr lang="en-US" sz="3000" dirty="0"/>
          </a:p>
        </p:txBody>
      </p:sp>
      <p:sp>
        <p:nvSpPr>
          <p:cNvPr id="4" name="Shape 2"/>
          <p:cNvSpPr/>
          <p:nvPr/>
        </p:nvSpPr>
        <p:spPr>
          <a:xfrm>
            <a:off x="11064240" y="201168"/>
            <a:ext cx="658368" cy="658368"/>
          </a:xfrm>
          <a:prstGeom prst="ellipse">
            <a:avLst/>
          </a:prstGeom>
          <a:solidFill>
            <a:srgbClr val="0F766E"/>
          </a:solidFill>
          <a:ln/>
        </p:spPr>
      </p:sp>
      <p:pic>
        <p:nvPicPr>
          <p:cNvPr id="5" name="Image 0" descr="preencoded.png">    </p:cNvPr>
          <p:cNvPicPr>
            <a:picLocks noChangeAspect="1"/>
          </p:cNvPicPr>
          <p:nvPr/>
        </p:nvPicPr>
        <p:blipFill>
          <a:blip r:embed="rId1"/>
          <a:stretch>
            <a:fillRect/>
          </a:stretch>
        </p:blipFill>
        <p:spPr>
          <a:xfrm>
            <a:off x="11210544" y="347472"/>
            <a:ext cx="365760" cy="365760"/>
          </a:xfrm>
          <a:prstGeom prst="rect">
            <a:avLst/>
          </a:prstGeom>
        </p:spPr>
      </p:pic>
      <p:sp>
        <p:nvSpPr>
          <p:cNvPr id="6" name="Shape 3"/>
          <p:cNvSpPr/>
          <p:nvPr/>
        </p:nvSpPr>
        <p:spPr>
          <a:xfrm>
            <a:off x="457200" y="896112"/>
            <a:ext cx="1097280" cy="45720"/>
          </a:xfrm>
          <a:prstGeom prst="rect">
            <a:avLst/>
          </a:prstGeom>
          <a:solidFill>
            <a:srgbClr val="EA580C"/>
          </a:solidFill>
          <a:ln/>
        </p:spPr>
      </p:sp>
      <p:sp>
        <p:nvSpPr>
          <p:cNvPr id="7" name="Text 4"/>
          <p:cNvSpPr txBox="1"/>
          <p:nvPr/>
        </p:nvSpPr>
        <p:spPr>
          <a:xfrm>
            <a:off x="457200" y="6473952"/>
            <a:ext cx="10058400" cy="274320"/>
          </a:xfrm>
          <a:prstGeom prst="rect">
            <a:avLst/>
          </a:prstGeom>
          <a:noFill/>
          <a:ln/>
        </p:spPr>
        <p:txBody>
          <a:bodyPr wrap="square" lIns="0" tIns="0" rIns="0" bIns="0" rtlCol="0" anchor="ctr"/>
          <a:lstStyle/>
          <a:p>
            <a:pPr indent="0" marL="0">
              <a:buNone/>
            </a:pPr>
            <a:r>
              <a:rPr lang="en-US" sz="1000" dirty="0">
                <a:solidFill>
                  <a:srgbClr val="6B7280"/>
                </a:solidFill>
              </a:rPr>
              <a:t>Hackathon demonstration only — NOT FOR CLINICAL USE  |  AAROGYA DRISHTI · AAROHAN 2026</a:t>
            </a:r>
            <a:endParaRPr lang="en-US" sz="1000" dirty="0"/>
          </a:p>
        </p:txBody>
      </p:sp>
      <p:sp>
        <p:nvSpPr>
          <p:cNvPr id="8" name="Text 5"/>
          <p:cNvSpPr txBox="1"/>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rPr>
              <a:t>17</a:t>
            </a:r>
            <a:endParaRPr lang="en-US" sz="1000" dirty="0"/>
          </a:p>
        </p:txBody>
      </p:sp>
      <p:sp>
        <p:nvSpPr>
          <p:cNvPr id="10" name="Shape 6"/>
          <p:cNvSpPr/>
          <p:nvPr/>
        </p:nvSpPr>
        <p:spPr>
          <a:xfrm>
            <a:off x="457200" y="1188720"/>
            <a:ext cx="2108606" cy="1554480"/>
          </a:xfrm>
          <a:prstGeom prst="roundRect">
            <a:avLst>
              <a:gd name="adj" fmla="val 3529"/>
            </a:avLst>
          </a:prstGeom>
          <a:solidFill>
            <a:srgbClr val="EEF5F3"/>
          </a:solidFill>
          <a:ln w="12700">
            <a:solidFill>
              <a:srgbClr val="0F766E"/>
            </a:solidFill>
            <a:prstDash val="solid"/>
          </a:ln>
        </p:spPr>
      </p:sp>
      <p:sp>
        <p:nvSpPr>
          <p:cNvPr id="11" name="Text 7"/>
          <p:cNvSpPr txBox="1"/>
          <p:nvPr/>
        </p:nvSpPr>
        <p:spPr>
          <a:xfrm>
            <a:off x="530352" y="1234440"/>
            <a:ext cx="1962302" cy="1463040"/>
          </a:xfrm>
          <a:prstGeom prst="rect">
            <a:avLst/>
          </a:prstGeom>
          <a:noFill/>
          <a:ln/>
        </p:spPr>
        <p:txBody>
          <a:bodyPr wrap="square" lIns="25400" tIns="25400" rIns="25400" bIns="25400" rtlCol="0" anchor="t"/>
          <a:lstStyle/>
          <a:p>
            <a:pPr indent="0" marL="0">
              <a:buNone/>
            </a:pPr>
            <a:r>
              <a:rPr lang="en-US" sz="1500" b="1" dirty="0">
                <a:solidFill>
                  <a:srgbClr val="0F766E"/>
                </a:solidFill>
              </a:rPr>
              <a:t>27 Oct</a:t>
            </a:r>
            <a:endParaRPr lang="en-US" sz="1500" dirty="0"/>
          </a:p>
          <a:p>
            <a:pPr indent="0" marL="0">
              <a:buNone/>
            </a:pPr>
            <a:r>
              <a:rPr lang="en-US" sz="1300" dirty="0">
                <a:solidFill>
                  <a:srgbClr val="1F2937"/>
                </a:solidFill>
              </a:rPr>
              <a:t>Briefing, requirements, architecture, team setup</a:t>
            </a:r>
            <a:endParaRPr lang="en-US" sz="1500" dirty="0"/>
          </a:p>
        </p:txBody>
      </p:sp>
      <p:sp>
        <p:nvSpPr>
          <p:cNvPr id="12" name="Shape 8"/>
          <p:cNvSpPr/>
          <p:nvPr/>
        </p:nvSpPr>
        <p:spPr>
          <a:xfrm>
            <a:off x="2748686" y="1188720"/>
            <a:ext cx="2108606" cy="1554480"/>
          </a:xfrm>
          <a:prstGeom prst="roundRect">
            <a:avLst>
              <a:gd name="adj" fmla="val 3529"/>
            </a:avLst>
          </a:prstGeom>
          <a:solidFill>
            <a:srgbClr val="EEF5F3"/>
          </a:solidFill>
          <a:ln w="12700">
            <a:solidFill>
              <a:srgbClr val="0F766E"/>
            </a:solidFill>
            <a:prstDash val="solid"/>
          </a:ln>
        </p:spPr>
      </p:sp>
      <p:sp>
        <p:nvSpPr>
          <p:cNvPr id="13" name="Text 9"/>
          <p:cNvSpPr txBox="1"/>
          <p:nvPr/>
        </p:nvSpPr>
        <p:spPr>
          <a:xfrm>
            <a:off x="2821838" y="1234440"/>
            <a:ext cx="1962302" cy="1463040"/>
          </a:xfrm>
          <a:prstGeom prst="rect">
            <a:avLst/>
          </a:prstGeom>
          <a:noFill/>
          <a:ln/>
        </p:spPr>
        <p:txBody>
          <a:bodyPr wrap="square" lIns="25400" tIns="25400" rIns="25400" bIns="25400" rtlCol="0" anchor="t"/>
          <a:lstStyle/>
          <a:p>
            <a:pPr indent="0" marL="0">
              <a:buNone/>
            </a:pPr>
            <a:r>
              <a:rPr lang="en-US" sz="1500" b="1" dirty="0">
                <a:solidFill>
                  <a:srgbClr val="0F766E"/>
                </a:solidFill>
              </a:rPr>
              <a:t>28 Oct</a:t>
            </a:r>
            <a:endParaRPr lang="en-US" sz="1500" dirty="0"/>
          </a:p>
          <a:p>
            <a:pPr indent="0" marL="0">
              <a:buNone/>
            </a:pPr>
            <a:r>
              <a:rPr lang="en-US" sz="1300" dirty="0">
                <a:solidFill>
                  <a:srgbClr val="1F2937"/>
                </a:solidFill>
              </a:rPr>
              <a:t>UI/UX, DB schema, project foundation</a:t>
            </a:r>
            <a:endParaRPr lang="en-US" sz="1500" dirty="0"/>
          </a:p>
        </p:txBody>
      </p:sp>
      <p:sp>
        <p:nvSpPr>
          <p:cNvPr id="14" name="Shape 10"/>
          <p:cNvSpPr/>
          <p:nvPr/>
        </p:nvSpPr>
        <p:spPr>
          <a:xfrm>
            <a:off x="5040173" y="1188720"/>
            <a:ext cx="2108606" cy="1554480"/>
          </a:xfrm>
          <a:prstGeom prst="roundRect">
            <a:avLst>
              <a:gd name="adj" fmla="val 3529"/>
            </a:avLst>
          </a:prstGeom>
          <a:solidFill>
            <a:srgbClr val="EEF5F3"/>
          </a:solidFill>
          <a:ln w="12700">
            <a:solidFill>
              <a:srgbClr val="0F766E"/>
            </a:solidFill>
            <a:prstDash val="solid"/>
          </a:ln>
        </p:spPr>
      </p:sp>
      <p:sp>
        <p:nvSpPr>
          <p:cNvPr id="15" name="Text 11"/>
          <p:cNvSpPr txBox="1"/>
          <p:nvPr/>
        </p:nvSpPr>
        <p:spPr>
          <a:xfrm>
            <a:off x="5113325" y="1234440"/>
            <a:ext cx="1962302" cy="1463040"/>
          </a:xfrm>
          <a:prstGeom prst="rect">
            <a:avLst/>
          </a:prstGeom>
          <a:noFill/>
          <a:ln/>
        </p:spPr>
        <p:txBody>
          <a:bodyPr wrap="square" lIns="25400" tIns="25400" rIns="25400" bIns="25400" rtlCol="0" anchor="t"/>
          <a:lstStyle/>
          <a:p>
            <a:pPr indent="0" marL="0">
              <a:buNone/>
            </a:pPr>
            <a:r>
              <a:rPr lang="en-US" sz="1500" b="1" dirty="0">
                <a:solidFill>
                  <a:srgbClr val="0F766E"/>
                </a:solidFill>
              </a:rPr>
              <a:t>29 Oct</a:t>
            </a:r>
            <a:endParaRPr lang="en-US" sz="1500" dirty="0"/>
          </a:p>
          <a:p>
            <a:pPr indent="0" marL="0">
              <a:buNone/>
            </a:pPr>
            <a:r>
              <a:rPr lang="en-US" sz="1300" dirty="0">
                <a:solidFill>
                  <a:srgbClr val="1F2937"/>
                </a:solidFill>
              </a:rPr>
              <a:t>Registration, consent, screening forms</a:t>
            </a:r>
            <a:endParaRPr lang="en-US" sz="1500" dirty="0"/>
          </a:p>
        </p:txBody>
      </p:sp>
      <p:sp>
        <p:nvSpPr>
          <p:cNvPr id="16" name="Shape 12"/>
          <p:cNvSpPr/>
          <p:nvPr/>
        </p:nvSpPr>
        <p:spPr>
          <a:xfrm>
            <a:off x="7331659" y="1188720"/>
            <a:ext cx="2108606" cy="1554480"/>
          </a:xfrm>
          <a:prstGeom prst="roundRect">
            <a:avLst>
              <a:gd name="adj" fmla="val 3529"/>
            </a:avLst>
          </a:prstGeom>
          <a:solidFill>
            <a:srgbClr val="EEF5F3"/>
          </a:solidFill>
          <a:ln w="12700">
            <a:solidFill>
              <a:srgbClr val="0F766E"/>
            </a:solidFill>
            <a:prstDash val="solid"/>
          </a:ln>
        </p:spPr>
      </p:sp>
      <p:sp>
        <p:nvSpPr>
          <p:cNvPr id="17" name="Text 13"/>
          <p:cNvSpPr txBox="1"/>
          <p:nvPr/>
        </p:nvSpPr>
        <p:spPr>
          <a:xfrm>
            <a:off x="7404811" y="1234440"/>
            <a:ext cx="1962302" cy="1463040"/>
          </a:xfrm>
          <a:prstGeom prst="rect">
            <a:avLst/>
          </a:prstGeom>
          <a:noFill/>
          <a:ln/>
        </p:spPr>
        <p:txBody>
          <a:bodyPr wrap="square" lIns="25400" tIns="25400" rIns="25400" bIns="25400" rtlCol="0" anchor="t"/>
          <a:lstStyle/>
          <a:p>
            <a:pPr indent="0" marL="0">
              <a:buNone/>
            </a:pPr>
            <a:r>
              <a:rPr lang="en-US" sz="1500" b="1" dirty="0">
                <a:solidFill>
                  <a:srgbClr val="0F766E"/>
                </a:solidFill>
              </a:rPr>
              <a:t>30 Oct</a:t>
            </a:r>
            <a:endParaRPr lang="en-US" sz="1500" dirty="0"/>
          </a:p>
          <a:p>
            <a:pPr indent="0" marL="0">
              <a:buNone/>
            </a:pPr>
            <a:r>
              <a:rPr lang="en-US" sz="1300" dirty="0">
                <a:solidFill>
                  <a:srgbClr val="1F2937"/>
                </a:solidFill>
              </a:rPr>
              <a:t>Image capture, quality checks, AI integration</a:t>
            </a:r>
            <a:endParaRPr lang="en-US" sz="1500" dirty="0"/>
          </a:p>
        </p:txBody>
      </p:sp>
      <p:sp>
        <p:nvSpPr>
          <p:cNvPr id="18" name="Shape 14"/>
          <p:cNvSpPr/>
          <p:nvPr/>
        </p:nvSpPr>
        <p:spPr>
          <a:xfrm>
            <a:off x="9623146" y="1188720"/>
            <a:ext cx="2108606" cy="1554480"/>
          </a:xfrm>
          <a:prstGeom prst="roundRect">
            <a:avLst>
              <a:gd name="adj" fmla="val 3529"/>
            </a:avLst>
          </a:prstGeom>
          <a:solidFill>
            <a:srgbClr val="EEF5F3"/>
          </a:solidFill>
          <a:ln w="12700">
            <a:solidFill>
              <a:srgbClr val="0F766E"/>
            </a:solidFill>
            <a:prstDash val="solid"/>
          </a:ln>
        </p:spPr>
      </p:sp>
      <p:sp>
        <p:nvSpPr>
          <p:cNvPr id="19" name="Text 15"/>
          <p:cNvSpPr txBox="1"/>
          <p:nvPr/>
        </p:nvSpPr>
        <p:spPr>
          <a:xfrm>
            <a:off x="9696298" y="1234440"/>
            <a:ext cx="1962302" cy="1463040"/>
          </a:xfrm>
          <a:prstGeom prst="rect">
            <a:avLst/>
          </a:prstGeom>
          <a:noFill/>
          <a:ln/>
        </p:spPr>
        <p:txBody>
          <a:bodyPr wrap="square" lIns="25400" tIns="25400" rIns="25400" bIns="25400" rtlCol="0" anchor="t"/>
          <a:lstStyle/>
          <a:p>
            <a:pPr indent="0" marL="0">
              <a:buNone/>
            </a:pPr>
            <a:r>
              <a:rPr lang="en-US" sz="1500" b="1" dirty="0">
                <a:solidFill>
                  <a:srgbClr val="0F766E"/>
                </a:solidFill>
              </a:rPr>
              <a:t>31 Oct ★</a:t>
            </a:r>
            <a:endParaRPr lang="en-US" sz="1500" dirty="0"/>
          </a:p>
          <a:p>
            <a:pPr indent="0" marL="0">
              <a:buNone/>
            </a:pPr>
            <a:r>
              <a:rPr lang="en-US" sz="1300" dirty="0">
                <a:solidFill>
                  <a:srgbClr val="1F2937"/>
                </a:solidFill>
              </a:rPr>
              <a:t>Medical Officer portal; minimum complete system</a:t>
            </a:r>
            <a:endParaRPr lang="en-US" sz="1500" dirty="0"/>
          </a:p>
        </p:txBody>
      </p:sp>
      <p:sp>
        <p:nvSpPr>
          <p:cNvPr id="20" name="Shape 16"/>
          <p:cNvSpPr/>
          <p:nvPr/>
        </p:nvSpPr>
        <p:spPr>
          <a:xfrm>
            <a:off x="457200" y="2926080"/>
            <a:ext cx="2108606" cy="1554480"/>
          </a:xfrm>
          <a:prstGeom prst="roundRect">
            <a:avLst>
              <a:gd name="adj" fmla="val 3529"/>
            </a:avLst>
          </a:prstGeom>
          <a:solidFill>
            <a:srgbClr val="EEF5F3"/>
          </a:solidFill>
          <a:ln w="12700">
            <a:solidFill>
              <a:srgbClr val="0F766E"/>
            </a:solidFill>
            <a:prstDash val="solid"/>
          </a:ln>
        </p:spPr>
      </p:sp>
      <p:sp>
        <p:nvSpPr>
          <p:cNvPr id="21" name="Text 17"/>
          <p:cNvSpPr txBox="1"/>
          <p:nvPr/>
        </p:nvSpPr>
        <p:spPr>
          <a:xfrm>
            <a:off x="530352" y="2971800"/>
            <a:ext cx="1962302" cy="1463040"/>
          </a:xfrm>
          <a:prstGeom prst="rect">
            <a:avLst/>
          </a:prstGeom>
          <a:noFill/>
          <a:ln/>
        </p:spPr>
        <p:txBody>
          <a:bodyPr wrap="square" lIns="25400" tIns="25400" rIns="25400" bIns="25400" rtlCol="0" anchor="t"/>
          <a:lstStyle/>
          <a:p>
            <a:pPr indent="0" marL="0">
              <a:buNone/>
            </a:pPr>
            <a:r>
              <a:rPr lang="en-US" sz="1500" b="1" dirty="0">
                <a:solidFill>
                  <a:srgbClr val="0F766E"/>
                </a:solidFill>
              </a:rPr>
              <a:t>1 Nov</a:t>
            </a:r>
            <a:endParaRPr lang="en-US" sz="1500" dirty="0"/>
          </a:p>
          <a:p>
            <a:pPr indent="0" marL="0">
              <a:buNone/>
            </a:pPr>
            <a:r>
              <a:rPr lang="en-US" sz="1300" dirty="0">
                <a:solidFill>
                  <a:srgbClr val="1F2937"/>
                </a:solidFill>
              </a:rPr>
              <a:t>Video, appointments, referrals</a:t>
            </a:r>
            <a:endParaRPr lang="en-US" sz="1500" dirty="0"/>
          </a:p>
        </p:txBody>
      </p:sp>
      <p:sp>
        <p:nvSpPr>
          <p:cNvPr id="22" name="Shape 18"/>
          <p:cNvSpPr/>
          <p:nvPr/>
        </p:nvSpPr>
        <p:spPr>
          <a:xfrm>
            <a:off x="2748686" y="2926080"/>
            <a:ext cx="2108606" cy="1554480"/>
          </a:xfrm>
          <a:prstGeom prst="roundRect">
            <a:avLst>
              <a:gd name="adj" fmla="val 3529"/>
            </a:avLst>
          </a:prstGeom>
          <a:solidFill>
            <a:srgbClr val="EEF5F3"/>
          </a:solidFill>
          <a:ln w="12700">
            <a:solidFill>
              <a:srgbClr val="0F766E"/>
            </a:solidFill>
            <a:prstDash val="solid"/>
          </a:ln>
        </p:spPr>
      </p:sp>
      <p:sp>
        <p:nvSpPr>
          <p:cNvPr id="23" name="Text 19"/>
          <p:cNvSpPr txBox="1"/>
          <p:nvPr/>
        </p:nvSpPr>
        <p:spPr>
          <a:xfrm>
            <a:off x="2821838" y="2971800"/>
            <a:ext cx="1962302" cy="1463040"/>
          </a:xfrm>
          <a:prstGeom prst="rect">
            <a:avLst/>
          </a:prstGeom>
          <a:noFill/>
          <a:ln/>
        </p:spPr>
        <p:txBody>
          <a:bodyPr wrap="square" lIns="25400" tIns="25400" rIns="25400" bIns="25400" rtlCol="0" anchor="t"/>
          <a:lstStyle/>
          <a:p>
            <a:pPr indent="0" marL="0">
              <a:buNone/>
            </a:pPr>
            <a:r>
              <a:rPr lang="en-US" sz="1500" b="1" dirty="0">
                <a:solidFill>
                  <a:srgbClr val="0F766E"/>
                </a:solidFill>
              </a:rPr>
              <a:t>2 Nov</a:t>
            </a:r>
            <a:endParaRPr lang="en-US" sz="1500" dirty="0"/>
          </a:p>
          <a:p>
            <a:pPr indent="0" marL="0">
              <a:buNone/>
            </a:pPr>
            <a:r>
              <a:rPr lang="en-US" sz="1300" dirty="0">
                <a:solidFill>
                  <a:srgbClr val="1F2937"/>
                </a:solidFill>
              </a:rPr>
              <a:t>Diagnostics, records, Telugu, security</a:t>
            </a:r>
            <a:endParaRPr lang="en-US" sz="1500" dirty="0"/>
          </a:p>
        </p:txBody>
      </p:sp>
      <p:sp>
        <p:nvSpPr>
          <p:cNvPr id="24" name="Shape 20"/>
          <p:cNvSpPr/>
          <p:nvPr/>
        </p:nvSpPr>
        <p:spPr>
          <a:xfrm>
            <a:off x="5040173" y="2926080"/>
            <a:ext cx="2108606" cy="1554480"/>
          </a:xfrm>
          <a:prstGeom prst="roundRect">
            <a:avLst>
              <a:gd name="adj" fmla="val 3529"/>
            </a:avLst>
          </a:prstGeom>
          <a:solidFill>
            <a:srgbClr val="EEF5F3"/>
          </a:solidFill>
          <a:ln w="12700">
            <a:solidFill>
              <a:srgbClr val="0F766E"/>
            </a:solidFill>
            <a:prstDash val="solid"/>
          </a:ln>
        </p:spPr>
      </p:sp>
      <p:sp>
        <p:nvSpPr>
          <p:cNvPr id="25" name="Text 21"/>
          <p:cNvSpPr txBox="1"/>
          <p:nvPr/>
        </p:nvSpPr>
        <p:spPr>
          <a:xfrm>
            <a:off x="5113325" y="2971800"/>
            <a:ext cx="1962302" cy="1463040"/>
          </a:xfrm>
          <a:prstGeom prst="rect">
            <a:avLst/>
          </a:prstGeom>
          <a:noFill/>
          <a:ln/>
        </p:spPr>
        <p:txBody>
          <a:bodyPr wrap="square" lIns="25400" tIns="25400" rIns="25400" bIns="25400" rtlCol="0" anchor="t"/>
          <a:lstStyle/>
          <a:p>
            <a:pPr indent="0" marL="0">
              <a:buNone/>
            </a:pPr>
            <a:r>
              <a:rPr lang="en-US" sz="1500" b="1" dirty="0">
                <a:solidFill>
                  <a:srgbClr val="0F766E"/>
                </a:solidFill>
              </a:rPr>
              <a:t>3 Nov ★</a:t>
            </a:r>
            <a:endParaRPr lang="en-US" sz="1500" dirty="0"/>
          </a:p>
          <a:p>
            <a:pPr indent="0" marL="0">
              <a:buNone/>
            </a:pPr>
            <a:r>
              <a:rPr lang="en-US" sz="1300" dirty="0">
                <a:solidFill>
                  <a:srgbClr val="1F2937"/>
                </a:solidFill>
              </a:rPr>
              <a:t>Integration testing, deployment, rehearsal</a:t>
            </a:r>
            <a:endParaRPr lang="en-US" sz="1500" dirty="0"/>
          </a:p>
        </p:txBody>
      </p:sp>
      <p:sp>
        <p:nvSpPr>
          <p:cNvPr id="26" name="Shape 22"/>
          <p:cNvSpPr/>
          <p:nvPr/>
        </p:nvSpPr>
        <p:spPr>
          <a:xfrm>
            <a:off x="7331659" y="2926080"/>
            <a:ext cx="2108606" cy="1554480"/>
          </a:xfrm>
          <a:prstGeom prst="roundRect">
            <a:avLst>
              <a:gd name="adj" fmla="val 3529"/>
            </a:avLst>
          </a:prstGeom>
          <a:solidFill>
            <a:srgbClr val="EEF5F3"/>
          </a:solidFill>
          <a:ln w="12700">
            <a:solidFill>
              <a:srgbClr val="0F766E"/>
            </a:solidFill>
            <a:prstDash val="solid"/>
          </a:ln>
        </p:spPr>
      </p:sp>
      <p:sp>
        <p:nvSpPr>
          <p:cNvPr id="27" name="Text 23"/>
          <p:cNvSpPr txBox="1"/>
          <p:nvPr/>
        </p:nvSpPr>
        <p:spPr>
          <a:xfrm>
            <a:off x="7404811" y="2971800"/>
            <a:ext cx="1962302" cy="1463040"/>
          </a:xfrm>
          <a:prstGeom prst="rect">
            <a:avLst/>
          </a:prstGeom>
          <a:noFill/>
          <a:ln/>
        </p:spPr>
        <p:txBody>
          <a:bodyPr wrap="square" lIns="25400" tIns="25400" rIns="25400" bIns="25400" rtlCol="0" anchor="t"/>
          <a:lstStyle/>
          <a:p>
            <a:pPr indent="0" marL="0">
              <a:buNone/>
            </a:pPr>
            <a:r>
              <a:rPr lang="en-US" sz="1500" b="1" dirty="0">
                <a:solidFill>
                  <a:srgbClr val="0F766E"/>
                </a:solidFill>
              </a:rPr>
              <a:t>4 Nov ★</a:t>
            </a:r>
            <a:endParaRPr lang="en-US" sz="1500" dirty="0"/>
          </a:p>
          <a:p>
            <a:pPr indent="0" marL="0">
              <a:buNone/>
            </a:pPr>
            <a:r>
              <a:rPr lang="en-US" sz="1300" dirty="0">
                <a:solidFill>
                  <a:srgbClr val="1F2937"/>
                </a:solidFill>
              </a:rPr>
              <a:t>Final demo, jury evaluation, awards</a:t>
            </a:r>
            <a:endParaRPr lang="en-US" sz="1500" dirty="0"/>
          </a:p>
        </p:txBody>
      </p:sp>
      <p:sp>
        <p:nvSpPr>
          <p:cNvPr id="28" name="Text 24"/>
          <p:cNvSpPr txBox="1"/>
          <p:nvPr/>
        </p:nvSpPr>
        <p:spPr>
          <a:xfrm>
            <a:off x="457200" y="4754880"/>
            <a:ext cx="10972800" cy="365760"/>
          </a:xfrm>
          <a:prstGeom prst="rect">
            <a:avLst/>
          </a:prstGeom>
          <a:noFill/>
          <a:ln/>
        </p:spPr>
        <p:txBody>
          <a:bodyPr wrap="square" lIns="25400" tIns="25400" rIns="25400" bIns="25400" rtlCol="0" anchor="t"/>
          <a:lstStyle/>
          <a:p>
            <a:pPr indent="0" marL="0">
              <a:buNone/>
            </a:pPr>
            <a:r>
              <a:rPr lang="en-US" sz="1300" b="1" dirty="0">
                <a:solidFill>
                  <a:srgbClr val="EA580C"/>
                </a:solidFill>
              </a:rPr>
              <a:t>★ Critical milestones. Code freeze: 10:00 AM IST, 4 Nov.</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F766E"/>
          </a:solidFill>
          <a:ln/>
        </p:spPr>
      </p:sp>
      <p:sp>
        <p:nvSpPr>
          <p:cNvPr id="3" name="Text 1"/>
          <p:cNvSpPr txBox="1"/>
          <p:nvPr/>
        </p:nvSpPr>
        <p:spPr>
          <a:xfrm>
            <a:off x="457200" y="228600"/>
            <a:ext cx="10424160" cy="640080"/>
          </a:xfrm>
          <a:prstGeom prst="rect">
            <a:avLst/>
          </a:prstGeom>
          <a:noFill/>
          <a:ln/>
        </p:spPr>
        <p:txBody>
          <a:bodyPr wrap="square" lIns="0" tIns="0" rIns="0" bIns="0" rtlCol="0" anchor="ctr"/>
          <a:lstStyle/>
          <a:p>
            <a:pPr indent="0" marL="0">
              <a:buNone/>
            </a:pPr>
            <a:r>
              <a:rPr lang="en-US" sz="3000" b="1" dirty="0">
                <a:solidFill>
                  <a:srgbClr val="12305A"/>
                </a:solidFill>
              </a:rPr>
              <a:t>Team Roles and Implementation Ownership</a:t>
            </a:r>
            <a:endParaRPr lang="en-US" sz="3000" dirty="0"/>
          </a:p>
        </p:txBody>
      </p:sp>
      <p:sp>
        <p:nvSpPr>
          <p:cNvPr id="4" name="Shape 2"/>
          <p:cNvSpPr/>
          <p:nvPr/>
        </p:nvSpPr>
        <p:spPr>
          <a:xfrm>
            <a:off x="11064240" y="201168"/>
            <a:ext cx="658368" cy="658368"/>
          </a:xfrm>
          <a:prstGeom prst="ellipse">
            <a:avLst/>
          </a:prstGeom>
          <a:solidFill>
            <a:srgbClr val="0F766E"/>
          </a:solidFill>
          <a:ln/>
        </p:spPr>
      </p:sp>
      <p:pic>
        <p:nvPicPr>
          <p:cNvPr id="5" name="Image 0" descr="preencoded.png">    </p:cNvPr>
          <p:cNvPicPr>
            <a:picLocks noChangeAspect="1"/>
          </p:cNvPicPr>
          <p:nvPr/>
        </p:nvPicPr>
        <p:blipFill>
          <a:blip r:embed="rId1"/>
          <a:stretch>
            <a:fillRect/>
          </a:stretch>
        </p:blipFill>
        <p:spPr>
          <a:xfrm>
            <a:off x="11210544" y="347472"/>
            <a:ext cx="365760" cy="365760"/>
          </a:xfrm>
          <a:prstGeom prst="rect">
            <a:avLst/>
          </a:prstGeom>
        </p:spPr>
      </p:pic>
      <p:sp>
        <p:nvSpPr>
          <p:cNvPr id="6" name="Shape 3"/>
          <p:cNvSpPr/>
          <p:nvPr/>
        </p:nvSpPr>
        <p:spPr>
          <a:xfrm>
            <a:off x="457200" y="896112"/>
            <a:ext cx="1097280" cy="45720"/>
          </a:xfrm>
          <a:prstGeom prst="rect">
            <a:avLst/>
          </a:prstGeom>
          <a:solidFill>
            <a:srgbClr val="EA580C"/>
          </a:solidFill>
          <a:ln/>
        </p:spPr>
      </p:sp>
      <p:sp>
        <p:nvSpPr>
          <p:cNvPr id="7" name="Text 4"/>
          <p:cNvSpPr txBox="1"/>
          <p:nvPr/>
        </p:nvSpPr>
        <p:spPr>
          <a:xfrm>
            <a:off x="457200" y="6473952"/>
            <a:ext cx="10058400" cy="274320"/>
          </a:xfrm>
          <a:prstGeom prst="rect">
            <a:avLst/>
          </a:prstGeom>
          <a:noFill/>
          <a:ln/>
        </p:spPr>
        <p:txBody>
          <a:bodyPr wrap="square" lIns="0" tIns="0" rIns="0" bIns="0" rtlCol="0" anchor="ctr"/>
          <a:lstStyle/>
          <a:p>
            <a:pPr indent="0" marL="0">
              <a:buNone/>
            </a:pPr>
            <a:r>
              <a:rPr lang="en-US" sz="1000" dirty="0">
                <a:solidFill>
                  <a:srgbClr val="6B7280"/>
                </a:solidFill>
              </a:rPr>
              <a:t>Hackathon demonstration only — NOT FOR CLINICAL USE  |  AAROGYA DRISHTI · AAROHAN 2026</a:t>
            </a:r>
            <a:endParaRPr lang="en-US" sz="1000" dirty="0"/>
          </a:p>
        </p:txBody>
      </p:sp>
      <p:sp>
        <p:nvSpPr>
          <p:cNvPr id="8" name="Text 5"/>
          <p:cNvSpPr txBox="1"/>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rPr>
              <a:t>18</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560320"/>
                <a:gridCol w="4754880"/>
                <a:gridCol w="3959352"/>
              </a:tblGrid>
              <a:tr h="594360">
                <a:tc>
                  <a:txBody>
                    <a:bodyPr/>
                    <a:lstStyle/>
                    <a:p>
                      <a:pPr indent="0" marL="0">
                        <a:buNone/>
                      </a:pPr>
                      <a:r>
                        <a:rPr lang="en-US" sz="1400" b="1" dirty="0">
                          <a:solidFill>
                            <a:srgbClr val="FFFFFF"/>
                          </a:solidFill>
                        </a:rPr>
                        <a:t>Suggested role</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12305A"/>
                    </a:solidFill>
                  </a:tcPr>
                </a:tc>
                <a:tc>
                  <a:txBody>
                    <a:bodyPr/>
                    <a:lstStyle/>
                    <a:p>
                      <a:pPr indent="0" marL="0">
                        <a:buNone/>
                      </a:pPr>
                      <a:r>
                        <a:rPr lang="en-US" sz="1400" b="1" dirty="0">
                          <a:solidFill>
                            <a:srgbClr val="FFFFFF"/>
                          </a:solidFill>
                        </a:rPr>
                        <a:t>Core responsibilities</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12305A"/>
                    </a:solidFill>
                  </a:tcPr>
                </a:tc>
                <a:tc>
                  <a:txBody>
                    <a:bodyPr/>
                    <a:lstStyle/>
                    <a:p>
                      <a:pPr indent="0" marL="0">
                        <a:buNone/>
                      </a:pPr>
                      <a:r>
                        <a:rPr lang="en-US" sz="1400" b="1" dirty="0">
                          <a:solidFill>
                            <a:srgbClr val="FFFFFF"/>
                          </a:solidFill>
                        </a:rPr>
                        <a:t>Definition of done</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12305A"/>
                    </a:solidFill>
                  </a:tcPr>
                </a:tc>
              </a:tr>
              <a:tr h="594360">
                <a:tc>
                  <a:txBody>
                    <a:bodyPr/>
                    <a:lstStyle/>
                    <a:p>
                      <a:pPr indent="0" marL="0">
                        <a:buNone/>
                      </a:pPr>
                      <a:r>
                        <a:rPr lang="en-US" sz="1400" dirty="0">
                          <a:solidFill>
                            <a:srgbClr val="1F2937"/>
                          </a:solidFill>
                        </a:rPr>
                        <a:t>Backend + database</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FastAPI, schema, APIs, integration</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Secure end-to-end APIs</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r>
              <a:tr h="594360">
                <a:tc>
                  <a:txBody>
                    <a:bodyPr/>
                    <a:lstStyle/>
                    <a:p>
                      <a:pPr indent="0" marL="0">
                        <a:buNone/>
                      </a:pPr>
                      <a:r>
                        <a:rPr lang="en-US" sz="1400" dirty="0">
                          <a:solidFill>
                            <a:srgbClr val="1F2937"/>
                          </a:solidFill>
                        </a:rPr>
                        <a:t>Frontend / mobile</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400" dirty="0">
                          <a:solidFill>
                            <a:srgbClr val="1F2937"/>
                          </a:solidFill>
                        </a:rPr>
                        <a:t>PWA, camera, offline, bilingual forms</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400" dirty="0">
                          <a:solidFill>
                            <a:srgbClr val="1F2937"/>
                          </a:solidFill>
                        </a:rPr>
                        <a:t>Screening works on a real Android phone</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r>
              <a:tr h="594360">
                <a:tc>
                  <a:txBody>
                    <a:bodyPr/>
                    <a:lstStyle/>
                    <a:p>
                      <a:pPr indent="0" marL="0">
                        <a:buNone/>
                      </a:pPr>
                      <a:r>
                        <a:rPr lang="en-US" sz="1400" dirty="0">
                          <a:solidFill>
                            <a:srgbClr val="1F2937"/>
                          </a:solidFill>
                        </a:rPr>
                        <a:t>AI integration</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OpenCV quality, mock adapter, optional research model</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Reproducible output, no medical claims</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r>
              <a:tr h="594360">
                <a:tc>
                  <a:txBody>
                    <a:bodyPr/>
                    <a:lstStyle/>
                    <a:p>
                      <a:pPr indent="0" marL="0">
                        <a:buNone/>
                      </a:pPr>
                      <a:r>
                        <a:rPr lang="en-US" sz="1400" dirty="0">
                          <a:solidFill>
                            <a:srgbClr val="1F2937"/>
                          </a:solidFill>
                        </a:rPr>
                        <a:t>Clinical workflow</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400" dirty="0">
                          <a:solidFill>
                            <a:srgbClr val="1F2937"/>
                          </a:solidFill>
                        </a:rPr>
                        <a:t>Doctor portal, referral, video, navigator, dashboard</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400" dirty="0">
                          <a:solidFill>
                            <a:srgbClr val="1F2937"/>
                          </a:solidFill>
                        </a:rPr>
                        <a:t>Complete simulated journey</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r>
              <a:tr h="594360">
                <a:tc>
                  <a:txBody>
                    <a:bodyPr/>
                    <a:lstStyle/>
                    <a:p>
                      <a:pPr indent="0" marL="0">
                        <a:buNone/>
                      </a:pPr>
                      <a:r>
                        <a:rPr lang="en-US" sz="1400" dirty="0">
                          <a:solidFill>
                            <a:srgbClr val="1F2937"/>
                          </a:solidFill>
                        </a:rPr>
                        <a:t>QA / security / DevOps</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Tests, authorization, deployment, monitoring</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Negative tests, secure deploy, runbook</a:t>
                      </a:r>
                      <a:endParaRPr lang="en-US" sz="14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r>
            </a:tbl>
          </a:graphicData>
        </a:graphic>
      </p:graphicFrame>
      <p:sp>
        <p:nvSpPr>
          <p:cNvPr id="11" name="Text 6"/>
          <p:cNvSpPr txBox="1"/>
          <p:nvPr/>
        </p:nvSpPr>
        <p:spPr>
          <a:xfrm>
            <a:off x="457200" y="5029200"/>
            <a:ext cx="11247120" cy="457200"/>
          </a:xfrm>
          <a:prstGeom prst="rect">
            <a:avLst/>
          </a:prstGeom>
          <a:noFill/>
          <a:ln/>
        </p:spPr>
        <p:txBody>
          <a:bodyPr wrap="square" lIns="25400" tIns="25400" rIns="25400" bIns="25400" rtlCol="0" anchor="t"/>
          <a:lstStyle/>
          <a:p>
            <a:pPr indent="0" marL="0">
              <a:buNone/>
            </a:pPr>
            <a:r>
              <a:rPr lang="en-US" sz="1400" b="1" dirty="0">
                <a:solidFill>
                  <a:srgbClr val="12305A"/>
                </a:solidFill>
              </a:rPr>
              <a:t>Fewer than five members: combine roles. Team members: [placeholders, to be filled in].</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F766E"/>
          </a:solidFill>
          <a:ln/>
        </p:spPr>
      </p:sp>
      <p:sp>
        <p:nvSpPr>
          <p:cNvPr id="3" name="Text 1"/>
          <p:cNvSpPr txBox="1"/>
          <p:nvPr/>
        </p:nvSpPr>
        <p:spPr>
          <a:xfrm>
            <a:off x="457200" y="228600"/>
            <a:ext cx="10424160" cy="640080"/>
          </a:xfrm>
          <a:prstGeom prst="rect">
            <a:avLst/>
          </a:prstGeom>
          <a:noFill/>
          <a:ln/>
        </p:spPr>
        <p:txBody>
          <a:bodyPr wrap="square" lIns="0" tIns="0" rIns="0" bIns="0" rtlCol="0" anchor="ctr"/>
          <a:lstStyle/>
          <a:p>
            <a:pPr indent="0" marL="0">
              <a:buNone/>
            </a:pPr>
            <a:r>
              <a:rPr lang="en-US" sz="3000" b="1" dirty="0">
                <a:solidFill>
                  <a:srgbClr val="12305A"/>
                </a:solidFill>
              </a:rPr>
              <a:t>Evaluation and Final Demonstration</a:t>
            </a:r>
            <a:endParaRPr lang="en-US" sz="3000" dirty="0"/>
          </a:p>
        </p:txBody>
      </p:sp>
      <p:sp>
        <p:nvSpPr>
          <p:cNvPr id="4" name="Shape 2"/>
          <p:cNvSpPr/>
          <p:nvPr/>
        </p:nvSpPr>
        <p:spPr>
          <a:xfrm>
            <a:off x="11064240" y="201168"/>
            <a:ext cx="658368" cy="658368"/>
          </a:xfrm>
          <a:prstGeom prst="ellipse">
            <a:avLst/>
          </a:prstGeom>
          <a:solidFill>
            <a:srgbClr val="0F766E"/>
          </a:solidFill>
          <a:ln/>
        </p:spPr>
      </p:sp>
      <p:pic>
        <p:nvPicPr>
          <p:cNvPr id="5" name="Image 0" descr="preencoded.png">    </p:cNvPr>
          <p:cNvPicPr>
            <a:picLocks noChangeAspect="1"/>
          </p:cNvPicPr>
          <p:nvPr/>
        </p:nvPicPr>
        <p:blipFill>
          <a:blip r:embed="rId1"/>
          <a:stretch>
            <a:fillRect/>
          </a:stretch>
        </p:blipFill>
        <p:spPr>
          <a:xfrm>
            <a:off x="11210544" y="347472"/>
            <a:ext cx="365760" cy="365760"/>
          </a:xfrm>
          <a:prstGeom prst="rect">
            <a:avLst/>
          </a:prstGeom>
        </p:spPr>
      </p:pic>
      <p:sp>
        <p:nvSpPr>
          <p:cNvPr id="6" name="Shape 3"/>
          <p:cNvSpPr/>
          <p:nvPr/>
        </p:nvSpPr>
        <p:spPr>
          <a:xfrm>
            <a:off x="457200" y="896112"/>
            <a:ext cx="1097280" cy="45720"/>
          </a:xfrm>
          <a:prstGeom prst="rect">
            <a:avLst/>
          </a:prstGeom>
          <a:solidFill>
            <a:srgbClr val="EA580C"/>
          </a:solidFill>
          <a:ln/>
        </p:spPr>
      </p:sp>
      <p:sp>
        <p:nvSpPr>
          <p:cNvPr id="7" name="Text 4"/>
          <p:cNvSpPr txBox="1"/>
          <p:nvPr/>
        </p:nvSpPr>
        <p:spPr>
          <a:xfrm>
            <a:off x="457200" y="6473952"/>
            <a:ext cx="10058400" cy="274320"/>
          </a:xfrm>
          <a:prstGeom prst="rect">
            <a:avLst/>
          </a:prstGeom>
          <a:noFill/>
          <a:ln/>
        </p:spPr>
        <p:txBody>
          <a:bodyPr wrap="square" lIns="0" tIns="0" rIns="0" bIns="0" rtlCol="0" anchor="ctr"/>
          <a:lstStyle/>
          <a:p>
            <a:pPr indent="0" marL="0">
              <a:buNone/>
            </a:pPr>
            <a:r>
              <a:rPr lang="en-US" sz="1000" dirty="0">
                <a:solidFill>
                  <a:srgbClr val="6B7280"/>
                </a:solidFill>
              </a:rPr>
              <a:t>Hackathon demonstration only — NOT FOR CLINICAL USE  |  AAROGYA DRISHTI · AAROHAN 2026</a:t>
            </a:r>
            <a:endParaRPr lang="en-US" sz="1000" dirty="0"/>
          </a:p>
        </p:txBody>
      </p:sp>
      <p:sp>
        <p:nvSpPr>
          <p:cNvPr id="8" name="Text 5"/>
          <p:cNvSpPr txBox="1"/>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rPr>
              <a:t>19</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11274552" cy="914400"/>
        </p:xfrm>
        <a:graphic>
          <a:graphicData uri="http://schemas.openxmlformats.org/drawingml/2006/table">
            <a:tbl>
              <a:tblPr/>
              <a:tblGrid>
                <a:gridCol w="4297680"/>
                <a:gridCol w="1097280"/>
              </a:tblGrid>
              <a:tr h="411480">
                <a:tc>
                  <a:txBody>
                    <a:bodyPr/>
                    <a:lstStyle/>
                    <a:p>
                      <a:pPr indent="0" marL="0">
                        <a:buNone/>
                      </a:pPr>
                      <a:r>
                        <a:rPr lang="en-US" sz="1300" b="1" dirty="0">
                          <a:solidFill>
                            <a:srgbClr val="FFFFFF"/>
                          </a:solidFill>
                        </a:rPr>
                        <a:t>Criterion</a:t>
                      </a:r>
                      <a:endParaRPr lang="en-US" sz="13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12305A"/>
                    </a:solidFill>
                  </a:tcPr>
                </a:tc>
                <a:tc>
                  <a:txBody>
                    <a:bodyPr/>
                    <a:lstStyle/>
                    <a:p>
                      <a:pPr indent="0" marL="0">
                        <a:buNone/>
                      </a:pPr>
                      <a:r>
                        <a:rPr lang="en-US" sz="1300" b="1" dirty="0">
                          <a:solidFill>
                            <a:srgbClr val="FFFFFF"/>
                          </a:solidFill>
                        </a:rPr>
                        <a:t>Marks</a:t>
                      </a:r>
                      <a:endParaRPr lang="en-US" sz="13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12305A"/>
                    </a:solidFill>
                  </a:tcPr>
                </a:tc>
              </a:tr>
              <a:tr h="411480">
                <a:tc>
                  <a:txBody>
                    <a:bodyPr/>
                    <a:lstStyle/>
                    <a:p>
                      <a:pPr indent="0" marL="0">
                        <a:buNone/>
                      </a:pPr>
                      <a:r>
                        <a:rPr lang="en-US" sz="1300" dirty="0">
                          <a:solidFill>
                            <a:srgbClr val="1F2937"/>
                          </a:solidFill>
                        </a:rPr>
                        <a:t>Workflow and integration</a:t>
                      </a:r>
                      <a:endParaRPr lang="en-US" sz="13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rPr>
                        <a:t>20</a:t>
                      </a:r>
                      <a:endParaRPr lang="en-US" sz="13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F2937"/>
                          </a:solidFill>
                        </a:rPr>
                        <a:t>AI, image quality, safe integration</a:t>
                      </a:r>
                      <a:endParaRPr lang="en-US" sz="13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300" dirty="0">
                          <a:solidFill>
                            <a:srgbClr val="1F2937"/>
                          </a:solidFill>
                        </a:rPr>
                        <a:t>15</a:t>
                      </a:r>
                      <a:endParaRPr lang="en-US" sz="13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r>
              <a:tr h="411480">
                <a:tc>
                  <a:txBody>
                    <a:bodyPr/>
                    <a:lstStyle/>
                    <a:p>
                      <a:pPr indent="0" marL="0">
                        <a:buNone/>
                      </a:pPr>
                      <a:r>
                        <a:rPr lang="en-US" sz="1300" dirty="0">
                          <a:solidFill>
                            <a:srgbClr val="1F2937"/>
                          </a:solidFill>
                        </a:rPr>
                        <a:t>Doctor review, teleconsult, appointments</a:t>
                      </a:r>
                      <a:endParaRPr lang="en-US" sz="13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rPr>
                        <a:t>15</a:t>
                      </a:r>
                      <a:endParaRPr lang="en-US" sz="13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F2937"/>
                          </a:solidFill>
                        </a:rPr>
                        <a:t>Records, diagnostics, navigation</a:t>
                      </a:r>
                      <a:endParaRPr lang="en-US" sz="13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300" dirty="0">
                          <a:solidFill>
                            <a:srgbClr val="1F2937"/>
                          </a:solidFill>
                        </a:rPr>
                        <a:t>15</a:t>
                      </a:r>
                      <a:endParaRPr lang="en-US" sz="13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r>
              <a:tr h="411480">
                <a:tc>
                  <a:txBody>
                    <a:bodyPr/>
                    <a:lstStyle/>
                    <a:p>
                      <a:pPr indent="0" marL="0">
                        <a:buNone/>
                      </a:pPr>
                      <a:r>
                        <a:rPr lang="en-US" sz="1300" dirty="0">
                          <a:solidFill>
                            <a:srgbClr val="1F2937"/>
                          </a:solidFill>
                        </a:rPr>
                        <a:t>Security, privacy, governance</a:t>
                      </a:r>
                      <a:endParaRPr lang="en-US" sz="13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rPr>
                        <a:t>15</a:t>
                      </a:r>
                      <a:endParaRPr lang="en-US" sz="13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F2937"/>
                          </a:solidFill>
                        </a:rPr>
                        <a:t>Telugu, offline, accessibility</a:t>
                      </a:r>
                      <a:endParaRPr lang="en-US" sz="13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300" dirty="0">
                          <a:solidFill>
                            <a:srgbClr val="1F2937"/>
                          </a:solidFill>
                        </a:rPr>
                        <a:t>10</a:t>
                      </a:r>
                      <a:endParaRPr lang="en-US" sz="13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r>
              <a:tr h="411480">
                <a:tc>
                  <a:txBody>
                    <a:bodyPr/>
                    <a:lstStyle/>
                    <a:p>
                      <a:pPr indent="0" marL="0">
                        <a:buNone/>
                      </a:pPr>
                      <a:r>
                        <a:rPr lang="en-US" sz="1300" dirty="0">
                          <a:solidFill>
                            <a:srgbClr val="1F2937"/>
                          </a:solidFill>
                        </a:rPr>
                        <a:t>Deployment, testing, documentation</a:t>
                      </a:r>
                      <a:endParaRPr lang="en-US" sz="13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rPr>
                        <a:t>10</a:t>
                      </a:r>
                      <a:endParaRPr lang="en-US" sz="13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F2937"/>
                          </a:solidFill>
                        </a:rPr>
                        <a:t>TOTAL</a:t>
                      </a:r>
                      <a:endParaRPr lang="en-US" sz="13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c>
                  <a:txBody>
                    <a:bodyPr/>
                    <a:lstStyle/>
                    <a:p>
                      <a:pPr indent="0" marL="0">
                        <a:buNone/>
                      </a:pPr>
                      <a:r>
                        <a:rPr lang="en-US" sz="1300" dirty="0">
                          <a:solidFill>
                            <a:srgbClr val="1F2937"/>
                          </a:solidFill>
                        </a:rPr>
                        <a:t>100</a:t>
                      </a:r>
                      <a:endParaRPr lang="en-US" sz="1300" dirty="0"/>
                    </a:p>
                  </a:txBody>
                  <a:tcPr marL="91440" marR="91440" marT="45720" marB="45720" anchor="ctr">
                    <a:lnL w="6350" cap="flat" cmpd="sng" algn="ctr">
                      <a:solidFill>
                        <a:srgbClr val="C7D2D0"/>
                      </a:solidFill>
                      <a:prstDash val="solid"/>
                      <a:round/>
                      <a:headEnd type="none" w="med" len="med"/>
                      <a:tailEnd type="none" w="med" len="med"/>
                    </a:lnL>
                    <a:lnR w="6350" cap="flat" cmpd="sng" algn="ctr">
                      <a:solidFill>
                        <a:srgbClr val="C7D2D0"/>
                      </a:solidFill>
                      <a:prstDash val="solid"/>
                      <a:round/>
                      <a:headEnd type="none" w="med" len="med"/>
                      <a:tailEnd type="none" w="med" len="med"/>
                    </a:lnR>
                    <a:lnT w="6350" cap="flat" cmpd="sng" algn="ctr">
                      <a:solidFill>
                        <a:srgbClr val="C7D2D0"/>
                      </a:solidFill>
                      <a:prstDash val="solid"/>
                      <a:round/>
                      <a:headEnd type="none" w="med" len="med"/>
                      <a:tailEnd type="none" w="med" len="med"/>
                    </a:lnT>
                    <a:lnB w="6350" cap="flat" cmpd="sng" algn="ctr">
                      <a:solidFill>
                        <a:srgbClr val="C7D2D0"/>
                      </a:solidFill>
                      <a:prstDash val="solid"/>
                      <a:round/>
                      <a:headEnd type="none" w="med" len="med"/>
                      <a:tailEnd type="none" w="med" len="med"/>
                    </a:lnB>
                    <a:solidFill>
                      <a:srgbClr val="EEF5F3"/>
                    </a:solidFill>
                  </a:tcPr>
                </a:tc>
              </a:tr>
            </a:tbl>
          </a:graphicData>
        </a:graphic>
      </p:graphicFrame>
      <p:sp>
        <p:nvSpPr>
          <p:cNvPr id="11" name="Text 6"/>
          <p:cNvSpPr txBox="1"/>
          <p:nvPr/>
        </p:nvSpPr>
        <p:spPr>
          <a:xfrm>
            <a:off x="6400800" y="1097280"/>
            <a:ext cx="5303520" cy="4206240"/>
          </a:xfrm>
          <a:prstGeom prst="rect">
            <a:avLst/>
          </a:prstGeom>
          <a:noFill/>
          <a:ln/>
        </p:spPr>
        <p:txBody>
          <a:bodyPr wrap="square" lIns="25400" tIns="25400" rIns="25400" bIns="25400" rtlCol="0" anchor="t"/>
          <a:lstStyle/>
          <a:p>
            <a:pPr indent="0" marL="0">
              <a:buNone/>
            </a:pPr>
            <a:r>
              <a:rPr lang="en-US" sz="1500" b="1" dirty="0">
                <a:solidFill>
                  <a:srgbClr val="0F766E"/>
                </a:solidFill>
              </a:rPr>
              <a:t>Planned demo journey (synthetic patient)</a:t>
            </a:r>
            <a:endParaRPr lang="en-US" sz="1500" dirty="0"/>
          </a:p>
          <a:p>
            <a:pPr indent="0" marL="0">
              <a:buNone/>
            </a:pPr>
            <a:r>
              <a:rPr lang="en-US" sz="1500" dirty="0">
                <a:solidFill>
                  <a:srgbClr val="1F2937"/>
                </a:solidFill>
              </a:rPr>
              <a:t>1. Register synthetic patient (Telugu)</a:t>
            </a:r>
            <a:endParaRPr lang="en-US" sz="1500" dirty="0"/>
          </a:p>
          <a:p>
            <a:pPr indent="0" marL="0">
              <a:buNone/>
            </a:pPr>
            <a:r>
              <a:rPr lang="en-US" sz="1500" dirty="0">
                <a:solidFill>
                  <a:srgbClr val="1F2937"/>
                </a:solidFill>
              </a:rPr>
              <a:t>2. Consent + screening details</a:t>
            </a:r>
            <a:endParaRPr lang="en-US" sz="1500" dirty="0"/>
          </a:p>
          <a:p>
            <a:pPr indent="0" marL="0">
              <a:buNone/>
            </a:pPr>
            <a:r>
              <a:rPr lang="en-US" sz="1500" dirty="0">
                <a:solidFill>
                  <a:srgbClr val="1F2937"/>
                </a:solidFill>
              </a:rPr>
              <a:t>3. Capture permitted demo image</a:t>
            </a:r>
            <a:endParaRPr lang="en-US" sz="1500" dirty="0"/>
          </a:p>
          <a:p>
            <a:pPr indent="0" marL="0">
              <a:buNone/>
            </a:pPr>
            <a:r>
              <a:rPr lang="en-US" sz="1500" dirty="0">
                <a:solidFill>
                  <a:srgbClr val="1F2937"/>
                </a:solidFill>
              </a:rPr>
              <a:t>4. Quality check + research AI</a:t>
            </a:r>
            <a:endParaRPr lang="en-US" sz="1500" dirty="0"/>
          </a:p>
          <a:p>
            <a:pPr indent="0" marL="0">
              <a:buNone/>
            </a:pPr>
            <a:r>
              <a:rPr lang="en-US" sz="1500" dirty="0">
                <a:solidFill>
                  <a:srgbClr val="1F2937"/>
                </a:solidFill>
              </a:rPr>
              <a:t>5. Medical Officer review</a:t>
            </a:r>
            <a:endParaRPr lang="en-US" sz="1500" dirty="0"/>
          </a:p>
          <a:p>
            <a:pPr indent="0" marL="0">
              <a:buNone/>
            </a:pPr>
            <a:r>
              <a:rPr lang="en-US" sz="1500" dirty="0">
                <a:solidFill>
                  <a:srgbClr val="1F2937"/>
                </a:solidFill>
              </a:rPr>
              <a:t>6. Video consult + referral</a:t>
            </a:r>
            <a:endParaRPr lang="en-US" sz="1500" dirty="0"/>
          </a:p>
          <a:p>
            <a:pPr indent="0" marL="0">
              <a:buNone/>
            </a:pPr>
            <a:r>
              <a:rPr lang="en-US" sz="1500" dirty="0">
                <a:solidFill>
                  <a:srgbClr val="1F2937"/>
                </a:solidFill>
              </a:rPr>
              <a:t>7. Simulated diagnostic report</a:t>
            </a:r>
            <a:endParaRPr lang="en-US" sz="1500" dirty="0"/>
          </a:p>
          <a:p>
            <a:pPr indent="0" marL="0">
              <a:buNone/>
            </a:pPr>
            <a:r>
              <a:rPr lang="en-US" sz="1500" dirty="0">
                <a:solidFill>
                  <a:srgbClr val="1F2937"/>
                </a:solidFill>
              </a:rPr>
              <a:t>8. Update history + navigation</a:t>
            </a:r>
            <a:endParaRPr lang="en-US" sz="1500" dirty="0"/>
          </a:p>
          <a:p>
            <a:pPr indent="0" marL="0">
              <a:buNone/>
            </a:pPr>
            <a:r>
              <a:rPr lang="en-US" sz="1500" dirty="0">
                <a:solidFill>
                  <a:srgbClr val="1F2937"/>
                </a:solidFill>
              </a:rPr>
              <a:t>9. Aggregate dashboard</a:t>
            </a:r>
            <a:endParaRPr lang="en-US" sz="1500" dirty="0"/>
          </a:p>
          <a:p>
            <a:pPr indent="0" marL="0">
              <a:buNone/>
            </a:pPr>
            <a:r>
              <a:rPr lang="en-US" sz="1500" dirty="0">
                <a:solidFill>
                  <a:srgbClr val="1F2937"/>
                </a:solidFill>
              </a:rPr>
              <a:t>10. Role limits, audit, offline recovery</a:t>
            </a:r>
            <a:endParaRPr lang="en-US" sz="1500" dirty="0"/>
          </a:p>
        </p:txBody>
      </p:sp>
      <p:sp>
        <p:nvSpPr>
          <p:cNvPr id="12" name="Shape 7"/>
          <p:cNvSpPr/>
          <p:nvPr/>
        </p:nvSpPr>
        <p:spPr>
          <a:xfrm>
            <a:off x="457200" y="5669280"/>
            <a:ext cx="11274552" cy="457200"/>
          </a:xfrm>
          <a:prstGeom prst="rect">
            <a:avLst/>
          </a:prstGeom>
          <a:solidFill>
            <a:srgbClr val="EA580C"/>
          </a:solidFill>
          <a:ln/>
        </p:spPr>
      </p:sp>
      <p:sp>
        <p:nvSpPr>
          <p:cNvPr id="13" name="Text 8"/>
          <p:cNvSpPr txBox="1"/>
          <p:nvPr/>
        </p:nvSpPr>
        <p:spPr>
          <a:xfrm>
            <a:off x="457200" y="5669280"/>
            <a:ext cx="11274552" cy="457200"/>
          </a:xfrm>
          <a:prstGeom prst="rect">
            <a:avLst/>
          </a:prstGeom>
          <a:noFill/>
          <a:ln/>
        </p:spPr>
        <p:txBody>
          <a:bodyPr wrap="square" lIns="25400" tIns="25400" rIns="25400" bIns="25400" rtlCol="0" anchor="ctr"/>
          <a:lstStyle/>
          <a:p>
            <a:pPr algn="ctr" indent="0" marL="0">
              <a:buNone/>
            </a:pPr>
            <a:r>
              <a:rPr lang="en-US" sz="1400" b="1" dirty="0">
                <a:solidFill>
                  <a:srgbClr val="FFFFFF"/>
                </a:solidFill>
              </a:rPr>
              <a:t>Status labels: PLANNED → IMPLEMENTED → VERIFIED (with evidence)</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2305A"/>
        </a:solidFill>
      </p:bgPr>
    </p:bg>
    <p:spTree>
      <p:nvGrpSpPr>
        <p:cNvPr id="1" name=""/>
        <p:cNvGrpSpPr/>
        <p:nvPr/>
      </p:nvGrpSpPr>
      <p:grpSpPr>
        <a:xfrm>
          <a:off x="0" y="0"/>
          <a:ext cx="0" cy="0"/>
          <a:chOff x="0" y="0"/>
          <a:chExt cx="0" cy="0"/>
        </a:xfrm>
      </p:grpSpPr>
      <p:sp>
        <p:nvSpPr>
          <p:cNvPr id="3" name="Shape 0"/>
          <p:cNvSpPr/>
          <p:nvPr/>
        </p:nvSpPr>
        <p:spPr>
          <a:xfrm>
            <a:off x="0" y="0"/>
            <a:ext cx="365760" cy="6858000"/>
          </a:xfrm>
          <a:prstGeom prst="rect">
            <a:avLst/>
          </a:prstGeom>
          <a:solidFill>
            <a:srgbClr val="0F766E"/>
          </a:solidFill>
          <a:ln/>
        </p:spPr>
      </p:sp>
      <p:sp>
        <p:nvSpPr>
          <p:cNvPr id="4" name="Text 1"/>
          <p:cNvSpPr txBox="1"/>
          <p:nvPr/>
        </p:nvSpPr>
        <p:spPr>
          <a:xfrm>
            <a:off x="822960" y="457200"/>
            <a:ext cx="10058400" cy="731520"/>
          </a:xfrm>
          <a:prstGeom prst="rect">
            <a:avLst/>
          </a:prstGeom>
          <a:noFill/>
          <a:ln/>
        </p:spPr>
        <p:txBody>
          <a:bodyPr wrap="square" lIns="25400" tIns="25400" rIns="25400" bIns="25400" rtlCol="0" anchor="t"/>
          <a:lstStyle/>
          <a:p>
            <a:pPr indent="0" marL="0">
              <a:buNone/>
            </a:pPr>
            <a:r>
              <a:rPr lang="en-US" sz="3400" b="1" dirty="0">
                <a:solidFill>
                  <a:srgbClr val="FFFFFF"/>
                </a:solidFill>
              </a:rPr>
              <a:t>Impact and Future Scope</a:t>
            </a:r>
            <a:endParaRPr lang="en-US" sz="3400" dirty="0"/>
          </a:p>
        </p:txBody>
      </p:sp>
      <p:sp>
        <p:nvSpPr>
          <p:cNvPr id="5" name="Text 2"/>
          <p:cNvSpPr txBox="1"/>
          <p:nvPr/>
        </p:nvSpPr>
        <p:spPr>
          <a:xfrm>
            <a:off x="822960" y="1371600"/>
            <a:ext cx="10515600" cy="2194560"/>
          </a:xfrm>
          <a:prstGeom prst="rect">
            <a:avLst/>
          </a:prstGeom>
          <a:noFill/>
          <a:ln/>
        </p:spPr>
        <p:txBody>
          <a:bodyPr wrap="square" lIns="25400" tIns="25400" rIns="25400" bIns="25400" rtlCol="0" anchor="t"/>
          <a:lstStyle/>
          <a:p>
            <a:pPr marL="342900" indent="-342900">
              <a:buSzPct val="100000"/>
              <a:buChar char="•"/>
            </a:pPr>
            <a:r>
              <a:rPr lang="en-US" sz="1800" dirty="0">
                <a:solidFill>
                  <a:srgbClr val="FFFFFF"/>
                </a:solidFill>
              </a:rPr>
              <a:t>Better coordination from screening to specialist care</a:t>
            </a:r>
            <a:endParaRPr lang="en-US" sz="1800" dirty="0"/>
          </a:p>
          <a:p>
            <a:pPr marL="342900" indent="-342900">
              <a:buSzPct val="100000"/>
              <a:buChar char="•"/>
            </a:pPr>
            <a:r>
              <a:rPr lang="en-US" sz="1800" dirty="0">
                <a:solidFill>
                  <a:srgbClr val="FFFFFF"/>
                </a:solidFill>
              </a:rPr>
              <a:t>Improved documentation and referral visibility</a:t>
            </a:r>
            <a:endParaRPr lang="en-US" sz="1800" dirty="0"/>
          </a:p>
          <a:p>
            <a:pPr marL="342900" indent="-342900">
              <a:buSzPct val="100000"/>
              <a:buChar char="•"/>
            </a:pPr>
            <a:r>
              <a:rPr lang="en-US" sz="1800" dirty="0">
                <a:solidFill>
                  <a:srgbClr val="FFFFFF"/>
                </a:solidFill>
              </a:rPr>
              <a:t>Support for remote, low-connectivity communities</a:t>
            </a:r>
            <a:endParaRPr lang="en-US" sz="1800" dirty="0"/>
          </a:p>
          <a:p>
            <a:pPr marL="342900" indent="-342900">
              <a:buSzPct val="100000"/>
              <a:buChar char="•"/>
            </a:pPr>
            <a:r>
              <a:rPr lang="en-US" sz="1800" dirty="0">
                <a:solidFill>
                  <a:srgbClr val="FFFFFF"/>
                </a:solidFill>
              </a:rPr>
              <a:t>AI as a supporting tool; clinicians decide</a:t>
            </a:r>
            <a:endParaRPr lang="en-US" sz="1800" dirty="0"/>
          </a:p>
          <a:p>
            <a:pPr marL="342900" indent="-342900">
              <a:buSzPct val="100000"/>
              <a:buChar char="•"/>
            </a:pPr>
            <a:r>
              <a:rPr lang="en-US" sz="1800" dirty="0">
                <a:solidFill>
                  <a:srgbClr val="FFFFFF"/>
                </a:solidFill>
              </a:rPr>
              <a:t>Future work only after clinical, security, regulatory and health-authority approvals</a:t>
            </a:r>
            <a:endParaRPr lang="en-US" sz="1800" dirty="0"/>
          </a:p>
        </p:txBody>
      </p:sp>
      <p:sp>
        <p:nvSpPr>
          <p:cNvPr id="6" name="Text 3"/>
          <p:cNvSpPr txBox="1"/>
          <p:nvPr/>
        </p:nvSpPr>
        <p:spPr>
          <a:xfrm>
            <a:off x="822960" y="3840480"/>
            <a:ext cx="10515600" cy="914400"/>
          </a:xfrm>
          <a:prstGeom prst="rect">
            <a:avLst/>
          </a:prstGeom>
          <a:noFill/>
          <a:ln/>
        </p:spPr>
        <p:txBody>
          <a:bodyPr wrap="square" lIns="25400" tIns="25400" rIns="25400" bIns="25400" rtlCol="0" anchor="t"/>
          <a:lstStyle/>
          <a:p>
            <a:pPr indent="0" marL="0">
              <a:buNone/>
            </a:pPr>
            <a:r>
              <a:rPr lang="en-US" sz="2600" b="1" i="1" dirty="0">
                <a:solidFill>
                  <a:srgbClr val="FBBF77"/>
                </a:solidFill>
              </a:rPr>
              <a:t>“Build software that works. Protect patient data. Create technology that can save lives.”</a:t>
            </a:r>
            <a:endParaRPr lang="en-US" sz="2600" dirty="0"/>
          </a:p>
        </p:txBody>
      </p:sp>
      <p:sp>
        <p:nvSpPr>
          <p:cNvPr id="7" name="Text 4"/>
          <p:cNvSpPr txBox="1"/>
          <p:nvPr/>
        </p:nvSpPr>
        <p:spPr>
          <a:xfrm>
            <a:off x="822960" y="5120640"/>
            <a:ext cx="10058400" cy="640080"/>
          </a:xfrm>
          <a:prstGeom prst="rect">
            <a:avLst/>
          </a:prstGeom>
          <a:noFill/>
          <a:ln/>
        </p:spPr>
        <p:txBody>
          <a:bodyPr wrap="square" lIns="25400" tIns="25400" rIns="25400" bIns="25400" rtlCol="0" anchor="t"/>
          <a:lstStyle/>
          <a:p>
            <a:pPr indent="0" marL="0">
              <a:buNone/>
            </a:pPr>
            <a:r>
              <a:rPr lang="en-US" sz="2800" b="1" dirty="0">
                <a:solidFill>
                  <a:srgbClr val="FFFFFF"/>
                </a:solidFill>
              </a:rPr>
              <a:t>Thank you  ·  Questions?</a:t>
            </a:r>
            <a:endParaRPr lang="en-US" sz="2800" dirty="0"/>
          </a:p>
        </p:txBody>
      </p:sp>
      <p:sp>
        <p:nvSpPr>
          <p:cNvPr id="8" name="Shape 5"/>
          <p:cNvSpPr/>
          <p:nvPr/>
        </p:nvSpPr>
        <p:spPr>
          <a:xfrm>
            <a:off x="457200" y="6035040"/>
            <a:ext cx="11274552" cy="457200"/>
          </a:xfrm>
          <a:prstGeom prst="rect">
            <a:avLst/>
          </a:prstGeom>
          <a:solidFill>
            <a:srgbClr val="EA580C"/>
          </a:solidFill>
          <a:ln/>
        </p:spPr>
      </p:sp>
      <p:sp>
        <p:nvSpPr>
          <p:cNvPr id="9" name="Text 6"/>
          <p:cNvSpPr txBox="1"/>
          <p:nvPr/>
        </p:nvSpPr>
        <p:spPr>
          <a:xfrm>
            <a:off x="457200" y="6035040"/>
            <a:ext cx="11274552" cy="457200"/>
          </a:xfrm>
          <a:prstGeom prst="rect">
            <a:avLst/>
          </a:prstGeom>
          <a:noFill/>
          <a:ln/>
        </p:spPr>
        <p:txBody>
          <a:bodyPr wrap="square" lIns="25400" tIns="25400" rIns="25400" bIns="25400" rtlCol="0" anchor="ctr"/>
          <a:lstStyle/>
          <a:p>
            <a:pPr algn="ctr" indent="0" marL="0">
              <a:buNone/>
            </a:pPr>
            <a:r>
              <a:rPr lang="en-US" sz="1400" b="1" dirty="0">
                <a:solidFill>
                  <a:srgbClr val="FFFFFF"/>
                </a:solidFill>
              </a:rPr>
              <a:t>Hackathon demonstration only — NOT FOR CLINICAL USE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2026-10-26T04:46:32Z</dcterms:created>
  <dcterms:modified xsi:type="dcterms:W3CDTF">2026-10-26T04:46:32Z</dcterms:modified>
</cp:coreProperties>
</file>